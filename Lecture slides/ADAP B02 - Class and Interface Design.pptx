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54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slide" Target="slides/slide43.xml"/><Relationship Id="rId47" Type="http://schemas.openxmlformats.org/officeDocument/2006/relationships/slide" Target="slides/slide42.xml"/><Relationship Id="rId49" Type="http://schemas.openxmlformats.org/officeDocument/2006/relationships/slide" Target="slides/slide4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slide" Target="slides/slide46.xml"/><Relationship Id="rId50" Type="http://schemas.openxmlformats.org/officeDocument/2006/relationships/slide" Target="slides/slide45.xml"/><Relationship Id="rId53" Type="http://schemas.openxmlformats.org/officeDocument/2006/relationships/slide" Target="slides/slide48.xml"/><Relationship Id="rId52" Type="http://schemas.openxmlformats.org/officeDocument/2006/relationships/slide" Target="slides/slide47.xml"/><Relationship Id="rId11" Type="http://schemas.openxmlformats.org/officeDocument/2006/relationships/slide" Target="slides/slide6.xml"/><Relationship Id="rId55" Type="http://schemas.openxmlformats.org/officeDocument/2006/relationships/slide" Target="slides/slide50.xml"/><Relationship Id="rId10" Type="http://schemas.openxmlformats.org/officeDocument/2006/relationships/slide" Target="slides/slide5.xml"/><Relationship Id="rId54" Type="http://schemas.openxmlformats.org/officeDocument/2006/relationships/slide" Target="slides/slide49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56" Type="http://schemas.openxmlformats.org/officeDocument/2006/relationships/slide" Target="slides/slide51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2fe02fb2832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2fe02fb2832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0268aaaedc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0268aaaedc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0268aaaedc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0268aaaedc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0268aaaedc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0268aaaedc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0268aaaedc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0268aaaedc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0268aaaedc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0268aaaedc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0268aaaed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0268aaaed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0268aaaedc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0268aaaedc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0268aaaedc_0_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0268aaaedc_0_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2fe5ef885d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2fe5ef885d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2fe02fb283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2fe02fb283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0268aaaedc_0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0268aaaedc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0268aaaedc_0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0268aaaedc_0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0268aaaedc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0268aaaedc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0268aaaedc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0268aaaedc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0268aaaedc_0_1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0268aaaedc_0_1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0268aaaedc_0_9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0268aaaedc_0_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0268aaaedc_0_1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0268aaaedc_0_1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0268aaaedc_0_1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30268aaaedc_0_1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0268aaaedc_0_1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30268aaaedc_0_1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0268aaaedc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0268aaaedc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0268aaaedc_0_1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0268aaaedc_0_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02caffcd6e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302caffcd6e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0f161cc95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30f161cc95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02d3105e37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02d3105e37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02caffcd6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1" name="Google Shape;221;g302caffcd6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0304b9c80a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0304b9c80a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399feb6e25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5" name="Google Shape;235;g399feb6e25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02caffcd6e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302caffcd6e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13cc4519c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313cc4519c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0304b9c80a_1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0304b9c80a_1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30304b9c80a_1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2" name="Google Shape;262;g30304b9c80a_1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97f86edc0a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397f86edc0a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30304b9c80a_1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30304b9c80a_1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0304b9c80a_1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30304b9c80a_1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30304b9c80a_1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g30304b9c80a_1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0304b9c80a_1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30304b9c80a_1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g30304b9c80a_1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4" name="Google Shape;304;g30304b9c80a_1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g30304b9c80a_1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1" name="Google Shape;311;g30304b9c80a_1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30304b9c80a_1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8" name="Google Shape;318;g30304b9c80a_1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g30304b9c80a_1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3" name="Google Shape;323;g30304b9c80a_1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0304b9c80a_1_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0304b9c80a_1_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30304b9c80a_1_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30304b9c80a_1_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g30304b9c80a_1_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4" name="Google Shape;344;g30304b9c80a_1_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g30304b9c80a_1_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1" name="Google Shape;351;g30304b9c80a_1_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g30465d217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8" name="Google Shape;358;g30465d217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g2d40b766212_1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7" name="Google Shape;367;g2d40b766212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0304b9c80a_1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4" name="Google Shape;374;g30304b9c80a_1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g239609b2c0c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1" name="Google Shape;381;g239609b2c0c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g239609b2c0c_0_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7" name="Google Shape;387;g239609b2c0c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  <a:noFill/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grpSp>
        <p:nvGrpSpPr>
          <p:cNvPr id="12" name="Google Shape;12;p2"/>
          <p:cNvGrpSpPr/>
          <p:nvPr/>
        </p:nvGrpSpPr>
        <p:grpSpPr>
          <a:xfrm>
            <a:off x="0" y="2388810"/>
            <a:ext cx="9144000" cy="183000"/>
            <a:chOff x="0" y="2388810"/>
            <a:chExt cx="9144000" cy="183000"/>
          </a:xfrm>
        </p:grpSpPr>
        <p:sp>
          <p:nvSpPr>
            <p:cNvPr id="13" name="Google Shape;13;p2"/>
            <p:cNvSpPr/>
            <p:nvPr/>
          </p:nvSpPr>
          <p:spPr>
            <a:xfrm>
              <a:off x="0" y="2388810"/>
              <a:ext cx="914400" cy="183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914400" y="2388810"/>
              <a:ext cx="1828800" cy="183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2743200" y="2388810"/>
              <a:ext cx="6400800" cy="183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grpSp>
        <p:nvGrpSpPr>
          <p:cNvPr id="18" name="Google Shape;18;p3"/>
          <p:cNvGrpSpPr/>
          <p:nvPr/>
        </p:nvGrpSpPr>
        <p:grpSpPr>
          <a:xfrm>
            <a:off x="0" y="2432304"/>
            <a:ext cx="9144000" cy="91500"/>
            <a:chOff x="0" y="2386584"/>
            <a:chExt cx="9144000" cy="91500"/>
          </a:xfrm>
        </p:grpSpPr>
        <p:sp>
          <p:nvSpPr>
            <p:cNvPr id="19" name="Google Shape;19;p3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" name="Google Shape;21;p3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26" name="Google Shape;26;p4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27" name="Google Shape;27;p4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4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4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35" name="Google Shape;35;p5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36" name="Google Shape;36;p5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5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5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1" name="Google Shape;41;p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42" name="Google Shape;42;p6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43" name="Google Shape;43;p6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6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hyperlink" Target="https://oss.cs.fau.de" TargetMode="Externa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2"/>
                </a:solidFill>
              </a:defRPr>
            </a:lvl1pPr>
            <a:lvl2pPr lvl="1" rtl="0" algn="r">
              <a:buNone/>
              <a:defRPr b="1" sz="2400">
                <a:solidFill>
                  <a:schemeClr val="dk2"/>
                </a:solidFill>
              </a:defRPr>
            </a:lvl2pPr>
            <a:lvl3pPr lvl="2" rtl="0" algn="r">
              <a:buNone/>
              <a:defRPr b="1" sz="2400">
                <a:solidFill>
                  <a:schemeClr val="dk2"/>
                </a:solidFill>
              </a:defRPr>
            </a:lvl3pPr>
            <a:lvl4pPr lvl="3" rtl="0" algn="r">
              <a:buNone/>
              <a:defRPr b="1" sz="2400">
                <a:solidFill>
                  <a:schemeClr val="dk2"/>
                </a:solidFill>
              </a:defRPr>
            </a:lvl4pPr>
            <a:lvl5pPr lvl="4" rtl="0" algn="r">
              <a:buNone/>
              <a:defRPr b="1" sz="2400">
                <a:solidFill>
                  <a:schemeClr val="dk2"/>
                </a:solidFill>
              </a:defRPr>
            </a:lvl5pPr>
            <a:lvl6pPr lvl="5" rtl="0" algn="r">
              <a:buNone/>
              <a:defRPr b="1" sz="2400">
                <a:solidFill>
                  <a:schemeClr val="dk2"/>
                </a:solidFill>
              </a:defRPr>
            </a:lvl6pPr>
            <a:lvl7pPr lvl="6" rtl="0" algn="r">
              <a:buNone/>
              <a:defRPr b="1" sz="2400">
                <a:solidFill>
                  <a:schemeClr val="dk2"/>
                </a:solidFill>
              </a:defRPr>
            </a:lvl7pPr>
            <a:lvl8pPr lvl="7" rtl="0" algn="r">
              <a:buNone/>
              <a:defRPr b="1" sz="2400">
                <a:solidFill>
                  <a:schemeClr val="dk2"/>
                </a:solidFill>
              </a:defRPr>
            </a:lvl8pPr>
            <a:lvl9pPr lvl="8" rtl="0" algn="r">
              <a:buNone/>
              <a:defRPr b="1" sz="24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1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://creativecommons.org/licenses/by/4.0/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oss.cs.fau.de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oss.cs.fau.de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oss.cs.fau.de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oss.cs.fau.de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ss.cs.fau.de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oss.cs.fau.de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oss.cs.fau.de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oss.cs.fau.de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oss.cs.fau.de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oss.cs.fau.de" TargetMode="Externa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oss.cs.fau.de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oss.cs.fau.de" TargetMode="Externa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oss.cs.fau.de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oss.cs.fau.de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oss.cs.fau.de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oss.cs.fau.de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oss.cs.fau.de" TargetMode="Externa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oss.cs.fau.de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oss.cs.fau.de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oss.cs.fau.de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oss.cs.fau.de" TargetMode="Externa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oss.cs.fau.de" TargetMode="Externa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oss.cs.fau.de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8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oss.cs.fau.de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oss.cs.fau.de" TargetMode="Externa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Relationship Id="rId3" Type="http://schemas.openxmlformats.org/officeDocument/2006/relationships/hyperlink" Target="https://oss.cs.fau.de" TargetMode="Externa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Relationship Id="rId3" Type="http://schemas.openxmlformats.org/officeDocument/2006/relationships/hyperlink" Target="https://oss.cs.fau.de" TargetMode="Externa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Relationship Id="rId3" Type="http://schemas.openxmlformats.org/officeDocument/2006/relationships/hyperlink" Target="https://oss.cs.fau.de" TargetMode="Externa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3" Type="http://schemas.openxmlformats.org/officeDocument/2006/relationships/hyperlink" Target="https://oss.cs.fau.de" TargetMode="Externa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hyperlink" Target="https://oss.cs.fau.de" TargetMode="Externa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3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3.png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4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7.png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5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6.png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6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4.png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7.xml"/><Relationship Id="rId3" Type="http://schemas.openxmlformats.org/officeDocument/2006/relationships/hyperlink" Target="https://oss.cs.fau.de" TargetMode="Externa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Relationship Id="rId3" Type="http://schemas.openxmlformats.org/officeDocument/2006/relationships/hyperlink" Target="https://oss.cs.fau.de" TargetMode="Externa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9.xml"/><Relationship Id="rId3" Type="http://schemas.openxmlformats.org/officeDocument/2006/relationships/hyperlink" Target="https://oss.cs.fau.de" TargetMode="Externa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3" Type="http://schemas.openxmlformats.org/officeDocument/2006/relationships/hyperlink" Target="mailto:dirk.riehle@fau.de" TargetMode="External"/><Relationship Id="rId4" Type="http://schemas.openxmlformats.org/officeDocument/2006/relationships/hyperlink" Target="https://oss.cs.fau.de" TargetMode="External"/><Relationship Id="rId5" Type="http://schemas.openxmlformats.org/officeDocument/2006/relationships/hyperlink" Target="mailto:dirk@riehle.org" TargetMode="External"/><Relationship Id="rId6" Type="http://schemas.openxmlformats.org/officeDocument/2006/relationships/hyperlink" Target="https://dirkriehle.com" TargetMode="External"/><Relationship Id="rId7" Type="http://schemas.openxmlformats.org/officeDocument/2006/relationships/hyperlink" Target="https://twitter.com/dirkriehle" TargetMode="Externa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1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://creativecommons.org/licenses/by/4.0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 and Interface Design</a:t>
            </a:r>
            <a:endParaRPr/>
          </a:p>
        </p:txBody>
      </p:sp>
      <p:sp>
        <p:nvSpPr>
          <p:cNvPr id="52" name="Google Shape;52;p8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Dirk Riehle, FAU Erlangen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ADAP B02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Licensed under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CC BY 4.0 International</a:t>
            </a:r>
            <a:endParaRPr sz="1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58" name="Google Shape;58;p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Classes vs. interfaces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Abstract state model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Program to an interface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Design by primitives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Simple class design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Inheritance interface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Class design evolution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0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 Classes vs. Interfaces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Objects and Classes</a:t>
            </a:r>
            <a:endParaRPr/>
          </a:p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modeling perspective (historically: Simula)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 object is the representation of a phenomenon from a domain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class is a description of the commonalities of similar objects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technology perspective (historically: Smalltalk)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 object is an encapsulation of some program state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class is the implementation of how to change that state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 i</a:t>
            </a:r>
            <a:r>
              <a:rPr lang="en"/>
              <a:t>nterface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abstract description of some object behavior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 abstract class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partial implementation of an interface’s behavior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 concrete class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complete implementation of an interface’s behavior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77" name="Google Shape;77;p1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Classes and Interfaces</a:t>
            </a:r>
            <a:endParaRPr/>
          </a:p>
        </p:txBody>
      </p:sp>
      <p:sp>
        <p:nvSpPr>
          <p:cNvPr id="78" name="Google Shape;78;p1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(Use-Client) Interfaces</a:t>
            </a:r>
            <a:endParaRPr/>
          </a:p>
        </p:txBody>
      </p:sp>
      <p:sp>
        <p:nvSpPr>
          <p:cNvPr id="84" name="Google Shape;84;p1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Have an abstract state model and state transitions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Are to be implemented by abstract and/or concrete classes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1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Abstract Classes</a:t>
            </a:r>
            <a:endParaRPr/>
          </a:p>
        </p:txBody>
      </p:sp>
      <p:sp>
        <p:nvSpPr>
          <p:cNvPr id="91" name="Google Shape;91;p1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Set up algorithmic scaffolding for concrete subclasses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Are used to implement an interface, to be extended by subclasses</a:t>
            </a:r>
            <a:endParaRPr/>
          </a:p>
        </p:txBody>
      </p:sp>
      <p:sp>
        <p:nvSpPr>
          <p:cNvPr id="92" name="Google Shape;92;p1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Concrete Classes</a:t>
            </a:r>
            <a:endParaRPr/>
          </a:p>
        </p:txBody>
      </p:sp>
      <p:sp>
        <p:nvSpPr>
          <p:cNvPr id="98" name="Google Shape;98;p1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Include implementation state (fields)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Directly implement an interface or extend an abstract class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When paired with an interface, are also known as implementation classes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1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Typescript</a:t>
            </a:r>
            <a:endParaRPr/>
          </a:p>
        </p:txBody>
      </p:sp>
      <p:sp>
        <p:nvSpPr>
          <p:cNvPr id="105" name="Google Shape;105;p1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Typescript interface is a (use-client) interface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Any Typescript class has an (implicit) interface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interface is conceptually separate from the implementation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other languages, e.g. C, interface and implementation are split in files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Typescript class can implement a Typescript interface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Typescript class can be an abstract class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marked as abstract in its definition</a:t>
            </a:r>
            <a:endParaRPr/>
          </a:p>
        </p:txBody>
      </p:sp>
      <p:sp>
        <p:nvSpPr>
          <p:cNvPr id="106" name="Google Shape;106;p1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 Model of Coordinates Example</a:t>
            </a:r>
            <a:endParaRPr/>
          </a:p>
        </p:txBody>
      </p:sp>
      <p:sp>
        <p:nvSpPr>
          <p:cNvPr id="112" name="Google Shape;112;p1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113" name="Google Shape;113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8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 Abstract State Model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Abstract State Model</a:t>
            </a:r>
            <a:endParaRPr/>
          </a:p>
        </p:txBody>
      </p:sp>
      <p:sp>
        <p:nvSpPr>
          <p:cNvPr id="124" name="Google Shape;124;p1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 abstract state model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model of the valid state space of objects conforming to the model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An interface expresses an abstract state model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 abstract state model</a:t>
            </a:r>
            <a:r>
              <a:rPr lang="en"/>
              <a:t> does not map 1:1 on implementation fields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abstract state model can be </a:t>
            </a:r>
            <a:r>
              <a:rPr lang="en"/>
              <a:t>expressed</a:t>
            </a:r>
            <a:r>
              <a:rPr lang="en"/>
              <a:t> using get methods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Alternatively, it can be expressed as finite state machines</a:t>
            </a:r>
            <a:endParaRPr/>
          </a:p>
        </p:txBody>
      </p:sp>
      <p:sp>
        <p:nvSpPr>
          <p:cNvPr id="125" name="Google Shape;125;p1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Model of Coordinate Example</a:t>
            </a:r>
            <a:endParaRPr/>
          </a:p>
        </p:txBody>
      </p:sp>
      <p:sp>
        <p:nvSpPr>
          <p:cNvPr id="131" name="Google Shape;131;p2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import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Equality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}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from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A3151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"./Equality"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import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Cloneable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}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from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A3151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"./Cloneable"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export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interface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Coordinate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extends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Equality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Cloneable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000"/>
          </a:p>
        </p:txBody>
      </p:sp>
      <p:sp>
        <p:nvSpPr>
          <p:cNvPr id="132" name="Google Shape;132;p2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Model of File Example</a:t>
            </a:r>
            <a:endParaRPr/>
          </a:p>
        </p:txBody>
      </p:sp>
      <p:sp>
        <p:nvSpPr>
          <p:cNvPr id="138" name="Google Shape;138;p2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139" name="Google Shape;139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File as Class (+ Interface)</a:t>
            </a:r>
            <a:endParaRPr/>
          </a:p>
        </p:txBody>
      </p:sp>
      <p:sp>
        <p:nvSpPr>
          <p:cNvPr id="145" name="Google Shape;145;p2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export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class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File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isOpen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boolean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isClosed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boolean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 ...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read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any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[]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assertIsOpenFile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delete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assertIsClosedFile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assertIsOpenFile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 ...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assertIsClosedFile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...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000"/>
          </a:p>
        </p:txBody>
      </p:sp>
      <p:sp>
        <p:nvSpPr>
          <p:cNvPr id="146" name="Google Shape;146;p2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File Interface and ObjFile Implementation</a:t>
            </a:r>
            <a:endParaRPr/>
          </a:p>
        </p:txBody>
      </p:sp>
      <p:sp>
        <p:nvSpPr>
          <p:cNvPr id="152" name="Google Shape;152;p23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export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interface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File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isEmpty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boolean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isOpen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boolean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isClosed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boolean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read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any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[];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write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data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any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[])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delete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000">
              <a:solidFill>
                <a:srgbClr val="AF00D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53" name="Google Shape;153;p2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154" name="Google Shape;154;p23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export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class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ObjFile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implements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File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data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Object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[]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[];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length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isEmpty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boolean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length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read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Object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[] { ...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write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data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Object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[])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delete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0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4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3. Program to an Interface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Program to an Interface Principle</a:t>
            </a:r>
            <a:endParaRPr/>
          </a:p>
        </p:txBody>
      </p:sp>
      <p:sp>
        <p:nvSpPr>
          <p:cNvPr id="165" name="Google Shape;165;p2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Program to an interface, not an implementation</a:t>
            </a:r>
            <a:endParaRPr/>
          </a:p>
        </p:txBody>
      </p:sp>
      <p:sp>
        <p:nvSpPr>
          <p:cNvPr id="166" name="Google Shape;166;p2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Program to an Interface</a:t>
            </a:r>
            <a:endParaRPr/>
          </a:p>
        </p:txBody>
      </p:sp>
      <p:sp>
        <p:nvSpPr>
          <p:cNvPr id="172" name="Google Shape;172;p2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Program to the abstract state model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 not program to the implementation state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 not rely on what is not in the interface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 not expect implementation-generated side-effects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 not rely on specific performance unless guaranteed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2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 Implementation</a:t>
            </a:r>
            <a:endParaRPr/>
          </a:p>
        </p:txBody>
      </p:sp>
      <p:sp>
        <p:nvSpPr>
          <p:cNvPr id="179" name="Google Shape;179;p2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 concrete class (a.k.a. implementation class)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Has an interface that combines all interfaces it implements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Is a complete implementation of that interface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Implements an abstract state model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implementation is by way of implementation state (fields)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2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8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4. Design by Primitives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Types of Interfaces</a:t>
            </a:r>
            <a:endParaRPr/>
          </a:p>
        </p:txBody>
      </p:sp>
      <p:sp>
        <p:nvSpPr>
          <p:cNvPr id="191" name="Google Shape;191;p2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Use-client interfaces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Inheritance interfaces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2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by Primitives</a:t>
            </a:r>
            <a:endParaRPr/>
          </a:p>
        </p:txBody>
      </p:sp>
      <p:sp>
        <p:nvSpPr>
          <p:cNvPr id="198" name="Google Shape;198;p3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Design by primitives is a programming principle in which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implementation state of a class is encapsulated by primitive methods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All other methods should utilize these primitive methods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 not change any fields outside the primitive methods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3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 of Primitive Methods</a:t>
            </a:r>
            <a:endParaRPr/>
          </a:p>
        </p:txBody>
      </p:sp>
      <p:sp>
        <p:nvSpPr>
          <p:cNvPr id="205" name="Google Shape;205;p3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doGetX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doGetX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Math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hypot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doGetX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(),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doGetY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setR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Math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atan2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doGetY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(),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doGetX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doSetX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*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Math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doSetY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*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Math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sin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));      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000"/>
          </a:p>
        </p:txBody>
      </p:sp>
      <p:sp>
        <p:nvSpPr>
          <p:cNvPr id="206" name="Google Shape;206;p3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Purpose of Design by Primitive</a:t>
            </a:r>
            <a:endParaRPr/>
          </a:p>
        </p:txBody>
      </p:sp>
      <p:sp>
        <p:nvSpPr>
          <p:cNvPr id="212" name="Google Shape;212;p3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encapsulation of implementation field access creates an indirection level that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Creates flexibility (subclasses can override)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Makes design by contract more effective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3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5. Simple Class Design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Structure a Class Interface</a:t>
            </a:r>
            <a:endParaRPr/>
          </a:p>
        </p:txBody>
      </p:sp>
      <p:sp>
        <p:nvSpPr>
          <p:cNvPr id="224" name="Google Shape;224;p3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Group methods by trait or collaboration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Get and set belong together, not getters and setters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Methods of the same collaboration belong together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Special purpose methods belong together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Break out reusable collaborations as interfaces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3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Multiple Interfaces</a:t>
            </a:r>
            <a:endParaRPr/>
          </a:p>
        </p:txBody>
      </p:sp>
      <p:sp>
        <p:nvSpPr>
          <p:cNvPr id="231" name="Google Shape;231;p3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232" name="Google Shape;232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3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Mixin Classes [1]</a:t>
            </a:r>
            <a:endParaRPr/>
          </a:p>
        </p:txBody>
      </p:sp>
      <p:sp>
        <p:nvSpPr>
          <p:cNvPr id="238" name="Google Shape;238;p3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mixin class is a (typically small) class that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Provides reusable code </a:t>
            </a:r>
            <a:r>
              <a:rPr lang="en"/>
              <a:t>focused on one aspect / trait / role of interest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regular class then “mixes in” or inherits from one or more mixin classes to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Compose the reusable code into the (larger) class</a:t>
            </a:r>
            <a:endParaRPr/>
          </a:p>
        </p:txBody>
      </p:sp>
      <p:sp>
        <p:nvSpPr>
          <p:cNvPr id="239" name="Google Shape;239;p3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240" name="Google Shape;240;p36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Requires multiple inheritance or dedicated language mechanism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3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Structure a Class Implementation</a:t>
            </a:r>
            <a:endParaRPr/>
          </a:p>
        </p:txBody>
      </p:sp>
      <p:sp>
        <p:nvSpPr>
          <p:cNvPr id="246" name="Google Shape;246;p3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Group fields together, across traits or collaborations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At top of file (most common) or bottom (less common)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Because implementation state works across collaborations</a:t>
            </a:r>
            <a:endParaRPr/>
          </a:p>
        </p:txBody>
      </p:sp>
      <p:sp>
        <p:nvSpPr>
          <p:cNvPr id="247" name="Google Shape;247;p3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3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Tagging Interface</a:t>
            </a:r>
            <a:endParaRPr/>
          </a:p>
        </p:txBody>
      </p:sp>
      <p:sp>
        <p:nvSpPr>
          <p:cNvPr id="253" name="Google Shape;253;p3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tagging interface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 interface that serves as a marker to the compiler to add “some magic”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Typically void of any methods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A.k.a. marker interface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 Java, example tagging interfaces are Cloneable and Serializable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p3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39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6. Inheritance Interface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4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Inheritance Interface</a:t>
            </a:r>
            <a:endParaRPr/>
          </a:p>
        </p:txBody>
      </p:sp>
      <p:sp>
        <p:nvSpPr>
          <p:cNvPr id="265" name="Google Shape;265;p4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 inheritance interface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 internal abstract interface defined by a superclass for its own use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To be implemented by subclasses to complete </a:t>
            </a:r>
            <a:r>
              <a:rPr lang="en"/>
              <a:t>the implementation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4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Inheritance Interface in the Coordinate Example </a:t>
            </a:r>
            <a:endParaRPr/>
          </a:p>
        </p:txBody>
      </p:sp>
      <p:sp>
        <p:nvSpPr>
          <p:cNvPr id="272" name="Google Shape;272;p4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273" name="Google Shape;273;p4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of Inheritance Interfaces</a:t>
            </a:r>
            <a:endParaRPr/>
          </a:p>
        </p:txBody>
      </p:sp>
      <p:sp>
        <p:nvSpPr>
          <p:cNvPr id="279" name="Google Shape;279;p4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inheritance interface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Typically consists of primitive methods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Is protected (only for class internal use)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280" name="Google Shape;280;p4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Inheritance Interface of AbstractCoordinate</a:t>
            </a:r>
            <a:endParaRPr/>
          </a:p>
        </p:txBody>
      </p:sp>
      <p:sp>
        <p:nvSpPr>
          <p:cNvPr id="286" name="Google Shape;286;p4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export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abstract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class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AbstractCoordinate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implements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Coordinate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abstract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doGetX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abstract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doSetX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x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abstract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doGetY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abstract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doSetY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y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abstract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doGetR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abstract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doSetR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abstract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doGetPhi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abstract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doSetPhi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000"/>
          </a:p>
        </p:txBody>
      </p:sp>
      <p:sp>
        <p:nvSpPr>
          <p:cNvPr id="287" name="Google Shape;287;p4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4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Narrow Inheritance Interface Principle</a:t>
            </a:r>
            <a:endParaRPr/>
          </a:p>
        </p:txBody>
      </p:sp>
      <p:sp>
        <p:nvSpPr>
          <p:cNvPr id="293" name="Google Shape;293;p4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Inheritance interfaces should be as small (narrow) as possible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Small = </a:t>
            </a:r>
            <a:r>
              <a:rPr lang="en"/>
              <a:t>minimal</a:t>
            </a:r>
            <a:r>
              <a:rPr lang="en"/>
              <a:t> number of methods needed to complete the implementation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This allows for expedient implementation of subclasses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Subclasses can still override more methods for more efficient implementations</a:t>
            </a:r>
            <a:endParaRPr/>
          </a:p>
        </p:txBody>
      </p:sp>
      <p:sp>
        <p:nvSpPr>
          <p:cNvPr id="294" name="Google Shape;294;p4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4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Thinking the Class Hierarchy Bottom-up</a:t>
            </a:r>
            <a:endParaRPr/>
          </a:p>
        </p:txBody>
      </p:sp>
      <p:sp>
        <p:nvSpPr>
          <p:cNvPr id="300" name="Google Shape;300;p4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Subclasses call methods of superclasses to use its functionality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This may be any kind of method including helper methods</a:t>
            </a:r>
            <a:endParaRPr/>
          </a:p>
        </p:txBody>
      </p:sp>
      <p:sp>
        <p:nvSpPr>
          <p:cNvPr id="301" name="Google Shape;301;p4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4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Thinking the Class Hierarchy Top-down</a:t>
            </a:r>
            <a:endParaRPr/>
          </a:p>
        </p:txBody>
      </p:sp>
      <p:sp>
        <p:nvSpPr>
          <p:cNvPr id="307" name="Google Shape;307;p4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Superclasses implement algorithms (for </a:t>
            </a:r>
            <a:r>
              <a:rPr lang="en"/>
              <a:t>example</a:t>
            </a:r>
            <a:r>
              <a:rPr lang="en"/>
              <a:t>, as template methods)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Superclasses call methods of subclasses through the inheritance interface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This reuses algorithms while allowing for behavior variation of the algorithms</a:t>
            </a:r>
            <a:endParaRPr/>
          </a:p>
        </p:txBody>
      </p:sp>
      <p:sp>
        <p:nvSpPr>
          <p:cNvPr id="308" name="Google Shape;308;p4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4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Open / Closed Principle</a:t>
            </a:r>
            <a:endParaRPr/>
          </a:p>
        </p:txBody>
      </p:sp>
      <p:sp>
        <p:nvSpPr>
          <p:cNvPr id="314" name="Google Shape;314;p4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class should be open for extension and closed for modification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Open for extension through a well-defined inheritance interface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Closed for modification by not violating the use-client interface</a:t>
            </a:r>
            <a:endParaRPr/>
          </a:p>
        </p:txBody>
      </p:sp>
      <p:sp>
        <p:nvSpPr>
          <p:cNvPr id="315" name="Google Shape;315;p4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48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7. Class Design Evolution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4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Typical</a:t>
            </a:r>
            <a:r>
              <a:rPr lang="en"/>
              <a:t> Class and Interface Evolution</a:t>
            </a:r>
            <a:endParaRPr/>
          </a:p>
        </p:txBody>
      </p:sp>
      <p:sp>
        <p:nvSpPr>
          <p:cNvPr id="326" name="Google Shape;326;p4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Simple class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Interface extraction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Addition of implementation classes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Introduction of </a:t>
            </a:r>
            <a:r>
              <a:rPr lang="en"/>
              <a:t>reusable </a:t>
            </a:r>
            <a:r>
              <a:rPr lang="en"/>
              <a:t>abstract superclass</a:t>
            </a:r>
            <a:endParaRPr/>
          </a:p>
        </p:txBody>
      </p:sp>
      <p:sp>
        <p:nvSpPr>
          <p:cNvPr id="327" name="Google Shape;327;p4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5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 Simple Class</a:t>
            </a:r>
            <a:endParaRPr/>
          </a:p>
        </p:txBody>
      </p:sp>
      <p:sp>
        <p:nvSpPr>
          <p:cNvPr id="333" name="Google Shape;333;p5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334" name="Google Shape;334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5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 Interface Extraction</a:t>
            </a:r>
            <a:endParaRPr/>
          </a:p>
        </p:txBody>
      </p:sp>
      <p:sp>
        <p:nvSpPr>
          <p:cNvPr id="340" name="Google Shape;340;p5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341" name="Google Shape;341;p5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5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3. Addition of Implementation Classes </a:t>
            </a:r>
            <a:endParaRPr/>
          </a:p>
        </p:txBody>
      </p:sp>
      <p:sp>
        <p:nvSpPr>
          <p:cNvPr id="347" name="Google Shape;347;p5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348" name="Google Shape;348;p5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5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4. Introduction of Abstract Superclass</a:t>
            </a:r>
            <a:endParaRPr/>
          </a:p>
        </p:txBody>
      </p:sp>
      <p:sp>
        <p:nvSpPr>
          <p:cNvPr id="354" name="Google Shape;354;p5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355" name="Google Shape;355;p5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5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Naming Conventions of Classes [1]</a:t>
            </a:r>
            <a:endParaRPr/>
          </a:p>
        </p:txBody>
      </p:sp>
      <p:sp>
        <p:nvSpPr>
          <p:cNvPr id="361" name="Google Shape;361;p5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362" name="Google Shape;362;p54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Recommended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Interfaces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Coordinate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Abstract classes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AbstractCoordinate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Concrete classes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DefaultCoordinate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GenericCoordinate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CartesianCoordinate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PolarCoordinate</a:t>
            </a:r>
            <a:endParaRPr/>
          </a:p>
        </p:txBody>
      </p:sp>
      <p:sp>
        <p:nvSpPr>
          <p:cNvPr id="363" name="Google Shape;363;p54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Discouraged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Interfaces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ICoordinate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Abstract classes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CoordinateImpl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Concrete classes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CartesianCoordinateImpl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...</a:t>
            </a:r>
            <a:endParaRPr/>
          </a:p>
        </p:txBody>
      </p:sp>
      <p:sp>
        <p:nvSpPr>
          <p:cNvPr id="364" name="Google Shape;364;p54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My opinion based on readability; consistency may be more important though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5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Name Classes (English Grammar)</a:t>
            </a:r>
            <a:endParaRPr/>
          </a:p>
        </p:txBody>
      </p:sp>
      <p:sp>
        <p:nvSpPr>
          <p:cNvPr id="370" name="Google Shape;370;p5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 is best to go with the flow of the (English) language chosen by your project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rule: Adjective sequence + class name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Ordering of adjective: By how strongly they bind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Opinion, size, age, shape, color, origin, material, purpose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Examples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FunnyLargeRipeStraightYellowJamaicanSoftEdibleBanana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LargeEuropeanWoodenRockingChair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71" name="Google Shape;371;p5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5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377" name="Google Shape;377;p5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Classes vs. interfaces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Abstract state model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Program to an interface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Design by primitives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Simple class design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Inheritance interface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Class design evolution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78" name="Google Shape;378;p5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57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 Any questions?</a:t>
            </a:r>
            <a:endParaRPr/>
          </a:p>
        </p:txBody>
      </p:sp>
      <p:sp>
        <p:nvSpPr>
          <p:cNvPr id="384" name="Google Shape;384;p57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dirk.riehle@fau.de</a:t>
            </a:r>
            <a:r>
              <a:rPr lang="en"/>
              <a:t> </a:t>
            </a:r>
            <a:r>
              <a:rPr lang="en" sz="2400"/>
              <a:t>–</a:t>
            </a:r>
            <a:r>
              <a:rPr lang="en"/>
              <a:t>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https://oss.cs.fau.de</a:t>
            </a:r>
            <a:endParaRPr/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u="sng">
                <a:solidFill>
                  <a:schemeClr val="hlink"/>
                </a:solidFill>
                <a:hlinkClick r:id="rId5"/>
              </a:rPr>
              <a:t>dirk@riehle.org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6"/>
              </a:rPr>
              <a:t>https://dirkriehle.com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7"/>
              </a:rPr>
              <a:t>@dirkriehle</a:t>
            </a:r>
            <a:endParaRPr sz="240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5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Legal Notices</a:t>
            </a:r>
            <a:endParaRPr/>
          </a:p>
        </p:txBody>
      </p:sp>
      <p:sp>
        <p:nvSpPr>
          <p:cNvPr id="390" name="Google Shape;390;p5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391" name="Google Shape;391;p5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License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Licensed under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CC BY 4.0 International</a:t>
            </a:r>
            <a:r>
              <a:rPr lang="en"/>
              <a:t> license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Copyright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© 2012, 2018, 2024 Dirk Riehle, some rights reserved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OSS Slides Template">
  <a:themeElements>
    <a:clrScheme name="Simple Light">
      <a:dk1>
        <a:srgbClr val="000000"/>
      </a:dk1>
      <a:lt1>
        <a:srgbClr val="FFFFFF"/>
      </a:lt1>
      <a:dk2>
        <a:srgbClr val="404040"/>
      </a:dk2>
      <a:lt2>
        <a:srgbClr val="808080"/>
      </a:lt2>
      <a:accent1>
        <a:srgbClr val="D0D0D0"/>
      </a:accent1>
      <a:accent2>
        <a:srgbClr val="4169E1"/>
      </a:accent2>
      <a:accent3>
        <a:srgbClr val="4CAF50"/>
      </a:accent3>
      <a:accent4>
        <a:srgbClr val="FEB612"/>
      </a:accent4>
      <a:accent5>
        <a:srgbClr val="F36838"/>
      </a:accent5>
      <a:accent6>
        <a:srgbClr val="8E44AD"/>
      </a:accent6>
      <a:hlink>
        <a:srgbClr val="1E90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