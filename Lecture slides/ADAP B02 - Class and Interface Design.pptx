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0268aaaedc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0268aaaedc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0268aaaedc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0268aaaedc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0268aaaedc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0268aaaedc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0268aaaedc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0268aaaedc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0268aaaedc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0268aaaedc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0268aaaed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0268aaaed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0268aaaedc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0268aaaed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0268aaaedc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0268aaaedc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2fe5ef885d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2fe5ef885d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0268aaaedc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0268aaaedc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0268aaaedc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0268aaaedc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0268aaaedc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0268aaaedc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0268aaaedc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0268aaaedc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0268aaaedc_0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0268aaaedc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0268aaaedc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0268aaaedc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268aaaedc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268aaaedc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0268aaaedc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0268aaaedc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0268aaaedc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0268aaaedc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0268aaaedc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0268aaaedc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0268aaaedc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0268aaaedc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02caffcd6e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02caffcd6e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0f161cc9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0f161cc9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02d3105e3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02d3105e3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02caffcd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02caffcd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0304b9c80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0304b9c80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99feb6e2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99feb6e2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02caffcd6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02caffcd6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13cc4519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13cc4519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0304b9c80a_1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0304b9c80a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0304b9c80a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0304b9c80a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97f86edc0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97f86edc0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0304b9c80a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0304b9c80a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0304b9c80a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0304b9c80a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0304b9c80a_1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0304b9c80a_1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0304b9c80a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0304b9c80a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0304b9c80a_1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0304b9c80a_1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0304b9c80a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30304b9c80a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0304b9c80a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0304b9c80a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0304b9c80a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30304b9c80a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0304b9c80a_1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0304b9c80a_1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0304b9c80a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30304b9c80a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0304b9c80a_1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0304b9c80a_1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0304b9c80a_1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0304b9c80a_1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0465d217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0465d217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d40b766212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2d40b766212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0304b9c80a_1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0304b9c80a_1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ss.cs.fau.de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oss.cs.fau.de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s://oss.cs.fau.de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and Interface Design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B02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Classes vs. interfaces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Abstract state model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Program to an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primitives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Simple class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Inheritance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 design evolution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Classes vs. Interfaces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Objects and Classes</a:t>
            </a:r>
            <a:endParaRPr/>
          </a:p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modeling perspective (historically: Simula)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is the representation of a phenomenon from a domain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class is a description of the commonalities of similar objects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technology perspective (historically: Smalltalk)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is an encapsulation of some program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class is the implementation of how to change that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i</a:t>
            </a:r>
            <a:r>
              <a:rPr lang="en"/>
              <a:t>nterface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abstract description of some object behavior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abstract class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partial implementation of an interface’s behavior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concrete class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complete implementation of an interface’s behavior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Classes and Interfaces</a:t>
            </a:r>
            <a:endParaRPr/>
          </a:p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(Use-Client) Interfaces</a:t>
            </a:r>
            <a:endParaRPr/>
          </a:p>
        </p:txBody>
      </p:sp>
      <p:sp>
        <p:nvSpPr>
          <p:cNvPr id="84" name="Google Shape;84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Have an abstract state model and state transitions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Are to be implemented by abstract and/or concrete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Classes</a:t>
            </a:r>
            <a:endParaRPr/>
          </a:p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 up algorithmic scaffolding for concrete subclasses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Are used to implement an interface, to be extended by subclasses</a:t>
            </a:r>
            <a:endParaRPr/>
          </a:p>
        </p:txBody>
      </p:sp>
      <p:sp>
        <p:nvSpPr>
          <p:cNvPr id="92" name="Google Shape;92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Concrete Classes</a:t>
            </a:r>
            <a:endParaRPr/>
          </a:p>
        </p:txBody>
      </p:sp>
      <p:sp>
        <p:nvSpPr>
          <p:cNvPr id="98" name="Google Shape;98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Include implementation state (fields)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Directly implement an interface or extend an abstract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When paired with an interface, are also known as implementation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Typescript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Typescript interface is a (use-client)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Any Typescript class has an (implicit) interface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interface is conceptually separate from the implementation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other languages, e.g. C, interface and implementation are split in files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Typescript class can implement a Typescript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Typescript class can be an abstract class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marked as abstract in its definition</a:t>
            </a:r>
            <a:endParaRPr/>
          </a:p>
        </p:txBody>
      </p:sp>
      <p:sp>
        <p:nvSpPr>
          <p:cNvPr id="106" name="Google Shape;106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Model of Coordinates Example</a:t>
            </a:r>
            <a:endParaRPr/>
          </a:p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13" name="Google Shape;11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Abstract State Model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State Model</a:t>
            </a:r>
            <a:endParaRPr/>
          </a:p>
        </p:txBody>
      </p:sp>
      <p:sp>
        <p:nvSpPr>
          <p:cNvPr id="124" name="Google Shape;124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abstract state model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model of the valid state space of objects conforming to the model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interface expresses an abstract state model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abstract state model</a:t>
            </a:r>
            <a:r>
              <a:rPr lang="en"/>
              <a:t> does not map 1:1 on implementation fields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abstract state model can be </a:t>
            </a:r>
            <a:r>
              <a:rPr lang="en"/>
              <a:t>expressed</a:t>
            </a:r>
            <a:r>
              <a:rPr lang="en"/>
              <a:t> using get methods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Alternatively, it can be expressed as finite state machines</a:t>
            </a:r>
            <a:endParaRPr/>
          </a:p>
        </p:txBody>
      </p:sp>
      <p:sp>
        <p:nvSpPr>
          <p:cNvPr id="125" name="Google Shape;125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Model of Coordinate Example</a:t>
            </a:r>
            <a:endParaRPr/>
          </a:p>
        </p:txBody>
      </p:sp>
      <p:sp>
        <p:nvSpPr>
          <p:cNvPr id="131" name="Google Shape;131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Equality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"./Equality"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Cloneable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"./Cloneable"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interface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Equality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Cloneable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32" name="Google Shape;132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Model of File Example</a:t>
            </a:r>
            <a:endParaRPr/>
          </a:p>
        </p:txBody>
      </p:sp>
      <p:sp>
        <p:nvSpPr>
          <p:cNvPr id="138" name="Google Shape;138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39" name="Google Shape;13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 as Class (+ Interface)</a:t>
            </a:r>
            <a:endParaRPr/>
          </a:p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isOpen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isClosed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assertIsOpenFile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assertIsClosedFile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assertIsOpenFile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assertIsClosedFile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46" name="Google Shape;146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 Interface and ObjFile Implementation</a:t>
            </a:r>
            <a:endParaRPr/>
          </a:p>
        </p:txBody>
      </p:sp>
      <p:sp>
        <p:nvSpPr>
          <p:cNvPr id="152" name="Google Shape;152;p23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interface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isEmpty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isOpen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isClosed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write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3" name="Google Shape;153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54" name="Google Shape;154;p23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[];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length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isEmpty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length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 { ...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write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data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Object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[])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Program to an Interface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Program to an Interface Principle</a:t>
            </a:r>
            <a:endParaRPr/>
          </a:p>
        </p:txBody>
      </p:sp>
      <p:sp>
        <p:nvSpPr>
          <p:cNvPr id="165" name="Google Shape;165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Program to an interface, not an implementation</a:t>
            </a:r>
            <a:endParaRPr/>
          </a:p>
        </p:txBody>
      </p:sp>
      <p:sp>
        <p:nvSpPr>
          <p:cNvPr id="166" name="Google Shape;166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Program to an Interface</a:t>
            </a:r>
            <a:endParaRPr/>
          </a:p>
        </p:txBody>
      </p:sp>
      <p:sp>
        <p:nvSpPr>
          <p:cNvPr id="172" name="Google Shape;172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 to the abstract state model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program to the implementation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not rely on what is not in the interface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expect implementation-generated side-effects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rely on specific performance unless guaranteed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Implementation</a:t>
            </a:r>
            <a:endParaRPr/>
          </a:p>
        </p:txBody>
      </p:sp>
      <p:sp>
        <p:nvSpPr>
          <p:cNvPr id="179" name="Google Shape;179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concrete class (a.k.a. implementation class)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Has an interface that combines all interfaces it implements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Is a complete implementation of that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Implements an abstract state model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implementation is by way of implementation state (fields)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Design by Primitives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Interfaces</a:t>
            </a:r>
            <a:endParaRPr/>
          </a:p>
        </p:txBody>
      </p:sp>
      <p:sp>
        <p:nvSpPr>
          <p:cNvPr id="191" name="Google Shape;191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Use-client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Inheritance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Primitives</a:t>
            </a:r>
            <a:endParaRPr/>
          </a:p>
        </p:txBody>
      </p:sp>
      <p:sp>
        <p:nvSpPr>
          <p:cNvPr id="198" name="Google Shape;198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Design by primitives is a programming principle in which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implementation state of a class is encapsulated by primitive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other methods should utilize these primitive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not change any fields outside the primitive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of Primitive Methods</a:t>
            </a:r>
            <a:endParaRPr/>
          </a:p>
        </p:txBody>
      </p:sp>
      <p:sp>
        <p:nvSpPr>
          <p:cNvPr id="205" name="Google Shape;205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hypot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atan2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(),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sin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));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206" name="Google Shape;206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Purpose of Design by Primitive</a:t>
            </a:r>
            <a:endParaRPr/>
          </a:p>
        </p:txBody>
      </p:sp>
      <p:sp>
        <p:nvSpPr>
          <p:cNvPr id="212" name="Google Shape;212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encapsulation of implementation field access creates an indirection level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Creates flexibility (subclasses can override)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Makes design by contract more effective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Simple Class Design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Structure a Class Interface</a:t>
            </a:r>
            <a:endParaRPr/>
          </a:p>
        </p:txBody>
      </p:sp>
      <p:sp>
        <p:nvSpPr>
          <p:cNvPr id="224" name="Google Shape;224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methods by trait or collaboration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Get and set belong together, not getters and setters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Methods of the same collaboration belong together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Special purpose methods belong together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Break out reusable collaborations as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 Interfaces</a:t>
            </a:r>
            <a:endParaRPr/>
          </a:p>
        </p:txBody>
      </p:sp>
      <p:sp>
        <p:nvSpPr>
          <p:cNvPr id="231" name="Google Shape;231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32" name="Google Shape;232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Mixin Classes [1]</a:t>
            </a:r>
            <a:endParaRPr/>
          </a:p>
        </p:txBody>
      </p:sp>
      <p:sp>
        <p:nvSpPr>
          <p:cNvPr id="238" name="Google Shape;238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mixin class is a (typically small) class that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Provides reusable code </a:t>
            </a:r>
            <a:r>
              <a:rPr lang="en"/>
              <a:t>focused on one aspect / trait / role of interest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regular class then “mixes in” or inherits from one or more mixin classes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Compose the reusable code into the (larger) class</a:t>
            </a:r>
            <a:endParaRPr/>
          </a:p>
        </p:txBody>
      </p:sp>
      <p:sp>
        <p:nvSpPr>
          <p:cNvPr id="239" name="Google Shape;239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40" name="Google Shape;240;p3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Requires multiple inheritance or dedicated language mechanism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Structure a Class Implementation</a:t>
            </a:r>
            <a:endParaRPr/>
          </a:p>
        </p:txBody>
      </p:sp>
      <p:sp>
        <p:nvSpPr>
          <p:cNvPr id="246" name="Google Shape;246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Group fields together, across traits or collaborations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top of file (most common) or bottom (less common)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implementation state works across collaborations</a:t>
            </a:r>
            <a:endParaRPr/>
          </a:p>
        </p:txBody>
      </p:sp>
      <p:sp>
        <p:nvSpPr>
          <p:cNvPr id="247" name="Google Shape;247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Tagging Interface</a:t>
            </a:r>
            <a:endParaRPr/>
          </a:p>
        </p:txBody>
      </p:sp>
      <p:sp>
        <p:nvSpPr>
          <p:cNvPr id="253" name="Google Shape;253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tagging interface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interface that serves as a marker to the compiler to add “some magic”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Typically void of any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A.k.a. marker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Java, example tagging interfaces are Cloneable and Serializable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Inheritance Interface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</a:t>
            </a:r>
            <a:endParaRPr/>
          </a:p>
        </p:txBody>
      </p:sp>
      <p:sp>
        <p:nvSpPr>
          <p:cNvPr id="265" name="Google Shape;265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inheritance interface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internal abstract interface defined by a superclass for its own use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be implemented by subclasses to complete </a:t>
            </a:r>
            <a:r>
              <a:rPr lang="en"/>
              <a:t>the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 in the Coordinate Example </a:t>
            </a:r>
            <a:endParaRPr/>
          </a:p>
        </p:txBody>
      </p:sp>
      <p:sp>
        <p:nvSpPr>
          <p:cNvPr id="272" name="Google Shape;272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273" name="Google Shape;273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of Inheritance Interfaces</a:t>
            </a:r>
            <a:endParaRPr/>
          </a:p>
        </p:txBody>
      </p:sp>
      <p:sp>
        <p:nvSpPr>
          <p:cNvPr id="279" name="Google Shape;279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inheritance interface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Typically consists of primitive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protected (only for class internal use)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80" name="Google Shape;280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 of AbstractCoordinate</a:t>
            </a:r>
            <a:endParaRPr/>
          </a:p>
        </p:txBody>
      </p:sp>
      <p:sp>
        <p:nvSpPr>
          <p:cNvPr id="286" name="Google Shape;286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287" name="Google Shape;287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Narrow Inheritance Interface Principle</a:t>
            </a:r>
            <a:endParaRPr/>
          </a:p>
        </p:txBody>
      </p:sp>
      <p:sp>
        <p:nvSpPr>
          <p:cNvPr id="293" name="Google Shape;293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 interfaces should be as small (narrow) as possible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Small = </a:t>
            </a:r>
            <a:r>
              <a:rPr lang="en"/>
              <a:t>minimal</a:t>
            </a:r>
            <a:r>
              <a:rPr lang="en"/>
              <a:t> number of methods needed to complete the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allows for expedient implementation of subclasses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Subclasses can still override more methods for more efficient implementations</a:t>
            </a:r>
            <a:endParaRPr/>
          </a:p>
        </p:txBody>
      </p:sp>
      <p:sp>
        <p:nvSpPr>
          <p:cNvPr id="294" name="Google Shape;294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Thinking the Class Hierarchy Bottom-up</a:t>
            </a:r>
            <a:endParaRPr/>
          </a:p>
        </p:txBody>
      </p:sp>
      <p:sp>
        <p:nvSpPr>
          <p:cNvPr id="300" name="Google Shape;300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Subclasses call methods of superclasses to use its functionality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This may be any kind of method including helper methods</a:t>
            </a:r>
            <a:endParaRPr/>
          </a:p>
        </p:txBody>
      </p:sp>
      <p:sp>
        <p:nvSpPr>
          <p:cNvPr id="301" name="Google Shape;301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Thinking the Class Hierarchy Top-down</a:t>
            </a:r>
            <a:endParaRPr/>
          </a:p>
        </p:txBody>
      </p:sp>
      <p:sp>
        <p:nvSpPr>
          <p:cNvPr id="307" name="Google Shape;307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Superclasses implement algorithms (for </a:t>
            </a:r>
            <a:r>
              <a:rPr lang="en"/>
              <a:t>example</a:t>
            </a:r>
            <a:r>
              <a:rPr lang="en"/>
              <a:t>, as template methods)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Superclasses call methods of subclasses through the inheritance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This reuses algorithms while allowing for behavior variation of the algorithms</a:t>
            </a:r>
            <a:endParaRPr/>
          </a:p>
        </p:txBody>
      </p:sp>
      <p:sp>
        <p:nvSpPr>
          <p:cNvPr id="308" name="Google Shape;308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Open / Closed Principle</a:t>
            </a:r>
            <a:endParaRPr/>
          </a:p>
        </p:txBody>
      </p:sp>
      <p:sp>
        <p:nvSpPr>
          <p:cNvPr id="314" name="Google Shape;314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class should be open for extension and closed for modification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Open for extension through a well-defined inheritance interface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Closed for modification by not violating the use-client interface</a:t>
            </a:r>
            <a:endParaRPr/>
          </a:p>
        </p:txBody>
      </p:sp>
      <p:sp>
        <p:nvSpPr>
          <p:cNvPr id="315" name="Google Shape;315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Class Design Evolution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Typical</a:t>
            </a:r>
            <a:r>
              <a:rPr lang="en"/>
              <a:t> Class and Interface Evolution</a:t>
            </a:r>
            <a:endParaRPr/>
          </a:p>
        </p:txBody>
      </p:sp>
      <p:sp>
        <p:nvSpPr>
          <p:cNvPr id="326" name="Google Shape;326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Simple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Interface extraction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Addition of implementation classes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Introduction of </a:t>
            </a:r>
            <a:r>
              <a:rPr lang="en"/>
              <a:t>reusable </a:t>
            </a:r>
            <a:r>
              <a:rPr lang="en"/>
              <a:t>abstract superclass</a:t>
            </a:r>
            <a:endParaRPr/>
          </a:p>
        </p:txBody>
      </p:sp>
      <p:sp>
        <p:nvSpPr>
          <p:cNvPr id="327" name="Google Shape;327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Simple Class</a:t>
            </a:r>
            <a:endParaRPr/>
          </a:p>
        </p:txBody>
      </p:sp>
      <p:sp>
        <p:nvSpPr>
          <p:cNvPr id="333" name="Google Shape;333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34" name="Google Shape;334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Interface Extraction</a:t>
            </a:r>
            <a:endParaRPr/>
          </a:p>
        </p:txBody>
      </p:sp>
      <p:sp>
        <p:nvSpPr>
          <p:cNvPr id="340" name="Google Shape;340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41" name="Google Shape;341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Addition of Implementation Classes </a:t>
            </a:r>
            <a:endParaRPr/>
          </a:p>
        </p:txBody>
      </p:sp>
      <p:sp>
        <p:nvSpPr>
          <p:cNvPr id="347" name="Google Shape;347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48" name="Google Shape;348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Introduction of Abstract Superclass</a:t>
            </a:r>
            <a:endParaRPr/>
          </a:p>
        </p:txBody>
      </p:sp>
      <p:sp>
        <p:nvSpPr>
          <p:cNvPr id="354" name="Google Shape;354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55" name="Google Shape;355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Naming Conventions of Classes [1]</a:t>
            </a:r>
            <a:endParaRPr/>
          </a:p>
        </p:txBody>
      </p:sp>
      <p:sp>
        <p:nvSpPr>
          <p:cNvPr id="361" name="Google Shape;361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362" name="Google Shape;362;p54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Interfaces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Coordinate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Abstract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AbstractCoordinate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Concrete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DefaultCoordinate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GenericCoordinate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CartesianCoordinate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PolarCoordinate</a:t>
            </a:r>
            <a:endParaRPr/>
          </a:p>
        </p:txBody>
      </p:sp>
      <p:sp>
        <p:nvSpPr>
          <p:cNvPr id="363" name="Google Shape;363;p54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Discouraged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Interfaces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ICoordinate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Abstract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CoordinateImpl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Concrete classes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CartesianCoordinateImpl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...</a:t>
            </a:r>
            <a:endParaRPr/>
          </a:p>
        </p:txBody>
      </p:sp>
      <p:sp>
        <p:nvSpPr>
          <p:cNvPr id="364" name="Google Shape;364;p5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My opinion based on readability; consistency may be more important though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Name Classes (English Grammar)</a:t>
            </a:r>
            <a:endParaRPr/>
          </a:p>
        </p:txBody>
      </p:sp>
      <p:sp>
        <p:nvSpPr>
          <p:cNvPr id="370" name="Google Shape;370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is best to go with the flow of the (English) language chosen by your project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rule: Adjective sequence + class name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Ordering of adjective: By how strongly they bind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Opinion, size, age, shape, color, origin, material, purpose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FunnyLargeRipeStraightYellowJamaicanSoftEdibleBanana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LargeEuropeanWoodenRockingChair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77" name="Google Shape;377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Classes vs. interfaces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Abstract state model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Program to an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primitives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Simple class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Inheritance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 design evolution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7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84" name="Google Shape;384;p57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90" name="Google Shape;390;p5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91" name="Google Shape;391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