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242808-AB43-4DF9-A915-755DD663F308}">
  <a:tblStyle styleId="{96242808-AB43-4DF9-A915-755DD663F3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46" Type="http://schemas.openxmlformats.org/officeDocument/2006/relationships/slide" Target="slides/slide40.xml"/><Relationship Id="rId23" Type="http://schemas.openxmlformats.org/officeDocument/2006/relationships/slide" Target="slides/slide17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8" Type="http://schemas.openxmlformats.org/officeDocument/2006/relationships/slide" Target="slides/slide42.xml"/><Relationship Id="rId25" Type="http://schemas.openxmlformats.org/officeDocument/2006/relationships/slide" Target="slides/slide19.xml"/><Relationship Id="rId47" Type="http://schemas.openxmlformats.org/officeDocument/2006/relationships/slide" Target="slides/slide41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a4d41e97c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a4d41e97c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23118225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23118225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a4d41e97c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2a4d41e97c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a4d41e97c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a4d41e97c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a4d41e97c2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2a4d41e97c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a4d41e97c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a4d41e97c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234712dbe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234712dbe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a4d41e97c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a4d41e97c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234712dbea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234712dbea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23118225fa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23118225fa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aa62d315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1aa62d31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23118225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23118225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23118225fa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23118225fa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23118225f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23118225f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23118225fa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23118225fa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23118225fa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23118225fa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234712dbe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234712dbe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234712dbea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234712dbea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a4f50b9fe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a4f50b9fe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a4d41e97c2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a4d41e97c2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23118225f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23118225f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23118225f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23118225f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23118225fa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23118225fa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234712dbe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234712dbe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234712dbe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234712dbe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234712dbe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234712dbe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234712dbe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234712dbe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234712dbe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234712dbe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234712dbea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234712dbea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234712dbea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234712dbea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1aa62d315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1aa62d315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1aa62d315d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1aa62d315d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23a7b75f70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23a7b75f70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23a7b75f70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23a7b75f7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23a7b75f7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23a7b75f7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23a7b75f70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23a7b75f70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23a7b75f70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23a7b75f7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Relationship Id="rId4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riehle.org/computer-science/research/2006/plop-2006-value-object.html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riehle.org/computer-science/research/2006/plop-2006-value-object.html" TargetMode="External"/><Relationship Id="rId5" Type="http://schemas.openxmlformats.org/officeDocument/2006/relationships/hyperlink" Target="https://riehle.org/computer-science/research/2000/plopd-4.html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D01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Three design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Composite pattern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design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Other types of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Describing design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Versus language features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Three Design Examples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Design Examples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File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Financial portfolios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Test suites</a:t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File System Design Example</a:t>
            </a:r>
            <a:endParaRPr/>
          </a:p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Node.getTotalSize() Exercise</a:t>
            </a:r>
            <a:endParaRPr/>
          </a:p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85" name="Google Shape;85;p1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{96242808-AB43-4DF9-A915-755DD663F308}</a:tableStyleId>
              </a:tblPr>
              <a:tblGrid>
                <a:gridCol w="413425"/>
                <a:gridCol w="718200"/>
                <a:gridCol w="1339400"/>
                <a:gridCol w="2738800"/>
                <a:gridCol w="1692750"/>
                <a:gridCol w="1692750"/>
              </a:tblGrid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#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Size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Type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Path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Who?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Result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RootNode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/usr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/usr/bin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12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File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/usr/bin/ls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579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File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/usr/bin/code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6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/media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7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/home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8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/home/riehle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9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File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/home/riehle/.bashrc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10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344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File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/home/riehle/wallpaper.jpg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3368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Directory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/home/riehle/projects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19050" marB="19050" marR="28575" marL="28575" anchor="b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Design of a Financial Trading Application</a:t>
            </a:r>
            <a:endParaRPr/>
          </a:p>
        </p:txBody>
      </p:sp>
      <p:sp>
        <p:nvSpPr>
          <p:cNvPr id="91" name="Google Shape;91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92" name="Google Shape;9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Core JUnit Design (Java)</a:t>
            </a:r>
            <a:endParaRPr/>
          </a:p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99" name="Google Shape;9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Common to the Three Examples?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Classes?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Dynamics?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The Composite Pattern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Intent of the Composite Design Pattern [1]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Compose objects into tree structures to represent part-whole hierarchies. Composite lets clients treat individual objects and compositions of objects uniformly.</a:t>
            </a:r>
            <a:endParaRPr/>
          </a:p>
        </p:txBody>
      </p:sp>
      <p:sp>
        <p:nvSpPr>
          <p:cNvPr id="118" name="Google Shape;118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Gamma, E. et al. (1995). Design patterns. Addison Wesley.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914400"/>
            <a:ext cx="8595360" cy="3858362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Motivation of the Composite Design Pattern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838200"/>
            <a:ext cx="8595360" cy="386791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Diagram of the Composite Design Pattern</a:t>
            </a:r>
            <a:endParaRPr/>
          </a:p>
        </p:txBody>
      </p:sp>
      <p:sp>
        <p:nvSpPr>
          <p:cNvPr id="133" name="Google Shape;133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Modernized Structure Diagram of the Composite Pattern</a:t>
            </a:r>
            <a:endParaRPr/>
          </a:p>
        </p:txBody>
      </p:sp>
      <p:sp>
        <p:nvSpPr>
          <p:cNvPr id="139" name="Google Shape;139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Would You Model a Computer Configuration?</a:t>
            </a:r>
            <a:endParaRPr/>
          </a:p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7" name="Google Shape;147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Hint: Use the Composite design pattern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Software </a:t>
            </a:r>
            <a:r>
              <a:rPr lang="en"/>
              <a:t>Design</a:t>
            </a:r>
            <a:r>
              <a:rPr lang="en"/>
              <a:t> Patterns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design pattern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abstraction from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A recurring </a:t>
            </a:r>
            <a:r>
              <a:rPr b="1" lang="en"/>
              <a:t>solution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To a recurring problem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In a defined context</a:t>
            </a:r>
            <a:endParaRPr b="1"/>
          </a:p>
        </p:txBody>
      </p:sp>
      <p:sp>
        <p:nvSpPr>
          <p:cNvPr id="158" name="Google Shape;158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</a:t>
            </a:r>
            <a:endParaRPr/>
          </a:p>
        </p:txBody>
      </p:sp>
      <p:sp>
        <p:nvSpPr>
          <p:cNvPr id="159" name="Google Shape;159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Using Design Patterns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Better, faster, cheaper …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Designing of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Documenting</a:t>
            </a:r>
            <a:r>
              <a:rPr lang="en"/>
              <a:t>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Communicating designs</a:t>
            </a:r>
            <a:endParaRPr/>
          </a:p>
        </p:txBody>
      </p:sp>
      <p:sp>
        <p:nvSpPr>
          <p:cNvPr id="166" name="Google Shape;16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Patterns Book 1 / 2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patterns book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A.k.a. the patterns catalog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A.k.a. the Gang-of-four book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is a seminal book that started the </a:t>
            </a:r>
            <a:r>
              <a:rPr lang="en"/>
              <a:t>design</a:t>
            </a:r>
            <a:r>
              <a:rPr lang="en"/>
              <a:t> patterns movement.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(Original German translation by yours truly [2]) </a:t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4" name="Google Shape;174;p26"/>
          <p:cNvSpPr txBox="1"/>
          <p:nvPr/>
        </p:nvSpPr>
        <p:spPr>
          <a:xfrm>
            <a:off x="0" y="4233675"/>
            <a:ext cx="77631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Gamma, E. et al. (1995). Design Patterns. Addison Wesley.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Gamma, E. et al. (1996). Entwurfsmuster. Addison Wesley, Germany.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Design Patterns Book 2 / 2</a:t>
            </a:r>
            <a:endParaRPr/>
          </a:p>
        </p:txBody>
      </p:sp>
      <p:sp>
        <p:nvSpPr>
          <p:cNvPr id="180" name="Google Shape;18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31928" y="914400"/>
            <a:ext cx="3415178" cy="40233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5" y="914400"/>
            <a:ext cx="3228044" cy="40233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Beyond The Design Patterns Book</a:t>
            </a:r>
            <a:endParaRPr/>
          </a:p>
        </p:txBody>
      </p:sp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Null Object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Value Object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Type Object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Role Object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Sections of an Original Design Pattern Description [1]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According to Gamma et al. (1995)</a:t>
            </a:r>
            <a:endParaRPr/>
          </a:p>
        </p:txBody>
      </p:sp>
      <p:graphicFrame>
        <p:nvGraphicFramePr>
          <p:cNvPr id="197" name="Google Shape;197;p29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{96242808-AB43-4DF9-A915-755DD663F308}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1. Intent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2. Also known as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3. Motivation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4. Applicability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5. Structure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6. Participants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7. Interactions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8. Consequences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9. Implementation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10. Example code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11. Known uses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12. Related patterns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Pattern Description [1]</a:t>
            </a:r>
            <a:endParaRPr/>
          </a:p>
        </p:txBody>
      </p:sp>
      <p:sp>
        <p:nvSpPr>
          <p:cNvPr id="203" name="Google Shape;203;p30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Context (where are we?)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(what’s the </a:t>
            </a:r>
            <a:r>
              <a:rPr lang="en"/>
              <a:t>problem</a:t>
            </a:r>
            <a:r>
              <a:rPr lang="en"/>
              <a:t>?)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Solution (how to solve it)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05" name="Google Shape;205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6325" y="914400"/>
            <a:ext cx="3351962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3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Alexander, C. et al. (1977). A Pattern Language. Oxford University Press.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Composite Pattern as Context / Problem / Solution</a:t>
            </a:r>
            <a:endParaRPr/>
          </a:p>
        </p:txBody>
      </p:sp>
      <p:sp>
        <p:nvSpPr>
          <p:cNvPr id="212" name="Google Shape;212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need an easy way to work with a tree on every level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tree node must be able to represent the whole subtree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Move child object handling from node class into new subclass</a:t>
            </a:r>
            <a:endParaRPr/>
          </a:p>
        </p:txBody>
      </p:sp>
      <p:sp>
        <p:nvSpPr>
          <p:cNvPr id="213" name="Google Shape;213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Highly Abridged History of Patterns in Software</a:t>
            </a:r>
            <a:endParaRPr/>
          </a:p>
        </p:txBody>
      </p:sp>
      <p:sp>
        <p:nvSpPr>
          <p:cNvPr id="219" name="Google Shape;219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pattern language (1977)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“No object is an island” (1992)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ET++ and Interviews (1988-1995)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design pattern catalog (1994)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system of patterns (1996)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PLoPD book series (1998-2006)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TPLoP journal (2000-today)</a:t>
            </a:r>
            <a:endParaRPr/>
          </a:p>
        </p:txBody>
      </p:sp>
      <p:sp>
        <p:nvSpPr>
          <p:cNvPr id="220" name="Google Shape;220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Other Types of Patterns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of Granularity</a:t>
            </a:r>
            <a:endParaRPr/>
          </a:p>
        </p:txBody>
      </p:sp>
      <p:sp>
        <p:nvSpPr>
          <p:cNvPr id="231" name="Google Shape;231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Architectural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Programming idioms</a:t>
            </a:r>
            <a:endParaRPr/>
          </a:p>
        </p:txBody>
      </p:sp>
      <p:sp>
        <p:nvSpPr>
          <p:cNvPr id="232" name="Google Shape;232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Architectural Pattern Example</a:t>
            </a:r>
            <a:endParaRPr/>
          </a:p>
        </p:txBody>
      </p:sp>
      <p:sp>
        <p:nvSpPr>
          <p:cNvPr id="238" name="Google Shape;238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 bus (a.k.a. publish/subscribe architecture)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software system of communicating components that come and go unbeknownst to each other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to ensure </a:t>
            </a:r>
            <a:r>
              <a:rPr lang="en"/>
              <a:t>components</a:t>
            </a:r>
            <a:r>
              <a:rPr lang="en"/>
              <a:t> can send and receive all information they need?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Mediate communication between components through a bus that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Allows for the definition of event types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Can receive events for defined event types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Can distribute events to those registered for the</a:t>
            </a:r>
            <a:r>
              <a:rPr lang="en"/>
              <a:t> event</a:t>
            </a:r>
            <a:r>
              <a:rPr lang="en"/>
              <a:t> type</a:t>
            </a:r>
            <a:endParaRPr/>
          </a:p>
        </p:txBody>
      </p:sp>
      <p:sp>
        <p:nvSpPr>
          <p:cNvPr id="239" name="Google Shape;23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Architectural Style Example</a:t>
            </a:r>
            <a:endParaRPr/>
          </a:p>
        </p:txBody>
      </p:sp>
      <p:sp>
        <p:nvSpPr>
          <p:cNvPr id="245" name="Google Shape;24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Pipes and filters architecture (a.k.a. dataflow architecture)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system to transform data received from data sources for consumption by data sinks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to flexibly create those systems from reusable components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 only for two types of components: Pipes and filters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Pipes receive data from filters or sources and distribute them to other filters or sinks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Filters receive data from pipes, process it, and feed it into further pipes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Build a pipes and filters system as a DAG from existing pipes and filters</a:t>
            </a:r>
            <a:endParaRPr/>
          </a:p>
        </p:txBody>
      </p:sp>
      <p:sp>
        <p:nvSpPr>
          <p:cNvPr id="246" name="Google Shape;246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23 Design Patterns from the Patterns Catalog</a:t>
            </a:r>
            <a:endParaRPr/>
          </a:p>
        </p:txBody>
      </p:sp>
      <p:sp>
        <p:nvSpPr>
          <p:cNvPr id="252" name="Google Shape;252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53" name="Google Shape;253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Creational Patterns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Factory (87)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 an interface for creating families of related or dependent objects without specifying their concrete classes.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Builder (97)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Separate the construction of a complex object from its representation so that the same construction process can create different representations.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Structural Patterns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Adapter (139)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Convert the interface of a class into another interface clients expect. Adapter lets classes work together that couldn't otherwise because of incompatible interfaces.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Bridge (151)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Decouple an abstraction from its implementation so that the two can vary independently.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Behavioral Patterns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Chain of Responsibility (223)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Avoid coupling the sender of a request to its receiver by giving more than one object a chance to handle the request. Chain the receiving objects and pass the request along the chain until an object handles it.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Command (233)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Encapsulate a request as an object, thereby letting you parameterize clients with different requests, queue or log requests, and support undoable operations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Idiom Example [1]</a:t>
            </a:r>
            <a:endParaRPr/>
          </a:p>
        </p:txBody>
      </p:sp>
      <p:sp>
        <p:nvSpPr>
          <p:cNvPr id="259" name="Google Shape;259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NumberArrayWithFixedIterator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constructor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b="1"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getNextAndInc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b="1"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b="1"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b="1"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b="1"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 b="1"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b="1"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b="1"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b="1"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0" name="Google Shape;260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61" name="Google Shape;261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PS: Anything wrong with this example?</a:t>
            </a:r>
            <a:endParaRPr/>
          </a:p>
        </p:txBody>
      </p:sp>
      <p:sp>
        <p:nvSpPr>
          <p:cNvPr id="262" name="Google Shape;262;p38"/>
          <p:cNvSpPr/>
          <p:nvPr/>
        </p:nvSpPr>
        <p:spPr>
          <a:xfrm>
            <a:off x="138900" y="2035050"/>
            <a:ext cx="3903900" cy="819300"/>
          </a:xfrm>
          <a:prstGeom prst="rect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Describing Design Patterns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914400"/>
            <a:ext cx="8595360" cy="3925214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Notation is This? [1]</a:t>
            </a:r>
            <a:endParaRPr/>
          </a:p>
        </p:txBody>
      </p:sp>
      <p:sp>
        <p:nvSpPr>
          <p:cNvPr id="274" name="Google Shape;274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vs. Template</a:t>
            </a:r>
            <a:endParaRPr/>
          </a:p>
        </p:txBody>
      </p:sp>
      <p:sp>
        <p:nvSpPr>
          <p:cNvPr id="280" name="Google Shape;280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</a:t>
            </a:r>
            <a:r>
              <a:rPr b="1" lang="en"/>
              <a:t>illustration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made-for-humans informal description (of a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template </a:t>
            </a:r>
            <a:r>
              <a:rPr lang="en"/>
              <a:t>is a </a:t>
            </a:r>
            <a:r>
              <a:rPr lang="en"/>
              <a:t>model</a:t>
            </a:r>
            <a:r>
              <a:rPr lang="en"/>
              <a:t> that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sufficiently formal description that can be applied to deliver an instance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structure diagram is an illustration of the most common form</a:t>
            </a:r>
            <a:endParaRPr/>
          </a:p>
        </p:txBody>
      </p:sp>
      <p:sp>
        <p:nvSpPr>
          <p:cNvPr id="281" name="Google Shape;281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Variations of the Composite Pattern’s Structure</a:t>
            </a:r>
            <a:endParaRPr/>
          </a:p>
        </p:txBody>
      </p:sp>
      <p:sp>
        <p:nvSpPr>
          <p:cNvPr id="287" name="Google Shape;287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88" name="Google Shape;28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Pattern Collections</a:t>
            </a:r>
            <a:endParaRPr/>
          </a:p>
        </p:txBody>
      </p:sp>
      <p:sp>
        <p:nvSpPr>
          <p:cNvPr id="294" name="Google Shape;294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Pattern catalogs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Pattern handbooks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Pattern languages</a:t>
            </a:r>
            <a:endParaRPr/>
          </a:p>
        </p:txBody>
      </p:sp>
      <p:sp>
        <p:nvSpPr>
          <p:cNvPr id="295" name="Google Shape;295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Versus Language Features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Value Object Pattern</a:t>
            </a:r>
            <a:endParaRPr/>
          </a:p>
        </p:txBody>
      </p:sp>
      <p:sp>
        <p:nvSpPr>
          <p:cNvPr id="306" name="Google Shape;306;p4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 book style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data types as immutable classes so that their instances can be handled like built-in values.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 </a:t>
            </a:r>
            <a:endParaRPr/>
          </a:p>
        </p:txBody>
      </p:sp>
      <p:sp>
        <p:nvSpPr>
          <p:cNvPr id="307" name="Google Shape;307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08" name="Google Shape;308;p4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Alexanderian form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object-oriented system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natively express values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value types as immutable classes</a:t>
            </a:r>
            <a:endParaRPr/>
          </a:p>
        </p:txBody>
      </p:sp>
      <p:pic>
        <p:nvPicPr>
          <p:cNvPr id="309" name="Google Shape;309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3613" y="2765997"/>
            <a:ext cx="2979115" cy="1645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Riehle, D. (2006). </a:t>
            </a:r>
            <a:r>
              <a:rPr lang="en" u="sng">
                <a:solidFill>
                  <a:schemeClr val="hlink"/>
                </a:solidFill>
                <a:hlinkClick r:id="rId5"/>
              </a:rPr>
              <a:t>Value Object.</a:t>
            </a:r>
            <a:r>
              <a:rPr lang="en"/>
              <a:t> In Proceedings of the 2006 Conference on Pattern Languages of Programming (PLoP ’06). ACM: Article no. 30, pp. 1-6.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Design Patterns Could be Language Features</a:t>
            </a:r>
            <a:endParaRPr/>
          </a:p>
        </p:txBody>
      </p:sp>
      <p:sp>
        <p:nvSpPr>
          <p:cNvPr id="316" name="Google Shape;316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Visitor → Double-dispatch (or multiple dispatch) function calling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Value Object → Domain-specific values as first-class citizens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 Object → Types as first class citizens (a.k.a. Meta Object)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Role Object → Traits and collaborations as first class </a:t>
            </a:r>
            <a:r>
              <a:rPr lang="en"/>
              <a:t>citizens</a:t>
            </a:r>
            <a:r>
              <a:rPr lang="en"/>
              <a:t> </a:t>
            </a:r>
            <a:endParaRPr/>
          </a:p>
        </p:txBody>
      </p:sp>
      <p:sp>
        <p:nvSpPr>
          <p:cNvPr id="317" name="Google Shape;317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18" name="Google Shape;318;p46"/>
          <p:cNvSpPr txBox="1"/>
          <p:nvPr/>
        </p:nvSpPr>
        <p:spPr>
          <a:xfrm>
            <a:off x="0" y="3319272"/>
            <a:ext cx="73152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Gamma, E. et al. (1995). Design Patterns. Addison Wesley.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</a:t>
            </a:r>
            <a:r>
              <a:rPr lang="en"/>
              <a:t>Riehle, D. (2006). </a:t>
            </a:r>
            <a:r>
              <a:rPr lang="en" u="sng">
                <a:solidFill>
                  <a:schemeClr val="hlink"/>
                </a:solidFill>
                <a:hlinkClick r:id="rId4"/>
              </a:rPr>
              <a:t>Value Object.</a:t>
            </a:r>
            <a:r>
              <a:rPr lang="en"/>
              <a:t> In Proceedings of the 2006 Conference on Pattern Languages of Programming (PLoP ’06). ACM: Article no. 30, pp. 1-6.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Johnson, R., &amp; Woolf, B. (1997). Type object. In Pattern Languages of Program Design 3, pp. 47-65. Addison Wesley.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Bäumer, D., Riehle, D., Siberski, W. &amp; Wulf, M. (2000). </a:t>
            </a:r>
            <a:r>
              <a:rPr lang="en" u="sng">
                <a:solidFill>
                  <a:schemeClr val="hlink"/>
                </a:solidFill>
                <a:hlinkClick r:id="rId5"/>
              </a:rPr>
              <a:t>Role Object.</a:t>
            </a:r>
            <a:r>
              <a:rPr lang="en"/>
              <a:t> In Pattern Languages of Program Design 4 (PLoPD 4), pp. 15-32. Addison-Wesley.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24" name="Google Shape;324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Three design examples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Composite pattern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design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Other types of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Describing design patterns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Versus language features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31" name="Google Shape;331;p4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37" name="Google Shape;337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8" name="Google Shape;338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