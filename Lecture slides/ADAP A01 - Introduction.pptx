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4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1FBBAE8-8C2A-40BD-8D39-94A6FA426410}">
  <a:tblStyle styleId="{F1FBBAE8-8C2A-40BD-8D39-94A6FA42641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2e7ced0a8d6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2e7ced0a8d6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108fe332759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" name="Google Shape;56;g108fe332759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108fe332759_2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108fe332759_2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8c883704b8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8c883704b8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cc7df650f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cc7df650f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108fe332759_2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108fe332759_2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6e50f01cd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6e50f01cd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2395919313b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2395919313b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1d3edfe9d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1d3edfe9d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2cc48c0d17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2cc48c0d17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2395919313b_0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2395919313b_0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108fe332759_2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108fe332759_2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2cc48c0d17f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2cc48c0d17f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2cc48c0d17f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2cc48c0d17f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2395919313b_0_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2395919313b_0_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0a7ab4b1dc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0a7ab4b1d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108fe332759_2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108fe332759_2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108fe332759_2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108fe332759_2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2395919313b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2395919313b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2e7ced0a8d6_0_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2e7ced0a8d6_0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2e7ced0a8d6_0_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2e7ced0a8d6_0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12" name="Google Shape;12;p2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13" name="Google Shape;13;p2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18" name="Google Shape;18;p3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19" name="Google Shape;19;p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26" name="Google Shape;26;p4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27" name="Google Shape;27;p4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4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35" name="Google Shape;35;p5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36" name="Google Shape;36;p5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5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5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42" name="Google Shape;42;p6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43" name="Google Shape;43;p6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6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s://oss.cs.fau.de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oss.cs.fau.de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oss.cs.fau.de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oss.cs.fau.de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oss.cs.fau.de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s://oss.cs.fau.de/teaching/course-resources/grading-schemes-and-scales/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myc.uni1.de" TargetMode="External"/><Relationship Id="rId4" Type="http://schemas.openxmlformats.org/officeDocument/2006/relationships/hyperlink" Target="https://oss.cs.fau.de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oss.cs.fau.de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oss.cs.fau.de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oss.cs.fau.de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hyperlink" Target="https://oss.cs.fau.de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://oss.cs.fau.de/2012/03/10/english-or-german-deutsch-oder-englisch/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oss.cs.fau.de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oss.cs.fau.de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oss.cs.fau.de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oss.cs.fau.de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adap.uni1.de" TargetMode="External"/><Relationship Id="rId4" Type="http://schemas.openxmlformats.org/officeDocument/2006/relationships/hyperlink" Target="https://oss.cs.fau.de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oss.cs.fau.de" TargetMode="Externa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oss.cs.fau.de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://creativecommons.org/licenses/by/4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 to ADAP [1]</a:t>
            </a:r>
            <a:endParaRPr/>
          </a:p>
        </p:txBody>
      </p:sp>
      <p:sp>
        <p:nvSpPr>
          <p:cNvPr id="52" name="Google Shape;52;p8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ADAP A01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  <p:sp>
        <p:nvSpPr>
          <p:cNvPr id="53" name="Google Shape;53;p8"/>
          <p:cNvSpPr txBox="1"/>
          <p:nvPr/>
        </p:nvSpPr>
        <p:spPr>
          <a:xfrm>
            <a:off x="0" y="4690872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Advanced Design and Programming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Learning Goals</a:t>
            </a:r>
            <a:endParaRPr/>
          </a:p>
        </p:txBody>
      </p:sp>
      <p:sp>
        <p:nvSpPr>
          <p:cNvPr id="59" name="Google Shape;59;p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Understand and apply advanced design and programming concepts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Understand and work with a simple but realistic web application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Skills Required for Course</a:t>
            </a:r>
            <a:endParaRPr/>
          </a:p>
        </p:txBody>
      </p:sp>
      <p:sp>
        <p:nvSpPr>
          <p:cNvPr id="66" name="Google Shape;66;p1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General requirements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Familiarity </a:t>
            </a:r>
            <a:r>
              <a:rPr lang="en"/>
              <a:t>with </a:t>
            </a:r>
            <a:r>
              <a:rPr lang="en"/>
              <a:t>(or willingness to learn) Typescript and an IDE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For an intermediate period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Tolerance for </a:t>
            </a:r>
            <a:r>
              <a:rPr lang="en"/>
              <a:t>working</a:t>
            </a:r>
            <a:r>
              <a:rPr lang="en"/>
              <a:t> with a living example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German language skills for class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English language skills for design and programming</a:t>
            </a:r>
            <a:endParaRPr/>
          </a:p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Position in Curriculum</a:t>
            </a:r>
            <a:endParaRPr/>
          </a:p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aphicFrame>
        <p:nvGraphicFramePr>
          <p:cNvPr id="74" name="Google Shape;74;p11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{F1FBBAE8-8C2A-40BD-8D39-94A6FA426410}</a:tableStyleId>
              </a:tblPr>
              <a:tblGrid>
                <a:gridCol w="859550"/>
                <a:gridCol w="859550"/>
                <a:gridCol w="859550"/>
                <a:gridCol w="859550"/>
                <a:gridCol w="859550"/>
                <a:gridCol w="859550"/>
                <a:gridCol w="859550"/>
                <a:gridCol w="859550"/>
                <a:gridCol w="859550"/>
                <a:gridCol w="859550"/>
              </a:tblGrid>
              <a:tr h="457200">
                <a:tc gridSpan="6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Bachelor’s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hMerge="1"/>
                <a:tc hMerge="1"/>
                <a:tc hMerge="1"/>
                <a:tc hMerge="1"/>
                <a:tc hMerge="1"/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Master’s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hMerge="1"/>
                <a:tc hMerge="1"/>
                <a:tc hMerge="1"/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1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2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3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4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5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6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1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2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3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4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ADAP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NYT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AMOS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AMOS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6"/>
                    </a:solidFill>
                  </a:tcPr>
                </a:tc>
                <a:tc rowSpan="5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MATH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FOSS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FOSS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COACH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COACH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4"/>
                    </a:solidFill>
                  </a:tcPr>
                </a:tc>
                <a:tc vMerge="1"/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SEMI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SEMI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SEMI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SEMI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SEMI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vMerge="1"/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PRAK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PRAK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PROJ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PROJ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PROJ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vMerge="1"/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BATH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 vMerge="1"/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KOLL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KOLL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Courses and Modules</a:t>
            </a:r>
            <a:endParaRPr/>
          </a:p>
        </p:txBody>
      </p:sp>
      <p:sp>
        <p:nvSpPr>
          <p:cNvPr id="80" name="Google Shape;80;p1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81" name="Google Shape;81;p12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</a:t>
            </a:r>
            <a:r>
              <a:rPr lang="en"/>
              <a:t>VUE = Lecture + exercise (Vorlesung + Übung)</a:t>
            </a:r>
            <a:endParaRPr/>
          </a:p>
        </p:txBody>
      </p:sp>
      <p:sp>
        <p:nvSpPr>
          <p:cNvPr id="82" name="Google Shape;82;p1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Module</a:t>
            </a:r>
            <a:r>
              <a:rPr lang="en"/>
              <a:t> = OSS-ADAP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Lehrveranstaltung = OSS-ADAP-VUE [1] with 4 SWS, 5 ECTS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Lecture part = 2 SWS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Exercise (homework discussion) part = 2 SWS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 the Informatik degree program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As a VL + UE (Bachelor, Master) in den Säulen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Theorie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Software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As seminar (Bachelor, Master)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ADAP-VUE</a:t>
            </a:r>
            <a:r>
              <a:rPr lang="en"/>
              <a:t> Grading [1]</a:t>
            </a:r>
            <a:endParaRPr/>
          </a:p>
        </p:txBody>
      </p:sp>
      <p:sp>
        <p:nvSpPr>
          <p:cNvPr id="88" name="Google Shape;88;p1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89" name="Google Shape;89;p1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Lecture content (2 SWS) = 30 / 150 = 20% (of semester contributions)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Graded using [0..10] each class session using class quizzes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Homework = 120 / 150 = 80% (of semester contributions)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Graded using [0..10] using tool and grading rubric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https://oss.cs.fau.de/teaching/course-resources/grading-schemes-and-scales/</a:t>
            </a:r>
            <a:r>
              <a:rPr lang="en"/>
              <a:t>  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Management System</a:t>
            </a:r>
            <a:endParaRPr/>
          </a:p>
        </p:txBody>
      </p:sp>
      <p:sp>
        <p:nvSpPr>
          <p:cNvPr id="96" name="Google Shape;96;p1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sign up on 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https://myc.uni1.de</a:t>
            </a:r>
            <a:r>
              <a:rPr lang="en"/>
              <a:t> for the course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Make sure your first and last name match your university credentials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You must use your university email address for your account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All accounts with non-university email addresses will be removed</a:t>
            </a:r>
            <a:endParaRPr/>
          </a:p>
        </p:txBody>
      </p:sp>
      <p:sp>
        <p:nvSpPr>
          <p:cNvPr id="97" name="Google Shape;97;p1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Each class session starts with a class quiz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quiz will open precisely when class starts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quiz is administered automatically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It is your job to have reliable Internet access etc.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 is no way to make up for a missed quiz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03" name="Google Shape;103;p1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 Quizzes</a:t>
            </a:r>
            <a:endParaRPr/>
          </a:p>
        </p:txBody>
      </p:sp>
      <p:sp>
        <p:nvSpPr>
          <p:cNvPr id="104" name="Google Shape;104;p1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Quiz Grading</a:t>
            </a:r>
            <a:endParaRPr/>
          </a:p>
        </p:txBody>
      </p:sp>
      <p:sp>
        <p:nvSpPr>
          <p:cNvPr id="110" name="Google Shape;110;p1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All quizzes are weighted equally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quiz will test your understanding of last session’s topic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quiz typically has 5 questions and will last 10 minutes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overall quiz is graded using [0..10] scheme (10 points in total)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Miss four or more quizzes and you fail the course</a:t>
            </a:r>
            <a:endParaRPr/>
          </a:p>
        </p:txBody>
      </p:sp>
      <p:sp>
        <p:nvSpPr>
          <p:cNvPr id="111" name="Google Shape;111;p1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Homework Grading</a:t>
            </a:r>
            <a:endParaRPr/>
          </a:p>
        </p:txBody>
      </p:sp>
      <p:sp>
        <p:nvSpPr>
          <p:cNvPr id="117" name="Google Shape;117;p1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All homework submissions will be weighted equally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homework will be graded on a [0..10] scale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 will be 12 homework submissions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Miss four or more homework assignments and you fail the course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1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 Oral or Written Exam [1] [2]</a:t>
            </a:r>
            <a:endParaRPr/>
          </a:p>
        </p:txBody>
      </p:sp>
      <p:pic>
        <p:nvPicPr>
          <p:cNvPr id="124" name="Google Shape;12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43200" y="914400"/>
            <a:ext cx="3657601" cy="3649471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18"/>
          <p:cNvSpPr txBox="1"/>
          <p:nvPr/>
        </p:nvSpPr>
        <p:spPr>
          <a:xfrm>
            <a:off x="0" y="4233675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If both you and we don’t want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[2] You still have to register for the course</a:t>
            </a:r>
            <a:endParaRPr/>
          </a:p>
        </p:txBody>
      </p:sp>
      <p:sp>
        <p:nvSpPr>
          <p:cNvPr id="126" name="Google Shape;126;p1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Language [1]</a:t>
            </a:r>
            <a:endParaRPr/>
          </a:p>
        </p:txBody>
      </p:sp>
      <p:sp>
        <p:nvSpPr>
          <p:cNvPr id="132" name="Google Shape;132;p1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33" name="Google Shape;133;p19"/>
          <p:cNvSpPr txBox="1"/>
          <p:nvPr/>
        </p:nvSpPr>
        <p:spPr>
          <a:xfrm>
            <a:off x="0" y="4229100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https://oss.cs.fau.de/2012/03/10/english-or-german-deutsch-oder-englisch/</a:t>
            </a:r>
            <a:r>
              <a:rPr lang="en"/>
              <a:t> </a:t>
            </a:r>
            <a:endParaRPr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Class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Lecturer: German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Student: Choice of German or English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Exercise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Instructor: German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Homework: Choice of German or English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Participation (Auditing)</a:t>
            </a:r>
            <a:endParaRPr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course is provided publicly, you can always audit it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Auditing will not give you credit points towards a degree</a:t>
            </a:r>
            <a:endParaRPr/>
          </a:p>
        </p:txBody>
      </p:sp>
      <p:sp>
        <p:nvSpPr>
          <p:cNvPr id="141" name="Google Shape;141;p2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Registration / Waitlist</a:t>
            </a:r>
            <a:endParaRPr/>
          </a:p>
        </p:txBody>
      </p:sp>
      <p:sp>
        <p:nvSpPr>
          <p:cNvPr id="147" name="Google Shape;147;p2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48" name="Google Shape;148;p2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Students must have passed a (trivial) entrance test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trike="sngStrike"/>
              <a:t>We use stratified randomized sampling to select students </a:t>
            </a:r>
            <a:endParaRPr strike="sngStrike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trike="sngStrike"/>
              <a:t>Our current student limit for the course is 30 students</a:t>
            </a:r>
            <a:endParaRPr strike="sngStrike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Everyone is required to participate in this first class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trike="sngStrike"/>
              <a:t>We will inform you after class if you got off the waitlist</a:t>
            </a:r>
            <a:endParaRPr strike="sngStrike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vs. Exam Registration</a:t>
            </a:r>
            <a:r>
              <a:rPr lang="en"/>
              <a:t> [1]</a:t>
            </a:r>
            <a:endParaRPr/>
          </a:p>
        </p:txBody>
      </p:sp>
      <p:sp>
        <p:nvSpPr>
          <p:cNvPr id="154" name="Google Shape;154;p2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Course management and exam registration are two separate steps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If you want to receive a grade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212121"/>
              </a:buClr>
              <a:buSzPts val="1800"/>
              <a:buChar char="●"/>
            </a:pPr>
            <a:r>
              <a:rPr lang="en">
                <a:solidFill>
                  <a:srgbClr val="212121"/>
                </a:solidFill>
              </a:rPr>
              <a:t>You must register through your university’s exam registration system</a:t>
            </a:r>
            <a:endParaRPr>
              <a:solidFill>
                <a:srgbClr val="212121"/>
              </a:solidFill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b="1" lang="en"/>
              <a:t>Your degree program may have split the course into two (VL + UE)</a:t>
            </a:r>
            <a:endParaRPr b="1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b="1" lang="en"/>
              <a:t>Please check asap that the course is available in your degree program!</a:t>
            </a:r>
            <a:endParaRPr b="1">
              <a:solidFill>
                <a:srgbClr val="21212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Otherwise</a:t>
            </a:r>
            <a:r>
              <a:rPr lang="en"/>
              <a:t>: No grade</a:t>
            </a:r>
            <a:endParaRPr/>
          </a:p>
        </p:txBody>
      </p:sp>
      <p:sp>
        <p:nvSpPr>
          <p:cNvPr id="155" name="Google Shape;155;p2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56" name="Google Shape;156;p22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German: Prüfungsanmeldung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Expectation Management (Winter 2025/26)</a:t>
            </a:r>
            <a:endParaRPr/>
          </a:p>
        </p:txBody>
      </p:sp>
      <p:sp>
        <p:nvSpPr>
          <p:cNvPr id="162" name="Google Shape;162;p2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63" name="Google Shape;163;p2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did not finish ADAP preparations; this instance is experimental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You will not receive any homework feedback during the course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Please take note of these restrictions; we recommend you try next year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Course organization a.k.a. information index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https://adap.uni1.de</a:t>
            </a:r>
            <a:r>
              <a:rPr lang="en"/>
              <a:t>  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Course schedule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Schedule tab on Course organization doc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/>
          </a:p>
        </p:txBody>
      </p:sp>
      <p:sp>
        <p:nvSpPr>
          <p:cNvPr id="169" name="Google Shape;169;p2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Organization</a:t>
            </a:r>
            <a:endParaRPr/>
          </a:p>
        </p:txBody>
      </p:sp>
      <p:sp>
        <p:nvSpPr>
          <p:cNvPr id="170" name="Google Shape;170;p2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Work Rhythm</a:t>
            </a:r>
            <a:endParaRPr/>
          </a:p>
        </p:txBody>
      </p:sp>
      <p:sp>
        <p:nvSpPr>
          <p:cNvPr id="176" name="Google Shape;176;p2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77" name="Google Shape;177;p2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Class session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Review of last week (quiz)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Presentation of this week’s topic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Homework review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 strike="sngStrike"/>
              <a:t>Discussion of articles</a:t>
            </a:r>
            <a:endParaRPr strike="sngStrike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Discussion of homework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Homework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Course organization doc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Self-organized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Communication</a:t>
            </a:r>
            <a:endParaRPr/>
          </a:p>
        </p:txBody>
      </p:sp>
      <p:sp>
        <p:nvSpPr>
          <p:cNvPr id="183" name="Google Shape;183;p2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Announcements by email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Through course management system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Questions to teaching team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Please ask your question in the course forum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private questions, use the teaching team email alias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Non-urgent questions will be answered in class</a:t>
            </a:r>
            <a:endParaRPr/>
          </a:p>
        </p:txBody>
      </p:sp>
      <p:sp>
        <p:nvSpPr>
          <p:cNvPr id="184" name="Google Shape;184;p2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7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190" name="Google Shape;190;p27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2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196" name="Google Shape;196;p2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97" name="Google Shape;197;p2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2012, 2018, 2024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OS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