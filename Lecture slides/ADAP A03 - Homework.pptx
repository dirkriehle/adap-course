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6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 showSpecialPlsOnTitleSld="0">
  <p:sldMasterIdLst>
    <p:sldMasterId id="2147483654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2fe02fb2832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2fe02fb2832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9b7a43ba29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39b7a43ba29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9b7a43ba29_1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9b7a43ba29_1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9b7a43ba29_1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9b7a43ba29_1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39b7a43ba29_1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39b7a43ba29_1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9b7a43ba29_1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39b7a43ba29_1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30a722db546_0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" name="Google Shape;94;g30a722db546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02671db11d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" name="Google Shape;101;g302671db11d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2fe02fb283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2fe02fb283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9b7a43ba29_1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9b7a43ba29_1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02671db11d_0_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02671db11d_0_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02671db11d_0_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g302671db11d_0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9b7a43ba29_1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g39b7a43ba29_1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02671db11d_0_9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302671db11d_0_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302671db11d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" name="Google Shape;150;g302671db11d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9b7a43ba29_1_4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" name="Google Shape;155;g39b7a43ba29_1_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9b7a43ba29_1_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9b7a43ba29_1_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9b7a43ba29_1_10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9b7a43ba29_1_1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39b7a43ba29_1_1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" name="Google Shape;176;g39b7a43ba29_1_1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39b7a43ba29_1_2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39b7a43ba29_1_2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39b7a43ba29_1_2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0" name="Google Shape;190;g39b7a43ba29_1_2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39b7a43ba29_1_2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7" name="Google Shape;197;g39b7a43ba29_1_2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239609b2c0c_0_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g239609b2c0c_0_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239609b2c0c_0_4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239609b2c0c_0_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oss.cs.fau.de" TargetMode="Externa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oss.cs.fau.de" TargetMode="Externa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oss.cs.fau.de" TargetMode="Externa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  <a:noFill/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None/>
              <a:defRPr sz="42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/>
        </p:txBody>
      </p:sp>
      <p:grpSp>
        <p:nvGrpSpPr>
          <p:cNvPr id="12" name="Google Shape;12;p2"/>
          <p:cNvGrpSpPr/>
          <p:nvPr/>
        </p:nvGrpSpPr>
        <p:grpSpPr>
          <a:xfrm>
            <a:off x="0" y="2388810"/>
            <a:ext cx="9144000" cy="183000"/>
            <a:chOff x="0" y="2388810"/>
            <a:chExt cx="9144000" cy="183000"/>
          </a:xfrm>
        </p:grpSpPr>
        <p:sp>
          <p:nvSpPr>
            <p:cNvPr id="13" name="Google Shape;13;p2"/>
            <p:cNvSpPr/>
            <p:nvPr/>
          </p:nvSpPr>
          <p:spPr>
            <a:xfrm>
              <a:off x="0" y="2388810"/>
              <a:ext cx="914400" cy="183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>
              <a:off x="914400" y="2388810"/>
              <a:ext cx="1828800" cy="183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2743200" y="2388810"/>
              <a:ext cx="6400800" cy="1830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3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grpSp>
        <p:nvGrpSpPr>
          <p:cNvPr id="18" name="Google Shape;18;p3"/>
          <p:cNvGrpSpPr/>
          <p:nvPr/>
        </p:nvGrpSpPr>
        <p:grpSpPr>
          <a:xfrm>
            <a:off x="0" y="2432304"/>
            <a:ext cx="9144000" cy="91500"/>
            <a:chOff x="0" y="2386584"/>
            <a:chExt cx="9144000" cy="91500"/>
          </a:xfrm>
        </p:grpSpPr>
        <p:sp>
          <p:nvSpPr>
            <p:cNvPr id="19" name="Google Shape;19;p3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" name="Google Shape;20;p3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" name="Google Shape;21;p3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buNone/>
              <a:defRPr>
                <a:solidFill>
                  <a:schemeClr val="dk1"/>
                </a:solidFill>
              </a:defRPr>
            </a:lvl1pPr>
            <a:lvl2pPr lvl="1" rtl="0">
              <a:buNone/>
              <a:defRPr>
                <a:solidFill>
                  <a:schemeClr val="dk1"/>
                </a:solidFill>
              </a:defRPr>
            </a:lvl2pPr>
            <a:lvl3pPr lvl="2" rtl="0">
              <a:buNone/>
              <a:defRPr>
                <a:solidFill>
                  <a:schemeClr val="dk1"/>
                </a:solidFill>
              </a:defRPr>
            </a:lvl3pPr>
            <a:lvl4pPr lvl="3" rtl="0">
              <a:buNone/>
              <a:defRPr>
                <a:solidFill>
                  <a:schemeClr val="dk1"/>
                </a:solidFill>
              </a:defRPr>
            </a:lvl4pPr>
            <a:lvl5pPr lvl="4" rtl="0">
              <a:buNone/>
              <a:defRPr>
                <a:solidFill>
                  <a:schemeClr val="dk1"/>
                </a:solidFill>
              </a:defRPr>
            </a:lvl5pPr>
            <a:lvl6pPr lvl="5" rtl="0">
              <a:buNone/>
              <a:defRPr>
                <a:solidFill>
                  <a:schemeClr val="dk1"/>
                </a:solidFill>
              </a:defRPr>
            </a:lvl6pPr>
            <a:lvl7pPr lvl="6" rtl="0">
              <a:buNone/>
              <a:defRPr>
                <a:solidFill>
                  <a:schemeClr val="dk1"/>
                </a:solidFill>
              </a:defRPr>
            </a:lvl7pPr>
            <a:lvl8pPr lvl="7" rtl="0">
              <a:buNone/>
              <a:defRPr>
                <a:solidFill>
                  <a:schemeClr val="dk1"/>
                </a:solidFill>
              </a:defRPr>
            </a:lvl8pPr>
            <a:lvl9pPr lvl="8" rtl="0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grpSp>
        <p:nvGrpSpPr>
          <p:cNvPr id="26" name="Google Shape;26;p4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27" name="Google Shape;27;p4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" name="Google Shape;28;p4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" name="Google Shape;29;p4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" type="body"/>
          </p:nvPr>
        </p:nvSpPr>
        <p:spPr>
          <a:xfrm>
            <a:off x="274320" y="914400"/>
            <a:ext cx="41148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3" name="Google Shape;33;p5"/>
          <p:cNvSpPr txBox="1"/>
          <p:nvPr>
            <p:ph idx="2" type="body"/>
          </p:nvPr>
        </p:nvSpPr>
        <p:spPr>
          <a:xfrm>
            <a:off x="4846320" y="914400"/>
            <a:ext cx="41148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4" name="Google Shape;34;p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1"/>
                </a:solidFill>
              </a:defRPr>
            </a:lvl1pPr>
            <a:lvl2pPr lvl="1">
              <a:buNone/>
              <a:defRPr>
                <a:solidFill>
                  <a:schemeClr val="dk1"/>
                </a:solidFill>
              </a:defRPr>
            </a:lvl2pPr>
            <a:lvl3pPr lvl="2">
              <a:buNone/>
              <a:defRPr>
                <a:solidFill>
                  <a:schemeClr val="dk1"/>
                </a:solidFill>
              </a:defRPr>
            </a:lvl3pPr>
            <a:lvl4pPr lvl="3">
              <a:buNone/>
              <a:defRPr>
                <a:solidFill>
                  <a:schemeClr val="dk1"/>
                </a:solidFill>
              </a:defRPr>
            </a:lvl4pPr>
            <a:lvl5pPr lvl="4">
              <a:buNone/>
              <a:defRPr>
                <a:solidFill>
                  <a:schemeClr val="dk1"/>
                </a:solidFill>
              </a:defRPr>
            </a:lvl5pPr>
            <a:lvl6pPr lvl="5">
              <a:buNone/>
              <a:defRPr>
                <a:solidFill>
                  <a:schemeClr val="dk1"/>
                </a:solidFill>
              </a:defRPr>
            </a:lvl6pPr>
            <a:lvl7pPr lvl="6">
              <a:buNone/>
              <a:defRPr>
                <a:solidFill>
                  <a:schemeClr val="dk1"/>
                </a:solidFill>
              </a:defRPr>
            </a:lvl7pPr>
            <a:lvl8pPr lvl="7">
              <a:buNone/>
              <a:defRPr>
                <a:solidFill>
                  <a:schemeClr val="dk1"/>
                </a:solidFill>
              </a:defRPr>
            </a:lvl8pPr>
            <a:lvl9pPr lvl="8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https://oss.cs.fau.de</a:t>
            </a:r>
            <a:endParaRPr>
              <a:solidFill>
                <a:schemeClr val="dk2"/>
              </a:solidFill>
            </a:endParaRPr>
          </a:p>
        </p:txBody>
      </p:sp>
      <p:grpSp>
        <p:nvGrpSpPr>
          <p:cNvPr id="35" name="Google Shape;35;p5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36" name="Google Shape;36;p5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" name="Google Shape;37;p5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" name="Google Shape;38;p5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1" name="Google Shape;41;p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1"/>
                </a:solidFill>
              </a:defRPr>
            </a:lvl1pPr>
            <a:lvl2pPr lvl="1">
              <a:buNone/>
              <a:defRPr>
                <a:solidFill>
                  <a:schemeClr val="dk1"/>
                </a:solidFill>
              </a:defRPr>
            </a:lvl2pPr>
            <a:lvl3pPr lvl="2">
              <a:buNone/>
              <a:defRPr>
                <a:solidFill>
                  <a:schemeClr val="dk1"/>
                </a:solidFill>
              </a:defRPr>
            </a:lvl3pPr>
            <a:lvl4pPr lvl="3">
              <a:buNone/>
              <a:defRPr>
                <a:solidFill>
                  <a:schemeClr val="dk1"/>
                </a:solidFill>
              </a:defRPr>
            </a:lvl4pPr>
            <a:lvl5pPr lvl="4">
              <a:buNone/>
              <a:defRPr>
                <a:solidFill>
                  <a:schemeClr val="dk1"/>
                </a:solidFill>
              </a:defRPr>
            </a:lvl5pPr>
            <a:lvl6pPr lvl="5">
              <a:buNone/>
              <a:defRPr>
                <a:solidFill>
                  <a:schemeClr val="dk1"/>
                </a:solidFill>
              </a:defRPr>
            </a:lvl6pPr>
            <a:lvl7pPr lvl="6">
              <a:buNone/>
              <a:defRPr>
                <a:solidFill>
                  <a:schemeClr val="dk1"/>
                </a:solidFill>
              </a:defRPr>
            </a:lvl7pPr>
            <a:lvl8pPr lvl="7">
              <a:buNone/>
              <a:defRPr>
                <a:solidFill>
                  <a:schemeClr val="dk1"/>
                </a:solidFill>
              </a:defRPr>
            </a:lvl8pPr>
            <a:lvl9pPr lvl="8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grpSp>
        <p:nvGrpSpPr>
          <p:cNvPr id="42" name="Google Shape;42;p6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43" name="Google Shape;43;p6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6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" name="Google Shape;45;p6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hyperlink" Target="https://oss.cs.fau.de" TargetMode="Externa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 sz="1800">
                <a:solidFill>
                  <a:schemeClr val="dk1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buNone/>
              <a:defRPr b="1" sz="2400">
                <a:solidFill>
                  <a:schemeClr val="dk2"/>
                </a:solidFill>
              </a:defRPr>
            </a:lvl1pPr>
            <a:lvl2pPr lvl="1" rtl="0" algn="r">
              <a:buNone/>
              <a:defRPr b="1" sz="2400">
                <a:solidFill>
                  <a:schemeClr val="dk2"/>
                </a:solidFill>
              </a:defRPr>
            </a:lvl2pPr>
            <a:lvl3pPr lvl="2" rtl="0" algn="r">
              <a:buNone/>
              <a:defRPr b="1" sz="2400">
                <a:solidFill>
                  <a:schemeClr val="dk2"/>
                </a:solidFill>
              </a:defRPr>
            </a:lvl3pPr>
            <a:lvl4pPr lvl="3" rtl="0" algn="r">
              <a:buNone/>
              <a:defRPr b="1" sz="2400">
                <a:solidFill>
                  <a:schemeClr val="dk2"/>
                </a:solidFill>
              </a:defRPr>
            </a:lvl4pPr>
            <a:lvl5pPr lvl="4" rtl="0" algn="r">
              <a:buNone/>
              <a:defRPr b="1" sz="2400">
                <a:solidFill>
                  <a:schemeClr val="dk2"/>
                </a:solidFill>
              </a:defRPr>
            </a:lvl5pPr>
            <a:lvl6pPr lvl="5" rtl="0" algn="r">
              <a:buNone/>
              <a:defRPr b="1" sz="2400">
                <a:solidFill>
                  <a:schemeClr val="dk2"/>
                </a:solidFill>
              </a:defRPr>
            </a:lvl6pPr>
            <a:lvl7pPr lvl="6" rtl="0" algn="r">
              <a:buNone/>
              <a:defRPr b="1" sz="2400">
                <a:solidFill>
                  <a:schemeClr val="dk2"/>
                </a:solidFill>
              </a:defRPr>
            </a:lvl7pPr>
            <a:lvl8pPr lvl="7" rtl="0" algn="r">
              <a:buNone/>
              <a:defRPr b="1" sz="2400">
                <a:solidFill>
                  <a:schemeClr val="dk2"/>
                </a:solidFill>
              </a:defRPr>
            </a:lvl8pPr>
            <a:lvl9pPr lvl="8" rtl="0" algn="r">
              <a:buNone/>
              <a:defRPr b="1" sz="24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1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://creativecommons.org/licenses/by/4.0/" TargetMode="Externa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oss.cs.fau.de" TargetMode="Externa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oss.cs.fau.de" TargetMode="Externa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oss.cs.fau.de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oss.cs.fau.de" TargetMode="External"/><Relationship Id="rId4" Type="http://schemas.openxmlformats.org/officeDocument/2006/relationships/hyperlink" Target="https://en.wikipedia.org/wiki/Escape_character" TargetMode="Externa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github.com/riehlegroup/adap-names" TargetMode="External"/><Relationship Id="rId4" Type="http://schemas.openxmlformats.org/officeDocument/2006/relationships/hyperlink" Target="https://oss.cs.fau.de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oss.cs.fau.de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oss.cs.fau.de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oss.cs.fau.de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oss.cs.fau.de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oss.cs.fau.de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oss.cs.fau.de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hyperlink" Target="https://docs.github.com/en/pull-requests/collaborating-with-pull-requests/working-with-forks/fork-a-repo" TargetMode="External"/><Relationship Id="rId4" Type="http://schemas.openxmlformats.org/officeDocument/2006/relationships/hyperlink" Target="https://www.typescriptlang.org/docs/handbook/typescript-from-scratch.html" TargetMode="External"/><Relationship Id="rId5" Type="http://schemas.openxmlformats.org/officeDocument/2006/relationships/hyperlink" Target="https://www.typescriptlang.org/docs/handbook/typescript-in-5-minutes-oop.html" TargetMode="External"/><Relationship Id="rId6" Type="http://schemas.openxmlformats.org/officeDocument/2006/relationships/hyperlink" Target="https://www.typescriptlang.org/docs/handbook/intro.html" TargetMode="External"/><Relationship Id="rId7" Type="http://schemas.openxmlformats.org/officeDocument/2006/relationships/hyperlink" Target="https://oss.cs.fau.de" TargetMode="Externa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forms.gle/Hu85W6VFrtJPp4kc8" TargetMode="External"/><Relationship Id="rId4" Type="http://schemas.openxmlformats.org/officeDocument/2006/relationships/hyperlink" Target="https://oss.cs.fau.de" TargetMode="Externa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hyperlink" Target="https://oss.cs.fau.de" TargetMode="Externa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oss.cs.fau.de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oss.cs.fau.de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hyperlink" Target="https://oss.cs.fau.de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oss.cs.fau.de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oss.cs.fau.de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hyperlink" Target="mailto:adap-team@group.riehle.org" TargetMode="External"/><Relationship Id="rId4" Type="http://schemas.openxmlformats.org/officeDocument/2006/relationships/hyperlink" Target="https://oss.cs.fau.de" TargetMode="Externa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oss.cs.fau.de" TargetMode="External"/><Relationship Id="rId4" Type="http://schemas.openxmlformats.org/officeDocument/2006/relationships/hyperlink" Target="http://creativecommons.org/licenses/by/4.0/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Dirk Riehle, FAU Erlangen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ADAP A03</a:t>
            </a:r>
            <a:endParaRPr b="1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Licensed under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CC BY 4.0 International</a:t>
            </a:r>
            <a:endParaRPr sz="1800"/>
          </a:p>
        </p:txBody>
      </p:sp>
      <p:sp>
        <p:nvSpPr>
          <p:cNvPr id="52" name="Google Shape;52;p8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Homework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Programming homework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Homework example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Homework process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Homework</a:t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/>
              <a:t>Design homework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 startAt="4"/>
            </a:pPr>
            <a:r>
              <a:rPr lang="en"/>
              <a:t>To be defined</a:t>
            </a:r>
            <a:endParaRPr/>
          </a:p>
        </p:txBody>
      </p:sp>
      <p:sp>
        <p:nvSpPr>
          <p:cNvPr id="58" name="Google Shape;58;p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Agenda</a:t>
            </a:r>
            <a:endParaRPr/>
          </a:p>
        </p:txBody>
      </p:sp>
      <p:sp>
        <p:nvSpPr>
          <p:cNvPr id="59" name="Google Shape;59;p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0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1. Homework Example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Homogenous Names</a:t>
            </a:r>
            <a:endParaRPr/>
          </a:p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homogenous name is a sequence of same-type string components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Examples of homogenous names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File names e.g. “/usr/bin/tool” or “dirkr\tools\vscode”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 file name “C:\user\dirkr\tools” is not homogenous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Domain names e.g. “uni.de” or “oss.cs.fau.de” 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 URL “https://moo.uni1.de/login” is not homogenous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The programming homework is to implement homogenous name classes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Delimiter Character</a:t>
            </a:r>
            <a:endParaRPr/>
          </a:p>
        </p:txBody>
      </p:sp>
      <p:sp>
        <p:nvSpPr>
          <p:cNvPr id="77" name="Google Shape;77;p1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When printing a homogenous name, name components are to be separated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The separation is performed by using the name’s delimiter character, e.g.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‘.’ for domain names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‘/’ for file names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The printed domain name oss.cs.fau.de uses ‘.’ to separate four components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78" name="Google Shape;78;p1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Escape Character</a:t>
            </a:r>
            <a:endParaRPr/>
          </a:p>
        </p:txBody>
      </p:sp>
      <p:sp>
        <p:nvSpPr>
          <p:cNvPr id="84" name="Google Shape;84;p1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 escape character marks the following character as to-use verbatim [1]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Escape characters allow the use of special characters when printing names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This homework only knows two special characters: Delimiter and escape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The escape character is fixed (‘\’), the delimiter character is not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85" name="Google Shape;85;p1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86" name="Google Shape;86;p13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See </a:t>
            </a:r>
            <a:r>
              <a:rPr lang="en" u="sng">
                <a:solidFill>
                  <a:schemeClr val="hlink"/>
                </a:solidFill>
                <a:hlinkClick r:id="rId4"/>
              </a:rPr>
              <a:t>https://en.wikipedia.org/wiki/Escape_character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4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2. Homework Setup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Homework Setup</a:t>
            </a:r>
            <a:endParaRPr/>
          </a:p>
        </p:txBody>
      </p:sp>
      <p:sp>
        <p:nvSpPr>
          <p:cNvPr id="97" name="Google Shape;97;p1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source homework repository is </a:t>
            </a:r>
            <a:r>
              <a:rPr lang="en" u="sng">
                <a:solidFill>
                  <a:schemeClr val="hlink"/>
                </a:solidFill>
                <a:hlinkClick r:id="rId3"/>
              </a:rPr>
              <a:t>https://github.com/riehlegroup/adap-names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Fork this repository to your own account and set the repository to public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Your repository is where you publish your own homework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Commit and push to your repo by the homework deadline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 use the timestamp; no need to tag or version your code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Do not send pull requests back to the original repository</a:t>
            </a:r>
            <a:endParaRPr/>
          </a:p>
        </p:txBody>
      </p:sp>
      <p:sp>
        <p:nvSpPr>
          <p:cNvPr id="98" name="Google Shape;98;p1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4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 Work Setup</a:t>
            </a:r>
            <a:endParaRPr/>
          </a:p>
        </p:txBody>
      </p:sp>
      <p:sp>
        <p:nvSpPr>
          <p:cNvPr id="104" name="Google Shape;104;p1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Clone your (forked) GitHub repository to your local machine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Install all needed dependencies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Example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500">
                <a:latin typeface="Courier New"/>
                <a:ea typeface="Courier New"/>
                <a:cs typeface="Courier New"/>
                <a:sym typeface="Courier New"/>
              </a:rPr>
              <a:t>git clone https://github.com/</a:t>
            </a:r>
            <a:r>
              <a:rPr i="1" lang="en" sz="1500">
                <a:latin typeface="Courier New"/>
                <a:ea typeface="Courier New"/>
                <a:cs typeface="Courier New"/>
                <a:sym typeface="Courier New"/>
              </a:rPr>
              <a:t>&lt;username&gt;</a:t>
            </a:r>
            <a:r>
              <a:rPr lang="en" sz="1500">
                <a:latin typeface="Courier New"/>
                <a:ea typeface="Courier New"/>
                <a:cs typeface="Courier New"/>
                <a:sym typeface="Courier New"/>
              </a:rPr>
              <a:t>/adap-names</a:t>
            </a:r>
            <a:endParaRPr sz="15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latin typeface="Courier New"/>
                <a:ea typeface="Courier New"/>
                <a:cs typeface="Courier New"/>
                <a:sym typeface="Courier New"/>
              </a:rPr>
              <a:t>cd adap-names</a:t>
            </a:r>
            <a:endParaRPr sz="15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latin typeface="Courier New"/>
                <a:ea typeface="Courier New"/>
                <a:cs typeface="Courier New"/>
                <a:sym typeface="Courier New"/>
              </a:rPr>
              <a:t>npm install</a:t>
            </a:r>
            <a:endParaRPr sz="150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05" name="Google Shape;105;p1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Ensure that the project builds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400">
                <a:latin typeface="Courier New"/>
                <a:ea typeface="Courier New"/>
                <a:cs typeface="Courier New"/>
                <a:sym typeface="Courier New"/>
              </a:rPr>
              <a:t>n</a:t>
            </a:r>
            <a:r>
              <a:rPr lang="en" sz="1400">
                <a:latin typeface="Courier New"/>
                <a:ea typeface="Courier New"/>
                <a:cs typeface="Courier New"/>
                <a:sym typeface="Courier New"/>
              </a:rPr>
              <a:t>pm run build</a:t>
            </a:r>
            <a:endParaRPr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Run the public tests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400">
                <a:latin typeface="Courier New"/>
                <a:ea typeface="Courier New"/>
                <a:cs typeface="Courier New"/>
                <a:sym typeface="Courier New"/>
              </a:rPr>
              <a:t>npm run test</a:t>
            </a:r>
            <a:r>
              <a:rPr lang="en" sz="1400"/>
              <a:t> </a:t>
            </a:r>
            <a:r>
              <a:rPr i="1" lang="en" sz="1400"/>
              <a:t># for all exercises</a:t>
            </a:r>
            <a:endParaRPr sz="1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Courier New"/>
                <a:ea typeface="Courier New"/>
                <a:cs typeface="Courier New"/>
                <a:sym typeface="Courier New"/>
              </a:rPr>
              <a:t>n</a:t>
            </a:r>
            <a:r>
              <a:rPr lang="en" sz="1400">
                <a:latin typeface="Courier New"/>
                <a:ea typeface="Courier New"/>
                <a:cs typeface="Courier New"/>
                <a:sym typeface="Courier New"/>
              </a:rPr>
              <a:t>pm run test:b01</a:t>
            </a:r>
            <a:r>
              <a:rPr lang="en" sz="1400"/>
              <a:t> </a:t>
            </a:r>
            <a:r>
              <a:rPr i="1" lang="en" sz="1400"/>
              <a:t># for </a:t>
            </a:r>
            <a:r>
              <a:rPr i="1" lang="en" sz="1400"/>
              <a:t>exercise</a:t>
            </a:r>
            <a:r>
              <a:rPr i="1" lang="en" sz="1400"/>
              <a:t> B01</a:t>
            </a:r>
            <a:endParaRPr i="1" sz="14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Check the results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400">
                <a:latin typeface="Courier New"/>
                <a:ea typeface="Courier New"/>
                <a:cs typeface="Courier New"/>
                <a:sym typeface="Courier New"/>
              </a:rPr>
              <a:t>Test Files  </a:t>
            </a:r>
            <a:r>
              <a:rPr lang="en" sz="1400">
                <a:solidFill>
                  <a:schemeClr val="accent3"/>
                </a:solidFill>
                <a:latin typeface="Courier New"/>
                <a:ea typeface="Courier New"/>
                <a:cs typeface="Courier New"/>
                <a:sym typeface="Courier New"/>
              </a:rPr>
              <a:t>1 failed</a:t>
            </a:r>
            <a:r>
              <a:rPr lang="en" sz="1400">
                <a:latin typeface="Courier New"/>
                <a:ea typeface="Courier New"/>
                <a:cs typeface="Courier New"/>
                <a:sym typeface="Courier New"/>
              </a:rPr>
              <a:t> (1)</a:t>
            </a:r>
            <a:br>
              <a:rPr lang="en" sz="1400"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" sz="1400">
                <a:latin typeface="Courier New"/>
                <a:ea typeface="Courier New"/>
                <a:cs typeface="Courier New"/>
                <a:sym typeface="Courier New"/>
              </a:rPr>
              <a:t>     Tests  </a:t>
            </a:r>
            <a:r>
              <a:rPr lang="en" sz="1400">
                <a:solidFill>
                  <a:schemeClr val="accent3"/>
                </a:solidFill>
                <a:latin typeface="Courier New"/>
                <a:ea typeface="Courier New"/>
                <a:cs typeface="Courier New"/>
                <a:sym typeface="Courier New"/>
              </a:rPr>
              <a:t>3 failed</a:t>
            </a:r>
            <a:r>
              <a:rPr lang="en" sz="1400">
                <a:latin typeface="Courier New"/>
                <a:ea typeface="Courier New"/>
                <a:cs typeface="Courier New"/>
                <a:sym typeface="Courier New"/>
              </a:rPr>
              <a:t> | </a:t>
            </a:r>
            <a:r>
              <a:rPr lang="en" sz="1400">
                <a:solidFill>
                  <a:schemeClr val="accent5"/>
                </a:solidFill>
                <a:latin typeface="Courier New"/>
                <a:ea typeface="Courier New"/>
                <a:cs typeface="Courier New"/>
                <a:sym typeface="Courier New"/>
              </a:rPr>
              <a:t>1 passed</a:t>
            </a:r>
            <a:r>
              <a:rPr lang="en" sz="1400">
                <a:latin typeface="Courier New"/>
                <a:ea typeface="Courier New"/>
                <a:cs typeface="Courier New"/>
                <a:sym typeface="Courier New"/>
              </a:rPr>
              <a:t> (4)</a:t>
            </a:r>
            <a:endParaRPr sz="140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11" name="Google Shape;111;p1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 Your Work Setup</a:t>
            </a:r>
            <a:endParaRPr/>
          </a:p>
        </p:txBody>
      </p:sp>
      <p:sp>
        <p:nvSpPr>
          <p:cNvPr id="112" name="Google Shape;112;p1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Automated tests</a:t>
            </a:r>
            <a:endParaRPr/>
          </a:p>
        </p:txBody>
      </p:sp>
      <p:sp>
        <p:nvSpPr>
          <p:cNvPr id="118" name="Google Shape;118;p1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Public tests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Are included in adap-names and are visible to you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Can be run by you to test your homework code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Private tests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Are not part of adap-names and are hence not visible to you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Cannot be run by you but are used by us to test your work</a:t>
            </a:r>
            <a:endParaRPr/>
          </a:p>
        </p:txBody>
      </p:sp>
      <p:sp>
        <p:nvSpPr>
          <p:cNvPr id="119" name="Google Shape;119;p1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Important files / directories</a:t>
            </a:r>
            <a:endParaRPr/>
          </a:p>
        </p:txBody>
      </p:sp>
      <p:sp>
        <p:nvSpPr>
          <p:cNvPr id="125" name="Google Shape;125;p1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Courier New"/>
                <a:ea typeface="Courier New"/>
                <a:cs typeface="Courier New"/>
                <a:sym typeface="Courier New"/>
              </a:rPr>
              <a:t>/</a:t>
            </a:r>
            <a:r>
              <a:rPr lang="en" sz="1400">
                <a:latin typeface="Courier New"/>
                <a:ea typeface="Courier New"/>
                <a:cs typeface="Courier New"/>
                <a:sym typeface="Courier New"/>
              </a:rPr>
              <a:t>s</a:t>
            </a:r>
            <a:r>
              <a:rPr lang="en" sz="1400">
                <a:latin typeface="Courier New"/>
                <a:ea typeface="Courier New"/>
                <a:cs typeface="Courier New"/>
                <a:sym typeface="Courier New"/>
              </a:rPr>
              <a:t>rc</a:t>
            </a:r>
            <a:endParaRPr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Contains the files you need for the homework, e.g.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src/adap-b01/names/Name.ts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 grade only the work done in the </a:t>
            </a:r>
            <a:r>
              <a:rPr lang="en"/>
              <a:t>respective</a:t>
            </a:r>
            <a:r>
              <a:rPr lang="en"/>
              <a:t> subfolder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Changes to any other files be used in grading (we ignore them so don’t rely on them)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400">
                <a:latin typeface="Courier New"/>
                <a:ea typeface="Courier New"/>
                <a:cs typeface="Courier New"/>
                <a:sym typeface="Courier New"/>
              </a:rPr>
              <a:t>/test</a:t>
            </a:r>
            <a:endParaRPr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Contains </a:t>
            </a:r>
            <a:r>
              <a:rPr lang="en"/>
              <a:t>public</a:t>
            </a:r>
            <a:r>
              <a:rPr lang="en"/>
              <a:t> test files, e.g.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</a:t>
            </a:r>
            <a:r>
              <a:rPr lang="en"/>
              <a:t>est/adap-b01/names/Name.test.ts</a:t>
            </a:r>
            <a:endParaRPr/>
          </a:p>
        </p:txBody>
      </p:sp>
      <p:sp>
        <p:nvSpPr>
          <p:cNvPr id="126" name="Google Shape;126;p1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2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Homework Submission</a:t>
            </a:r>
            <a:endParaRPr/>
          </a:p>
        </p:txBody>
      </p:sp>
      <p:sp>
        <p:nvSpPr>
          <p:cNvPr id="132" name="Google Shape;132;p2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Commit and push your homework before the next lecture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Ensure</a:t>
            </a:r>
            <a:r>
              <a:rPr lang="en"/>
              <a:t> your repository is synced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Your repository must be public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 grade only the default branch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Late uploads are not graded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Enable GitHub Actions if you want feedback from our public tests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This is a preview and does not necessarily reflect your score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It should provide the same results to running tests locally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33" name="Google Shape;133;p2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Homework Grading</a:t>
            </a:r>
            <a:endParaRPr/>
          </a:p>
        </p:txBody>
      </p:sp>
      <p:sp>
        <p:nvSpPr>
          <p:cNvPr id="139" name="Google Shape;139;p2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All tests (public and private) are run on our infrastructure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Our repository setup probably differs from yours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We use only files from the </a:t>
            </a:r>
            <a:r>
              <a:rPr i="1" lang="en"/>
              <a:t>src</a:t>
            </a:r>
            <a:r>
              <a:rPr lang="en"/>
              <a:t> directory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We cannot guarantee homework feedback before the holidays</a:t>
            </a:r>
            <a:endParaRPr/>
          </a:p>
        </p:txBody>
      </p:sp>
      <p:sp>
        <p:nvSpPr>
          <p:cNvPr id="140" name="Google Shape;140;p2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Helpful Resources</a:t>
            </a:r>
            <a:endParaRPr/>
          </a:p>
        </p:txBody>
      </p:sp>
      <p:sp>
        <p:nvSpPr>
          <p:cNvPr id="146" name="Google Shape;146;p2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How to fork a repository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4"/>
              </a:rPr>
              <a:t>TypeScript for the New Programmer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5"/>
              </a:rPr>
              <a:t>TypeScript for Java/C# Programmers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6"/>
              </a:rPr>
              <a:t>The TypeScript Handbook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2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7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3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3. Homework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Homework A01 – Introduction</a:t>
            </a:r>
            <a:endParaRPr/>
          </a:p>
        </p:txBody>
      </p:sp>
      <p:sp>
        <p:nvSpPr>
          <p:cNvPr id="158" name="Google Shape;158;p2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Fill out the following form to provide us with your repository information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https://forms.gle/Hu85W6VFrtJPp4kc8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4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Homework B01 – Method Types and Properties</a:t>
            </a:r>
            <a:endParaRPr/>
          </a:p>
        </p:txBody>
      </p:sp>
      <p:sp>
        <p:nvSpPr>
          <p:cNvPr id="165" name="Google Shape;165;p2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Implement the adap-b01 Name class as provided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Use string[] as internal representation of name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Annotate each method with its method type; example</a:t>
            </a:r>
            <a:endParaRPr/>
          </a:p>
          <a:p>
            <a:pPr indent="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008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8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// @methodtype get-method</a:t>
            </a:r>
            <a:endParaRPr sz="1000">
              <a:solidFill>
                <a:srgbClr val="008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public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getX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return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x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Commit homework by deadline to homework repository</a:t>
            </a:r>
            <a:endParaRPr/>
          </a:p>
        </p:txBody>
      </p:sp>
      <p:sp>
        <p:nvSpPr>
          <p:cNvPr id="166" name="Google Shape;166;p2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2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Homework B02 – Class and Interface Design</a:t>
            </a:r>
            <a:endParaRPr/>
          </a:p>
        </p:txBody>
      </p:sp>
      <p:sp>
        <p:nvSpPr>
          <p:cNvPr id="172" name="Google Shape;172;p2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Split Name class into Name interface and StringArrayName class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StringArrayName uses a string[] as the internal representation of a name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Add a StringName class that represents a name as a single string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Ensure that Name instances can be used interchangeably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Adapt your previous work to this homework as you see fit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Commit homework by deadline to homework repository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73" name="Google Shape;173;p2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Homework B03 – Subtyping and Inheritance</a:t>
            </a:r>
            <a:endParaRPr/>
          </a:p>
        </p:txBody>
      </p:sp>
      <p:sp>
        <p:nvSpPr>
          <p:cNvPr id="179" name="Google Shape;179;p2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Extract AbstractName superclass from StringName and StringArrayName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Identify and implement the narrow (minimal) inheritance interface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Move as much as you sensibly can into the AbstractName class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Adapt your previous work to this homework as you see fit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Commit homework by deadline to homework repository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p2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2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Identify the names contracts from lecture and documentation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Implement preconditions, postconditions, and class invariants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Create corresponding component tests for the contract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Identify the files contracts from lecture and documentation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Implement the corresponding preconditions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Use the exception classes from common as explained in class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Adapt your previous work to this homework as you see fit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Commit homework by deadline to homework repository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Google Shape;186;p2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Homework B04 – Design by Contract</a:t>
            </a:r>
            <a:endParaRPr/>
          </a:p>
        </p:txBody>
      </p:sp>
      <p:sp>
        <p:nvSpPr>
          <p:cNvPr id="187" name="Google Shape;187;p2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Implement findNodes() for the Node class hierarchy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View a file system as a service with the root node as its interface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View the names as just a component used within the file system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Make the buggy file setup test work as intended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Please see the injected fault in BuggyFile.ts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No need to complete the file implementations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Adapt your previous work to this homework as you see fit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Commit homework by deadline to homework repository</a:t>
            </a:r>
            <a:endParaRPr/>
          </a:p>
        </p:txBody>
      </p:sp>
      <p:sp>
        <p:nvSpPr>
          <p:cNvPr id="193" name="Google Shape;193;p2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Homework</a:t>
            </a:r>
            <a:r>
              <a:rPr lang="en"/>
              <a:t> B05 – Error and Exception Handling</a:t>
            </a:r>
            <a:endParaRPr/>
          </a:p>
        </p:txBody>
      </p:sp>
      <p:sp>
        <p:nvSpPr>
          <p:cNvPr id="194" name="Google Shape;194;p2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3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Homework B06 – Value Objects</a:t>
            </a:r>
            <a:endParaRPr/>
          </a:p>
        </p:txBody>
      </p:sp>
      <p:sp>
        <p:nvSpPr>
          <p:cNvPr id="200" name="Google Shape;200;p3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Turn Name into a value type, including its implementations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Make all value objects </a:t>
            </a:r>
            <a:r>
              <a:rPr b="1" lang="en"/>
              <a:t>immutable objects</a:t>
            </a:r>
            <a:r>
              <a:rPr lang="en"/>
              <a:t> (no need for sharing)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You have to adjust the interfaces yourself (no template code provided)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Ensure implementations correctly fulfill the equality contract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Adapt your previous work to this homework as you see fit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Commit homework by deadline to homework repository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01" name="Google Shape;201;p3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1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 Any questions?</a:t>
            </a:r>
            <a:endParaRPr/>
          </a:p>
        </p:txBody>
      </p:sp>
      <p:sp>
        <p:nvSpPr>
          <p:cNvPr id="207" name="Google Shape;207;p31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adap-team@group.riehle.org</a:t>
            </a:r>
            <a:endParaRPr/>
          </a:p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4"/>
              </a:rPr>
              <a:t>https://oss.cs.fau.de</a:t>
            </a:r>
            <a:endParaRPr sz="240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3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Legal Notices</a:t>
            </a:r>
            <a:endParaRPr/>
          </a:p>
        </p:txBody>
      </p:sp>
      <p:sp>
        <p:nvSpPr>
          <p:cNvPr id="213" name="Google Shape;213;p3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214" name="Google Shape;214;p3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License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Licensed under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CC BY 4.0 International</a:t>
            </a:r>
            <a:r>
              <a:rPr lang="en"/>
              <a:t> license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Copyright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© 2025 Dirk Riehle, some rights reserved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POSS Slides Template">
  <a:themeElements>
    <a:clrScheme name="Simple Light">
      <a:dk1>
        <a:srgbClr val="000000"/>
      </a:dk1>
      <a:lt1>
        <a:srgbClr val="FFFFFF"/>
      </a:lt1>
      <a:dk2>
        <a:srgbClr val="404040"/>
      </a:dk2>
      <a:lt2>
        <a:srgbClr val="808080"/>
      </a:lt2>
      <a:accent1>
        <a:srgbClr val="D0D0D0"/>
      </a:accent1>
      <a:accent2>
        <a:srgbClr val="4169E1"/>
      </a:accent2>
      <a:accent3>
        <a:srgbClr val="4CAF50"/>
      </a:accent3>
      <a:accent4>
        <a:srgbClr val="FEB612"/>
      </a:accent4>
      <a:accent5>
        <a:srgbClr val="F36838"/>
      </a:accent5>
      <a:accent6>
        <a:srgbClr val="8E44AD"/>
      </a:accent6>
      <a:hlink>
        <a:srgbClr val="1E90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