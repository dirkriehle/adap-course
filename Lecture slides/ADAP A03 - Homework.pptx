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4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2fe02fb2832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2fe02fb283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9b7a43ba29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9b7a43ba29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9b7a43ba29_1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9b7a43ba29_1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9b7a43ba29_1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9b7a43ba29_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9b7a43ba29_1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9b7a43ba29_1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9b7a43ba29_1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9b7a43ba29_1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0a722db546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0a722db546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02671db11d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02671db11d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2fe02fb283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2fe02fb283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9b7a43ba29_1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9b7a43ba29_1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02671db11d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302671db11d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02671db11d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02671db11d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9b7a43ba29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9b7a43ba29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02671db11d_0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02671db11d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02671db11d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02671db11d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9b7a43ba29_1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9b7a43ba29_1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9b7a43ba29_1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9b7a43ba29_1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9b7a43ba29_1_1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9b7a43ba29_1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9b7a43ba29_1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9b7a43ba29_1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9b7a43ba29_1_2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9b7a43ba29_1_2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9b7a43ba29_1_2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9b7a43ba29_1_2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9b7a43ba29_1_2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9b7a43ba29_1_2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b46acc0352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b46acc0352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239609b2c0c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239609b2c0c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239609b2c0c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239609b2c0c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12" name="Google Shape;12;p2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13" name="Google Shape;13;p2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18" name="Google Shape;18;p3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19" name="Google Shape;19;p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27" name="Google Shape;27;p4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35" name="Google Shape;35;p5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36" name="Google Shape;36;p5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42" name="Google Shape;42;p6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43" name="Google Shape;43;p6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s://oss.cs.fau.de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oss.cs.fau.de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oss.cs.fau.de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oss.cs.fau.de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s://en.wikipedia.org/wiki/Escape_character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github.com/riehlegroup/adap-names" TargetMode="External"/><Relationship Id="rId4" Type="http://schemas.openxmlformats.org/officeDocument/2006/relationships/hyperlink" Target="https://oss.cs.fau.de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oss.cs.fau.de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oss.cs.fau.de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oss.cs.fau.de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oss.cs.fau.de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oss.cs.fau.de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oss.cs.fau.de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docs.github.com/en/pull-requests/collaborating-with-pull-requests/working-with-forks/fork-a-repo" TargetMode="External"/><Relationship Id="rId4" Type="http://schemas.openxmlformats.org/officeDocument/2006/relationships/hyperlink" Target="https://www.typescriptlang.org/docs/handbook/typescript-from-scratch.html" TargetMode="External"/><Relationship Id="rId5" Type="http://schemas.openxmlformats.org/officeDocument/2006/relationships/hyperlink" Target="https://www.typescriptlang.org/docs/handbook/typescript-in-5-minutes-oop.html" TargetMode="External"/><Relationship Id="rId6" Type="http://schemas.openxmlformats.org/officeDocument/2006/relationships/hyperlink" Target="https://www.typescriptlang.org/docs/handbook/intro.html" TargetMode="External"/><Relationship Id="rId7" Type="http://schemas.openxmlformats.org/officeDocument/2006/relationships/hyperlink" Target="https://oss.cs.fau.de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forms.gle/Hu85W6VFrtJPp4kc8" TargetMode="External"/><Relationship Id="rId4" Type="http://schemas.openxmlformats.org/officeDocument/2006/relationships/hyperlink" Target="https://oss.cs.fau.de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oss.cs.fau.de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oss.cs.fau.de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oss.cs.fau.de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oss.cs.fau.de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oss.cs.fau.de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oss.cs.fau.de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oss.cs.fau.de" TargetMode="Externa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hyperlink" Target="mailto:adap-team@group.riehle.org" TargetMode="External"/><Relationship Id="rId4" Type="http://schemas.openxmlformats.org/officeDocument/2006/relationships/hyperlink" Target="https://oss.cs.fau.de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ADAP A03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  <p:sp>
        <p:nvSpPr>
          <p:cNvPr id="52" name="Google Shape;52;p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Programming homework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Running example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Homework setup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Homework list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/>
              <a:t>Design homework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 startAt="4"/>
            </a:pPr>
            <a:r>
              <a:rPr lang="en"/>
              <a:t>To be defined</a:t>
            </a:r>
            <a:endParaRPr/>
          </a:p>
        </p:txBody>
      </p:sp>
      <p:sp>
        <p:nvSpPr>
          <p:cNvPr id="58" name="Google Shape;58;p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59" name="Google Shape;59;p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Running Example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Homogenous Names</a:t>
            </a:r>
            <a:endParaRPr/>
          </a:p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homogenous name is a sequence of same-type string components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Examples of homogenous names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File names e.g. “/usr/bin/tool” or “dirkr\tools\vscode”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file name “C:\user\dirkr\tools” is not homogenous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Domain names e.g. “uni.de” or “oss.cs.fau.de”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URL “https://moo.uni1.de/login” is not homogenous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programming homework is to implement homogenous name classes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Delimiter Character</a:t>
            </a:r>
            <a:endParaRPr/>
          </a:p>
        </p:txBody>
      </p:sp>
      <p:sp>
        <p:nvSpPr>
          <p:cNvPr id="77" name="Google Shape;77;p1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When printing a homogenous name, name components are to be separated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separation is performed by using the name’s delimiter character, e.g.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‘.’ for domain names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‘/’ for file names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printed domain name oss.cs.fau.de uses ‘.’ to separate four components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Escape Character</a:t>
            </a:r>
            <a:endParaRPr/>
          </a:p>
        </p:txBody>
      </p:sp>
      <p:sp>
        <p:nvSpPr>
          <p:cNvPr id="84" name="Google Shape;84;p1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 escape character marks the following character as to-use verbatim [1]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Escape characters allow the use of special characters when printing names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This homework only knows two special characters: Delimiter and escape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escape character is fixed (‘\’), the delimiter character is not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https://en.wikipedia.org/wiki/Escape_character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4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Homework Setup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 Setup</a:t>
            </a:r>
            <a:endParaRPr/>
          </a:p>
        </p:txBody>
      </p:sp>
      <p:sp>
        <p:nvSpPr>
          <p:cNvPr id="97" name="Google Shape;97;p1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source homework repository is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https://github.com/riehlegroup/adap-names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Not to be confused with the adap-course repository for the slides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Fork this repository to your own account and set the repository to public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Your repository is where you publish your own homework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Commit and push to your repo by the homework deadline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use the timestamp; no need to tag or version your code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 not send pull requests back to the original repository</a:t>
            </a:r>
            <a:endParaRPr/>
          </a:p>
        </p:txBody>
      </p:sp>
      <p:sp>
        <p:nvSpPr>
          <p:cNvPr id="98" name="Google Shape;98;p1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99" name="Google Shape;99;p15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Work Setup</a:t>
            </a:r>
            <a:endParaRPr/>
          </a:p>
        </p:txBody>
      </p:sp>
      <p:sp>
        <p:nvSpPr>
          <p:cNvPr id="105" name="Google Shape;105;p1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Clone your (forked) GitHub repository to your local machine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Install all needed dependencies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git clone https://github.com/</a:t>
            </a:r>
            <a:r>
              <a:rPr i="1" lang="en" sz="1500">
                <a:latin typeface="Courier New"/>
                <a:ea typeface="Courier New"/>
                <a:cs typeface="Courier New"/>
                <a:sym typeface="Courier New"/>
              </a:rPr>
              <a:t>&lt;username&gt;</a:t>
            </a: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/adap-names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cd adap-names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npm install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06" name="Google Shape;106;p1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Ensure that the project builds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n</a:t>
            </a: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pm run build</a:t>
            </a: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Run the public tests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npm run test</a:t>
            </a:r>
            <a:r>
              <a:rPr lang="en" sz="1400"/>
              <a:t> </a:t>
            </a:r>
            <a:r>
              <a:rPr i="1" lang="en" sz="1400"/>
              <a:t># for all exercises</a:t>
            </a:r>
            <a:endParaRPr sz="1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n</a:t>
            </a: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pm run test:b01</a:t>
            </a:r>
            <a:r>
              <a:rPr lang="en" sz="1400"/>
              <a:t> </a:t>
            </a:r>
            <a:r>
              <a:rPr i="1" lang="en" sz="1400"/>
              <a:t># for </a:t>
            </a:r>
            <a:r>
              <a:rPr i="1" lang="en" sz="1400"/>
              <a:t>exercise</a:t>
            </a:r>
            <a:r>
              <a:rPr i="1" lang="en" sz="1400"/>
              <a:t> B01</a:t>
            </a:r>
            <a:endParaRPr i="1" sz="14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Check the results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Test Files  </a:t>
            </a:r>
            <a:r>
              <a:rPr lang="en" sz="1400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1 failed</a:t>
            </a: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 (1)</a:t>
            </a:r>
            <a:br>
              <a:rPr lang="en" sz="140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     Tests  </a:t>
            </a:r>
            <a:r>
              <a:rPr lang="en" sz="1400">
                <a:solidFill>
                  <a:schemeClr val="accent3"/>
                </a:solidFill>
                <a:latin typeface="Courier New"/>
                <a:ea typeface="Courier New"/>
                <a:cs typeface="Courier New"/>
                <a:sym typeface="Courier New"/>
              </a:rPr>
              <a:t>3 failed</a:t>
            </a: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 | </a:t>
            </a:r>
            <a:r>
              <a:rPr lang="en" sz="1400">
                <a:solidFill>
                  <a:schemeClr val="accent5"/>
                </a:solidFill>
                <a:latin typeface="Courier New"/>
                <a:ea typeface="Courier New"/>
                <a:cs typeface="Courier New"/>
                <a:sym typeface="Courier New"/>
              </a:rPr>
              <a:t>1 passed</a:t>
            </a: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 (4)</a:t>
            </a:r>
            <a:endParaRPr sz="14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12" name="Google Shape;112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 Your Work Setup</a:t>
            </a:r>
            <a:endParaRPr/>
          </a:p>
        </p:txBody>
      </p:sp>
      <p:sp>
        <p:nvSpPr>
          <p:cNvPr id="113" name="Google Shape;113;p1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Automated tests</a:t>
            </a:r>
            <a:endParaRPr/>
          </a:p>
        </p:txBody>
      </p:sp>
      <p:sp>
        <p:nvSpPr>
          <p:cNvPr id="119" name="Google Shape;119;p1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Public tests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Are included in adap-names and are visible to you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 be run by you to test your homework code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Private tests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Are not part of adap-names and are hence not visible to you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Cannot be run by you but are used by us to test your work</a:t>
            </a:r>
            <a:endParaRPr/>
          </a:p>
        </p:txBody>
      </p:sp>
      <p:sp>
        <p:nvSpPr>
          <p:cNvPr id="120" name="Google Shape;120;p1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Important files / directories</a:t>
            </a:r>
            <a:endParaRPr/>
          </a:p>
        </p:txBody>
      </p:sp>
      <p:sp>
        <p:nvSpPr>
          <p:cNvPr id="126" name="Google Shape;126;p1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/</a:t>
            </a: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s</a:t>
            </a: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rc</a:t>
            </a: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Contains the files you need for the homework, e.g.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src/adap-b01/names/Name.ts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grade only the work done in the </a:t>
            </a:r>
            <a:r>
              <a:rPr lang="en"/>
              <a:t>respective</a:t>
            </a:r>
            <a:r>
              <a:rPr lang="en"/>
              <a:t> subfolder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Changes to any other files be used in grading (we ignore them so don’t rely on them)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400">
                <a:latin typeface="Courier New"/>
                <a:ea typeface="Courier New"/>
                <a:cs typeface="Courier New"/>
                <a:sym typeface="Courier New"/>
              </a:rPr>
              <a:t>/test</a:t>
            </a:r>
            <a:endParaRPr sz="1400">
              <a:latin typeface="Courier New"/>
              <a:ea typeface="Courier New"/>
              <a:cs typeface="Courier New"/>
              <a:sym typeface="Courier New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Contains </a:t>
            </a:r>
            <a:r>
              <a:rPr lang="en"/>
              <a:t>public</a:t>
            </a:r>
            <a:r>
              <a:rPr lang="en"/>
              <a:t> test files, e.g.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</a:t>
            </a:r>
            <a:r>
              <a:rPr lang="en"/>
              <a:t>est/adap-b01/names/Name.test.ts</a:t>
            </a:r>
            <a:endParaRPr/>
          </a:p>
        </p:txBody>
      </p:sp>
      <p:sp>
        <p:nvSpPr>
          <p:cNvPr id="127" name="Google Shape;127;p1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 Submission</a:t>
            </a:r>
            <a:endParaRPr/>
          </a:p>
        </p:txBody>
      </p:sp>
      <p:sp>
        <p:nvSpPr>
          <p:cNvPr id="133" name="Google Shape;133;p2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Commit and push your homework before the next lecture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Ensure</a:t>
            </a:r>
            <a:r>
              <a:rPr lang="en"/>
              <a:t> your repository is synced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Your repository must be public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grade only the default branch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Late uploads are not graded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Enable GitHub Actions if you want feedback from our public tests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a preview and does not necessarily reflect your score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It should provide the same results to running tests locally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2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 Grading</a:t>
            </a:r>
            <a:endParaRPr/>
          </a:p>
        </p:txBody>
      </p:sp>
      <p:sp>
        <p:nvSpPr>
          <p:cNvPr id="140" name="Google Shape;140;p2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All tests (public and private) are run on our infrastructure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Our repository setup probably differs from yours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We use only files from the </a:t>
            </a:r>
            <a:r>
              <a:rPr i="1" lang="en"/>
              <a:t>src</a:t>
            </a:r>
            <a:r>
              <a:rPr lang="en"/>
              <a:t> directory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We cannot guarantee homework feedback before the holidays</a:t>
            </a:r>
            <a:endParaRPr/>
          </a:p>
        </p:txBody>
      </p:sp>
      <p:sp>
        <p:nvSpPr>
          <p:cNvPr id="141" name="Google Shape;141;p2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Helpful Resources</a:t>
            </a:r>
            <a:endParaRPr/>
          </a:p>
        </p:txBody>
      </p:sp>
      <p:sp>
        <p:nvSpPr>
          <p:cNvPr id="147" name="Google Shape;147;p2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How to fork a repository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TypeScript for the New Programmer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5"/>
              </a:rPr>
              <a:t>TypeScript for Java/C# Programmers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The TypeScript Handbook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2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7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Homework List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 A01 – Introduction</a:t>
            </a:r>
            <a:endParaRPr/>
          </a:p>
        </p:txBody>
      </p:sp>
      <p:sp>
        <p:nvSpPr>
          <p:cNvPr id="159" name="Google Shape;159;p2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Fill out the following form to provide us with your repository information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https://forms.gle/Hu85W6VFrtJPp4kc8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2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 B01 – Method Types and Properties</a:t>
            </a:r>
            <a:endParaRPr/>
          </a:p>
        </p:txBody>
      </p:sp>
      <p:sp>
        <p:nvSpPr>
          <p:cNvPr id="166" name="Google Shape;166;p2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Implement the adap-b01 Name class as provided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string[] as internal representation of name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Annotate each method with its method type; example</a:t>
            </a:r>
            <a:endParaRPr/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@methodtype get-method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Commit homework by deadline to homework repository</a:t>
            </a:r>
            <a:endParaRPr/>
          </a:p>
        </p:txBody>
      </p:sp>
      <p:sp>
        <p:nvSpPr>
          <p:cNvPr id="167" name="Google Shape;167;p2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 B02 – Class and Interface Design</a:t>
            </a:r>
            <a:endParaRPr/>
          </a:p>
        </p:txBody>
      </p:sp>
      <p:sp>
        <p:nvSpPr>
          <p:cNvPr id="173" name="Google Shape;173;p2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Split Name class into Name interface and StringArrayName class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StringArrayName uses a string[] as the internal representation of a name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Add a StringName class that represents a name as a single string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Ensure that Name instances can be used interchangeably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Adapt your previous work to this homework as you see fit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Commit homework by deadline to homework repository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2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 B03 – Subtyping and Inheritance</a:t>
            </a:r>
            <a:endParaRPr/>
          </a:p>
        </p:txBody>
      </p:sp>
      <p:sp>
        <p:nvSpPr>
          <p:cNvPr id="180" name="Google Shape;180;p2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Extract AbstractName superclass from StringName and StringArrayName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Identify and implement the narrow (minimal) inheritance interface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Move as much as you sensibly can into the AbstractName class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Adapt your previous work to this homework as you see fit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Commit homework by deadline to homework repository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2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Identify the names contracts from lecture and documentation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Implement preconditions, postconditions, and class invariants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Create corresponding component tests for the contract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Identify the files contracts from lecture and documentation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Implement the corresponding preconditions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the exception classes from common as explained in class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Adapt your previous work to this homework as you see fit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Commit homework by deadline to homework repository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2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 B04 – Design by Contract</a:t>
            </a:r>
            <a:endParaRPr/>
          </a:p>
        </p:txBody>
      </p:sp>
      <p:sp>
        <p:nvSpPr>
          <p:cNvPr id="188" name="Google Shape;188;p2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Implement findNodes() for the Node class hierarchy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View a file system as a service with the root node as its interface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View the names as just a component used within the file system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Make the buggy file setup test work as intended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Please see the injected fault in BuggyFile.ts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 need to complete the file implementations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Adapt your previous work to this homework as you see fit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Commit homework by deadline to homework repository</a:t>
            </a:r>
            <a:endParaRPr/>
          </a:p>
        </p:txBody>
      </p:sp>
      <p:sp>
        <p:nvSpPr>
          <p:cNvPr id="194" name="Google Shape;194;p2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</a:t>
            </a:r>
            <a:r>
              <a:rPr lang="en"/>
              <a:t> B05 – Error and Exception Handling</a:t>
            </a:r>
            <a:endParaRPr/>
          </a:p>
        </p:txBody>
      </p:sp>
      <p:sp>
        <p:nvSpPr>
          <p:cNvPr id="195" name="Google Shape;195;p2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 B06 – Value Objects</a:t>
            </a:r>
            <a:endParaRPr/>
          </a:p>
        </p:txBody>
      </p:sp>
      <p:sp>
        <p:nvSpPr>
          <p:cNvPr id="201" name="Google Shape;201;p3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Turn Name into a value type, including its implementations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Make all value objects </a:t>
            </a:r>
            <a:r>
              <a:rPr b="1" lang="en"/>
              <a:t>immutable objects</a:t>
            </a:r>
            <a:r>
              <a:rPr lang="en"/>
              <a:t> (no need for sharing)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have to adjust the interfaces yourself (no template code provided)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Ensure implementations correctly fulfill the equality contract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Adapt your previous work to this homework as you see fit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Commit homework by deadline to homework repository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3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3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3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215" name="Google Shape;215;p3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adap-team@group.riehle.org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 sz="24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221" name="Google Shape;221;p3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222" name="Google Shape;222;p3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2025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OS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