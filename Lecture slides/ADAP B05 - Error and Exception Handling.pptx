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A3D7DEB-E554-408A-9E8B-F5EF3EEBE83F}">
  <a:tblStyle styleId="{0A3D7DEB-E554-408A-9E8B-F5EF3EEBE83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3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3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0adfe1e135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0adfe1e135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fe02fb28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fe02fb28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0adfe1e13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0adfe1e13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0adfe1e135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0adfe1e135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0adfe1e135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0adfe1e135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0adfe1e135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0adfe1e135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0adfe1e135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0adfe1e135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0adfe1e135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0adfe1e135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0b020d8c4c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0b020d8c4c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0adfe1e135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0adfe1e135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0adfe1e135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0adfe1e135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0adfe1e135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0adfe1e135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0adfe1e13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0adfe1e13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0adfe1e135_0_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0adfe1e135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185bc3a9c6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185bc3a9c6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0adfe1e135_0_1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0adfe1e135_0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0adfe1e135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0adfe1e135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0bebb828f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0bebb828f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185bc3a9c6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185bc3a9c6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0adfe1e135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0adfe1e135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0adfe1e135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0adfe1e135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185bc3a9c6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185bc3a9c6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0bebb828f4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0bebb828f4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0bebb828f4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0bebb828f4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0adfe1e13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30adfe1e13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0adfe1e13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0adfe1e13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185bc3a9c6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185bc3a9c6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185bc3a9c6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185bc3a9c6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185bc3a9c6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185bc3a9c6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185bc3a9c6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185bc3a9c6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185bc3a9c6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3185bc3a9c6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0adfe1e13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0adfe1e13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185bc3a9c6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185bc3a9c6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0adfe1e135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0adfe1e135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185bc3a9c6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185bc3a9c6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185bc3a9c6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185bc3a9c6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185bc3a9c6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185bc3a9c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0adfe1e13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30adfe1e13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185bc3a9c6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185bc3a9c6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185bc3a9c6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3185bc3a9c6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189ae385d8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3189ae385d8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0adfe1e135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g30adfe1e135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185bc3a9c6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3185bc3a9c6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185bc3a9c6_0_1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9" name="Google Shape;369;g3185bc3a9c6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0adfe1e135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0adfe1e135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239609b2c0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239609b2c0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39609b2c0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39609b2c0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oss.cs.fau.de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7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oss.cs.fau.de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ss.cs.fau.de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9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oss.cs.fau.de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8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s://oss.cs.fau.de" TargetMode="Externa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oss.cs.fau.de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Error and Exception Handling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B05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common bug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 system model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Error detection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Error signaling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Error handling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Service failure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Focus</a:t>
            </a:r>
            <a:endParaRPr/>
          </a:p>
        </p:txBody>
      </p:sp>
      <p:sp>
        <p:nvSpPr>
          <p:cNvPr id="65" name="Google Shape;65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this lecture, we focus on a subset of [A+04], specifically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Errors caused by software faults that are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Always development, internal, human-made faults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Typically non-malicious, non-deliberate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Error detection by concurrent detection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Error handling using any matching strategy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 other words, errors caused by the common bug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67" name="Google Shape;67;p10"/>
          <p:cNvSpPr txBox="1"/>
          <p:nvPr/>
        </p:nvSpPr>
        <p:spPr>
          <a:xfrm>
            <a:off x="0" y="4233675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[A+04] Avižienis, A., Laprie, J. C., Randell, B., &amp; Landwehr, C. (2004). Basic concepts and taxonomy of dependable and secure computing. </a:t>
            </a:r>
            <a:r>
              <a:rPr lang="en">
                <a:solidFill>
                  <a:schemeClr val="dk1"/>
                </a:solidFill>
              </a:rPr>
              <a:t>IEEE Transactions on </a:t>
            </a:r>
            <a:r>
              <a:rPr lang="en"/>
              <a:t>Dependable and Secure Computing 1(1), 11-33.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The Common Bug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Catching the Common Bug</a:t>
            </a:r>
            <a:endParaRPr/>
          </a:p>
        </p:txBody>
      </p:sp>
      <p:sp>
        <p:nvSpPr>
          <p:cNvPr id="78" name="Google Shape;78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Best done during development (earlier is better)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But you can’t avoid errors at runtime</a:t>
            </a:r>
            <a:endParaRPr/>
          </a:p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Deliberately Bad Java Example [1]</a:t>
            </a:r>
            <a:endParaRPr/>
          </a:p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86" name="Google Shape;86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readInt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File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Buffer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throws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ParseException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result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try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FileInputStream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FileInputStream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result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Integer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parse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toString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catch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nothing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if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result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there should never be “0” in file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System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out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println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(“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something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went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wrong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!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”);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-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result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87" name="Google Shape;87;p13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Doesn’t compile; created for demonstration purposes only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Things Wrong With Example</a:t>
            </a:r>
            <a:endParaRPr/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General programming errors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Unclear preconditions; no assertions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need for external buffer variable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clean-up after resource use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Specific bad practices of error handling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Overloading of purpose of return value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Mismatch between method signature and behavior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System exception swallowed without logging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Inconsistent use of error codes and exceptions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Unprofessional logging / error message useless</a:t>
            </a:r>
            <a:endParaRPr/>
          </a:p>
        </p:txBody>
      </p:sp>
      <p:sp>
        <p:nvSpPr>
          <p:cNvPr id="94" name="Google Shape;94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Dependability and Fault Tolerance</a:t>
            </a:r>
            <a:endParaRPr/>
          </a:p>
        </p:txBody>
      </p:sp>
      <p:sp>
        <p:nvSpPr>
          <p:cNvPr id="100" name="Google Shape;100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If bugs are inevitable, how to handle them?</a:t>
            </a:r>
            <a:endParaRPr/>
          </a:p>
        </p:txBody>
      </p:sp>
      <p:sp>
        <p:nvSpPr>
          <p:cNvPr id="101" name="Google Shape;101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A System Model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System Architecture (Runtime Tiers)</a:t>
            </a:r>
            <a:endParaRPr/>
          </a:p>
        </p:txBody>
      </p:sp>
      <p:sp>
        <p:nvSpPr>
          <p:cNvPr id="112" name="Google Shape;112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13" name="Google Shape;11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Runtime Objects</a:t>
            </a:r>
            <a:endParaRPr/>
          </a:p>
        </p:txBody>
      </p:sp>
      <p:sp>
        <p:nvSpPr>
          <p:cNvPr id="119" name="Google Shape;119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20" name="Google Shape;120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Layers</a:t>
            </a:r>
            <a:endParaRPr/>
          </a:p>
        </p:txBody>
      </p:sp>
      <p:sp>
        <p:nvSpPr>
          <p:cNvPr id="126" name="Google Shape;126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27" name="Google Shape;127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20" y="914400"/>
            <a:ext cx="8595360" cy="3495446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Terminology</a:t>
            </a:r>
            <a:endParaRPr/>
          </a:p>
        </p:txBody>
      </p:sp>
      <p:sp>
        <p:nvSpPr>
          <p:cNvPr id="134" name="Google Shape;134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35" name="Google Shape;135;p20"/>
          <p:cNvSpPr/>
          <p:nvPr/>
        </p:nvSpPr>
        <p:spPr>
          <a:xfrm>
            <a:off x="4774175" y="444325"/>
            <a:ext cx="1371600" cy="548700"/>
          </a:xfrm>
          <a:prstGeom prst="wedgeRoundRectCallout">
            <a:avLst>
              <a:gd fmla="val -20833" name="adj1"/>
              <a:gd fmla="val 62500" name="adj2"/>
              <a:gd fmla="val 0" name="adj3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</a:rPr>
              <a:t>System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136" name="Google Shape;136;p20"/>
          <p:cNvSpPr/>
          <p:nvPr/>
        </p:nvSpPr>
        <p:spPr>
          <a:xfrm>
            <a:off x="2736125" y="2023050"/>
            <a:ext cx="1371600" cy="548700"/>
          </a:xfrm>
          <a:prstGeom prst="wedgeRoundRectCallout">
            <a:avLst>
              <a:gd fmla="val -20833" name="adj1"/>
              <a:gd fmla="val 62500" name="adj2"/>
              <a:gd fmla="val 0" name="adj3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</a:rPr>
              <a:t>Boundary</a:t>
            </a:r>
            <a:br>
              <a:rPr b="1" lang="en">
                <a:solidFill>
                  <a:schemeClr val="lt1"/>
                </a:solidFill>
              </a:rPr>
            </a:br>
            <a:r>
              <a:rPr b="1" lang="en">
                <a:solidFill>
                  <a:schemeClr val="lt1"/>
                </a:solidFill>
              </a:rPr>
              <a:t>or interface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137" name="Google Shape;137;p20"/>
          <p:cNvSpPr/>
          <p:nvPr/>
        </p:nvSpPr>
        <p:spPr>
          <a:xfrm>
            <a:off x="1515725" y="772125"/>
            <a:ext cx="1371600" cy="548700"/>
          </a:xfrm>
          <a:prstGeom prst="wedgeRoundRectCallout">
            <a:avLst>
              <a:gd fmla="val -20833" name="adj1"/>
              <a:gd fmla="val 62500" name="adj2"/>
              <a:gd fmla="val 0" name="adj3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</a:rPr>
              <a:t>Component</a:t>
            </a: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</a:rPr>
              <a:t>or service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138" name="Google Shape;138;p20"/>
          <p:cNvSpPr/>
          <p:nvPr/>
        </p:nvSpPr>
        <p:spPr>
          <a:xfrm>
            <a:off x="4685875" y="2670048"/>
            <a:ext cx="1371600" cy="548700"/>
          </a:xfrm>
          <a:prstGeom prst="wedgeRoundRectCallout">
            <a:avLst>
              <a:gd fmla="val -20833" name="adj1"/>
              <a:gd fmla="val 62500" name="adj2"/>
              <a:gd fmla="val 0" name="adj3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</a:rPr>
              <a:t>State and</a:t>
            </a:r>
            <a:endParaRPr b="1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lt1"/>
                </a:solidFill>
              </a:rPr>
              <a:t>behavior</a:t>
            </a:r>
            <a:endParaRPr b="1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Operator (User) Interaction [1]</a:t>
            </a:r>
            <a:endParaRPr/>
          </a:p>
        </p:txBody>
      </p:sp>
      <p:sp>
        <p:nvSpPr>
          <p:cNvPr id="144" name="Google Shape;144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45" name="Google Shape;145;p21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Not using </a:t>
            </a:r>
            <a:r>
              <a:rPr lang="en"/>
              <a:t>the term “user” because it is too broad</a:t>
            </a:r>
            <a:endParaRPr/>
          </a:p>
        </p:txBody>
      </p:sp>
      <p:pic>
        <p:nvPicPr>
          <p:cNvPr id="146" name="Google Shape;146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49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System Terminology</a:t>
            </a:r>
            <a:endParaRPr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runtime component is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Some runtime data encapsulated (bounded) by an interface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Typically does not stand alone and cannot be deployed independently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service is a runtime component that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Has business value and maybe composed of other components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Typically does not stand alone (has clients), but can be deployed independently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system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a combination of services and operators (yeah, really)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Has business value and has stakeholders to who this value accrues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Operators are stakeholders but not all stakeholders are operators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Fault</a:t>
            </a:r>
            <a:endParaRPr/>
          </a:p>
        </p:txBody>
      </p:sp>
      <p:sp>
        <p:nvSpPr>
          <p:cNvPr id="159" name="Google Shape;159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60" name="Google Shape;160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fault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condition that can cause an error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fault is </a:t>
            </a:r>
            <a:r>
              <a:rPr b="1" lang="en"/>
              <a:t>dormant,</a:t>
            </a:r>
            <a:r>
              <a:rPr lang="en"/>
              <a:t> if it has not yet caused an error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fault is</a:t>
            </a:r>
            <a:r>
              <a:rPr b="1" lang="en"/>
              <a:t> active,</a:t>
            </a:r>
            <a:r>
              <a:rPr lang="en"/>
              <a:t> if it causes an error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fault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be classified by eight independent dimensions [A+04]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Fault Classification</a:t>
            </a:r>
            <a:endParaRPr/>
          </a:p>
        </p:txBody>
      </p:sp>
      <p:sp>
        <p:nvSpPr>
          <p:cNvPr id="166" name="Google Shape;166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167" name="Google Shape;167;p24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{0A3D7DEB-E554-408A-9E8B-F5EF3EEBE83F}</a:tableStyleId>
              </a:tblPr>
              <a:tblGrid>
                <a:gridCol w="2865125"/>
                <a:gridCol w="2865125"/>
                <a:gridCol w="2865125"/>
              </a:tblGrid>
              <a:tr h="406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Option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 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Option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 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Phase of creation / occurrence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Developmental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Operational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System boundaries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Internal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External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Phenomenological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 cause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Natural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Human-made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Dimension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Hardware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Software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Objective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Malicious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Non-malicious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Intent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Deliberate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Non-deliberate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Capability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Accidental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Incompetence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Persistence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Permanent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Transient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error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state of the system that may lead to a failure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 error is </a:t>
            </a:r>
            <a:r>
              <a:rPr b="1" lang="en"/>
              <a:t>latent,</a:t>
            </a:r>
            <a:r>
              <a:rPr lang="en"/>
              <a:t> if it has not been detected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 error has been </a:t>
            </a:r>
            <a:r>
              <a:rPr b="1" lang="en"/>
              <a:t>detected,</a:t>
            </a:r>
            <a:r>
              <a:rPr lang="en"/>
              <a:t> if regular code identifies an erroneous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 error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</a:t>
            </a:r>
            <a:r>
              <a:rPr lang="en"/>
              <a:t>n be categorized by the failures it may cause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Error</a:t>
            </a:r>
            <a:endParaRPr/>
          </a:p>
        </p:txBody>
      </p:sp>
      <p:sp>
        <p:nvSpPr>
          <p:cNvPr id="174" name="Google Shape;174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Failure</a:t>
            </a:r>
            <a:endParaRPr/>
          </a:p>
        </p:txBody>
      </p:sp>
      <p:sp>
        <p:nvSpPr>
          <p:cNvPr id="180" name="Google Shape;180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failure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event that transitions the system from correct to incorrect service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Has a (failure) mode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be categorized by four independent dimensions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Domain (content, early timing, late timing, halt, and erratic failures)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Detectability (signaled and unsignaled failures)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Consistency (consistent and inconsistent failures)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Consequences (minor to catastrophic failures)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be ranked by severity (consequences)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Illustration of Process that Leads to Service Failure</a:t>
            </a:r>
            <a:endParaRPr/>
          </a:p>
        </p:txBody>
      </p:sp>
      <p:sp>
        <p:nvSpPr>
          <p:cNvPr id="187" name="Google Shape;187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88" name="Google Shape;188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Steps to Error Handling</a:t>
            </a:r>
            <a:endParaRPr/>
          </a:p>
        </p:txBody>
      </p:sp>
      <p:sp>
        <p:nvSpPr>
          <p:cNvPr id="194" name="Google Shape;194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Error detection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Error signaling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Error handling</a:t>
            </a:r>
            <a:endParaRPr/>
          </a:p>
        </p:txBody>
      </p:sp>
      <p:sp>
        <p:nvSpPr>
          <p:cNvPr id="195" name="Google Shape;195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Error Detection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Detect an Error (State)</a:t>
            </a:r>
            <a:endParaRPr/>
          </a:p>
        </p:txBody>
      </p:sp>
      <p:sp>
        <p:nvSpPr>
          <p:cNvPr id="206" name="Google Shape;206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an error is an erroneous state of the system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need to explicitly check for that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Assertions that fail identify an error (state)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Assertions</a:t>
            </a:r>
            <a:r>
              <a:rPr lang="en"/>
              <a:t> are regular code in normal processing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Use design by contract</a:t>
            </a:r>
            <a:endParaRPr/>
          </a:p>
        </p:txBody>
      </p:sp>
      <p:sp>
        <p:nvSpPr>
          <p:cNvPr id="207" name="Google Shape;207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Name Instance (= Component) Failure</a:t>
            </a:r>
            <a:endParaRPr/>
          </a:p>
        </p:txBody>
      </p:sp>
      <p:sp>
        <p:nvSpPr>
          <p:cNvPr id="213" name="Google Shape;213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insert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string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solidFill>
                  <a:srgbClr val="267F99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: void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assertIsValidIndex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assertIsProperlyMasked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oldNoComponents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getNoComponents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doInsert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assertClassInvariants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getNoComponents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oldNoComponents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MethodFailedException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214" name="Google Shape;214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Typical</a:t>
            </a:r>
            <a:r>
              <a:rPr lang="en"/>
              <a:t> Information to Capture / Gather</a:t>
            </a:r>
            <a:endParaRPr/>
          </a:p>
        </p:txBody>
      </p:sp>
      <p:sp>
        <p:nvSpPr>
          <p:cNvPr id="220" name="Google Shape;220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 information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Error id (instance)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Error type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Error-specific information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Stacktrace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Source objects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Affected objects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Explanatory message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Represent Error Information</a:t>
            </a:r>
            <a:endParaRPr/>
          </a:p>
        </p:txBody>
      </p:sp>
      <p:sp>
        <p:nvSpPr>
          <p:cNvPr id="227" name="Google Shape;227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Error codes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Error objects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Exceptions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Error Signaling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Signal an Error?</a:t>
            </a:r>
            <a:endParaRPr/>
          </a:p>
        </p:txBody>
      </p:sp>
      <p:sp>
        <p:nvSpPr>
          <p:cNvPr id="239" name="Google Shape;239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detected error state needs to be logged and signaled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Transition the system from normal to abnormal program / processing state</a:t>
            </a:r>
            <a:endParaRPr/>
          </a:p>
        </p:txBody>
      </p:sp>
      <p:sp>
        <p:nvSpPr>
          <p:cNvPr id="240" name="Google Shape;240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Normal vs. Abnormal Processing State</a:t>
            </a:r>
            <a:endParaRPr/>
          </a:p>
        </p:txBody>
      </p:sp>
      <p:sp>
        <p:nvSpPr>
          <p:cNvPr id="246" name="Google Shape;246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Normal processing state (NPS)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 performed its services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Control flow returns via return statement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Abnormal processing state (APS)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 failed to perform service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Control flow returns via raising an exception</a:t>
            </a:r>
            <a:endParaRPr/>
          </a:p>
        </p:txBody>
      </p:sp>
      <p:sp>
        <p:nvSpPr>
          <p:cNvPr id="247" name="Google Shape;247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Methods for Error Signaling</a:t>
            </a:r>
            <a:endParaRPr/>
          </a:p>
        </p:txBody>
      </p:sp>
      <p:sp>
        <p:nvSpPr>
          <p:cNvPr id="253" name="Google Shape;253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Using normal control flow (but in abnormal processing state)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return statement but include error code in return value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Using abnormal control flow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Raise an exception and include information in exception object</a:t>
            </a:r>
            <a:endParaRPr/>
          </a:p>
        </p:txBody>
      </p:sp>
      <p:sp>
        <p:nvSpPr>
          <p:cNvPr id="254" name="Google Shape;254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Error Code Conventions</a:t>
            </a:r>
            <a:endParaRPr/>
          </a:p>
        </p:txBody>
      </p:sp>
      <p:sp>
        <p:nvSpPr>
          <p:cNvPr id="260" name="Google Shape;260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</a:t>
            </a:r>
            <a:r>
              <a:rPr lang="en"/>
              <a:t> </a:t>
            </a:r>
            <a:r>
              <a:rPr lang="en"/>
              <a:t>= no error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-1</a:t>
            </a:r>
            <a:r>
              <a:rPr lang="en"/>
              <a:t> </a:t>
            </a:r>
            <a:r>
              <a:rPr lang="en"/>
              <a:t>= generic error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1..n</a:t>
            </a:r>
            <a:r>
              <a:rPr lang="en"/>
              <a:t> </a:t>
            </a:r>
            <a:r>
              <a:rPr lang="en"/>
              <a:t>= specific error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Return Objects</a:t>
            </a:r>
            <a:endParaRPr/>
          </a:p>
        </p:txBody>
      </p:sp>
      <p:sp>
        <p:nvSpPr>
          <p:cNvPr id="267" name="Google Shape;267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return object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object that provides both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possible error code, if any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actual return results</a:t>
            </a:r>
            <a:endParaRPr/>
          </a:p>
        </p:txBody>
      </p:sp>
      <p:sp>
        <p:nvSpPr>
          <p:cNvPr id="268" name="Google Shape;268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Error Codes vs. Return Objects vs. Exceptions</a:t>
            </a:r>
            <a:endParaRPr/>
          </a:p>
        </p:txBody>
      </p:sp>
      <p:sp>
        <p:nvSpPr>
          <p:cNvPr id="274" name="Google Shape;274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275" name="Google Shape;275;p40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{0A3D7DEB-E554-408A-9E8B-F5EF3EEBE83F}</a:tableStyleId>
              </a:tblPr>
              <a:tblGrid>
                <a:gridCol w="2865125"/>
                <a:gridCol w="2865125"/>
                <a:gridCol w="2865125"/>
              </a:tblGrid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Pros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Cons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Error codes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Simple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Return values need to be passed back </a:t>
                      </a:r>
                      <a:r>
                        <a:rPr lang="en"/>
                        <a:t>separately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Return objects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 solution if you have no good exception mechanism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Mix normal with abnormal processing state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Exceptions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Separate normal with abnormal processing state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–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Error Handling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Error Handling State Model</a:t>
            </a:r>
            <a:endParaRPr/>
          </a:p>
        </p:txBody>
      </p:sp>
      <p:sp>
        <p:nvSpPr>
          <p:cNvPr id="286" name="Google Shape;286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87" name="Google Shape;287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Error Handling</a:t>
            </a:r>
            <a:endParaRPr/>
          </a:p>
        </p:txBody>
      </p:sp>
      <p:sp>
        <p:nvSpPr>
          <p:cNvPr id="293" name="Google Shape;293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false alarm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erroneously identified </a:t>
            </a:r>
            <a:r>
              <a:rPr lang="en"/>
              <a:t>error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Resumption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you try again, possibly after fixing something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Escalation (a.k.a. organized panic)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you give up and signal the error to your caller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Handle Component Failures?</a:t>
            </a:r>
            <a:endParaRPr/>
          </a:p>
        </p:txBody>
      </p:sp>
      <p:sp>
        <p:nvSpPr>
          <p:cNvPr id="300" name="Google Shape;300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noBytes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Int8Array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result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Int8Array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Int8Array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noBytes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do something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tries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for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noBytes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try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result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readNextByte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catch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tries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Oh no! What @todo?!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return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result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0000FF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01" name="Google Shape;301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302" name="Google Shape;302;p44"/>
          <p:cNvGrpSpPr/>
          <p:nvPr/>
        </p:nvGrpSpPr>
        <p:grpSpPr>
          <a:xfrm>
            <a:off x="4206175" y="914400"/>
            <a:ext cx="4663500" cy="3566100"/>
            <a:chOff x="4206175" y="914400"/>
            <a:chExt cx="4663500" cy="3566100"/>
          </a:xfrm>
        </p:grpSpPr>
        <p:sp>
          <p:nvSpPr>
            <p:cNvPr id="303" name="Google Shape;303;p44"/>
            <p:cNvSpPr txBox="1"/>
            <p:nvPr/>
          </p:nvSpPr>
          <p:spPr>
            <a:xfrm>
              <a:off x="4754870" y="914400"/>
              <a:ext cx="4114800" cy="7314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>
                  <a:solidFill>
                    <a:srgbClr val="AF00D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if</a:t>
              </a:r>
              <a:r>
                <a:rPr lang="en" sz="105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(</a:t>
              </a:r>
              <a:r>
                <a:rPr lang="en" sz="1050">
                  <a:solidFill>
                    <a:srgbClr val="001080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tries</a:t>
              </a:r>
              <a:r>
                <a:rPr lang="en" sz="105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" sz="1050">
                  <a:solidFill>
                    <a:schemeClr val="dk1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==</a:t>
              </a:r>
              <a:r>
                <a:rPr lang="en" sz="105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" sz="1050">
                  <a:solidFill>
                    <a:srgbClr val="098658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3</a:t>
              </a:r>
              <a:r>
                <a:rPr lang="en" sz="105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) {</a:t>
              </a:r>
              <a:endParaRPr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   </a:t>
              </a:r>
              <a:r>
                <a:rPr lang="en" sz="1050">
                  <a:solidFill>
                    <a:srgbClr val="008000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// ignore</a:t>
              </a:r>
              <a:endParaRPr sz="105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}</a:t>
              </a:r>
              <a:endParaRPr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04" name="Google Shape;304;p44"/>
            <p:cNvSpPr txBox="1"/>
            <p:nvPr/>
          </p:nvSpPr>
          <p:spPr>
            <a:xfrm>
              <a:off x="4754875" y="2560320"/>
              <a:ext cx="4114800" cy="10974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AF00D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if</a:t>
              </a: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(</a:t>
              </a:r>
              <a:r>
                <a:rPr lang="en" sz="1000">
                  <a:solidFill>
                    <a:srgbClr val="001080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tries</a:t>
              </a: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" sz="1000">
                  <a:solidFill>
                    <a:schemeClr val="dk1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==</a:t>
              </a: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" sz="1000">
                  <a:solidFill>
                    <a:srgbClr val="098658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3</a:t>
              </a: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) {</a:t>
              </a:r>
              <a:endParaRPr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   </a:t>
              </a:r>
              <a:r>
                <a:rPr lang="en" sz="1000">
                  <a:solidFill>
                    <a:srgbClr val="001080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result</a:t>
              </a: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" sz="1000">
                  <a:solidFill>
                    <a:schemeClr val="dk1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=</a:t>
              </a: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{</a:t>
              </a:r>
              <a:endParaRPr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       </a:t>
              </a:r>
              <a:r>
                <a:rPr lang="en" sz="1000">
                  <a:solidFill>
                    <a:srgbClr val="001080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errorCode:</a:t>
              </a: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" sz="1000">
                  <a:solidFill>
                    <a:schemeClr val="dk1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-</a:t>
              </a:r>
              <a:r>
                <a:rPr lang="en" sz="1000">
                  <a:solidFill>
                    <a:srgbClr val="098658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1</a:t>
              </a: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,</a:t>
              </a:r>
              <a:endParaRPr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       </a:t>
              </a:r>
              <a:r>
                <a:rPr lang="en" sz="1000">
                  <a:solidFill>
                    <a:srgbClr val="001080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errorMessage:</a:t>
              </a: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" sz="1000">
                  <a:solidFill>
                    <a:srgbClr val="A31515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"couldn't finish"</a:t>
              </a:r>
              <a:endParaRPr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   }</a:t>
              </a:r>
              <a:endParaRPr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}</a:t>
              </a:r>
              <a:endParaRPr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05" name="Google Shape;305;p44"/>
            <p:cNvSpPr txBox="1"/>
            <p:nvPr/>
          </p:nvSpPr>
          <p:spPr>
            <a:xfrm>
              <a:off x="4754875" y="1737360"/>
              <a:ext cx="4114800" cy="7314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>
                  <a:solidFill>
                    <a:srgbClr val="AF00D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if</a:t>
              </a:r>
              <a:r>
                <a:rPr lang="en" sz="105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(</a:t>
              </a:r>
              <a:r>
                <a:rPr lang="en" sz="1050">
                  <a:solidFill>
                    <a:srgbClr val="001080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tries</a:t>
              </a:r>
              <a:r>
                <a:rPr lang="en" sz="105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" sz="1050">
                  <a:solidFill>
                    <a:schemeClr val="dk1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==</a:t>
              </a:r>
              <a:r>
                <a:rPr lang="en" sz="105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" sz="1050">
                  <a:solidFill>
                    <a:srgbClr val="098658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3</a:t>
              </a:r>
              <a:r>
                <a:rPr lang="en" sz="105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) {</a:t>
              </a:r>
              <a:endParaRPr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   </a:t>
              </a:r>
              <a:r>
                <a:rPr lang="en" sz="1050">
                  <a:solidFill>
                    <a:srgbClr val="AF00D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throw</a:t>
              </a:r>
              <a:r>
                <a:rPr lang="en" sz="105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" sz="1050">
                  <a:solidFill>
                    <a:srgbClr val="001080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exception</a:t>
              </a:r>
              <a:r>
                <a:rPr lang="en" sz="105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;</a:t>
              </a:r>
              <a:endParaRPr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5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}</a:t>
              </a:r>
              <a:endParaRPr sz="105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06" name="Google Shape;306;p44"/>
            <p:cNvSpPr txBox="1"/>
            <p:nvPr/>
          </p:nvSpPr>
          <p:spPr>
            <a:xfrm>
              <a:off x="4754875" y="3749040"/>
              <a:ext cx="4114800" cy="7311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267F99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MethodFailedException</a:t>
              </a: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.</a:t>
              </a:r>
              <a:r>
                <a:rPr lang="en" sz="1000">
                  <a:solidFill>
                    <a:srgbClr val="795E26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assertCondition</a:t>
              </a: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(</a:t>
              </a:r>
              <a:r>
                <a:rPr lang="en" sz="1000">
                  <a:solidFill>
                    <a:srgbClr val="001080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tries</a:t>
              </a: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" sz="1000">
                  <a:solidFill>
                    <a:schemeClr val="dk1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&lt;</a:t>
              </a: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 </a:t>
              </a:r>
              <a:r>
                <a:rPr lang="en" sz="1000">
                  <a:solidFill>
                    <a:srgbClr val="098658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3</a:t>
              </a:r>
              <a:r>
                <a:rPr lang="en" sz="1000">
                  <a:solidFill>
                    <a:srgbClr val="3B3B3B"/>
                  </a:solidFill>
                  <a:highlight>
                    <a:srgbClr val="FFFFF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);</a:t>
              </a:r>
              <a:endParaRPr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  <p:sp>
          <p:nvSpPr>
            <p:cNvPr id="307" name="Google Shape;307;p44"/>
            <p:cNvSpPr/>
            <p:nvPr/>
          </p:nvSpPr>
          <p:spPr>
            <a:xfrm>
              <a:off x="4206175" y="914400"/>
              <a:ext cx="548700" cy="731400"/>
            </a:xfrm>
            <a:prstGeom prst="rect">
              <a:avLst/>
            </a:prstGeom>
            <a:noFill/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/>
                <a:t>1</a:t>
              </a:r>
              <a:endParaRPr b="1" sz="1800"/>
            </a:p>
          </p:txBody>
        </p:sp>
        <p:sp>
          <p:nvSpPr>
            <p:cNvPr id="308" name="Google Shape;308;p44"/>
            <p:cNvSpPr/>
            <p:nvPr/>
          </p:nvSpPr>
          <p:spPr>
            <a:xfrm>
              <a:off x="4206175" y="2560320"/>
              <a:ext cx="548700" cy="1097400"/>
            </a:xfrm>
            <a:prstGeom prst="rect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/>
                <a:t>3</a:t>
              </a:r>
              <a:endParaRPr b="1" sz="1800"/>
            </a:p>
          </p:txBody>
        </p:sp>
        <p:sp>
          <p:nvSpPr>
            <p:cNvPr id="309" name="Google Shape;309;p44"/>
            <p:cNvSpPr/>
            <p:nvPr/>
          </p:nvSpPr>
          <p:spPr>
            <a:xfrm>
              <a:off x="4206175" y="1737360"/>
              <a:ext cx="548700" cy="731400"/>
            </a:xfrm>
            <a:prstGeom prst="rect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/>
                <a:t>2</a:t>
              </a:r>
              <a:endParaRPr b="1" sz="1800"/>
            </a:p>
          </p:txBody>
        </p:sp>
        <p:sp>
          <p:nvSpPr>
            <p:cNvPr id="310" name="Google Shape;310;p44"/>
            <p:cNvSpPr/>
            <p:nvPr/>
          </p:nvSpPr>
          <p:spPr>
            <a:xfrm>
              <a:off x="4206175" y="3749400"/>
              <a:ext cx="548700" cy="731100"/>
            </a:xfrm>
            <a:prstGeom prst="rect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800"/>
                <a:t>4</a:t>
              </a:r>
              <a:endParaRPr b="1" sz="1800"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Escalate an Error</a:t>
            </a:r>
            <a:endParaRPr/>
          </a:p>
        </p:txBody>
      </p:sp>
      <p:sp>
        <p:nvSpPr>
          <p:cNvPr id="316" name="Google Shape;316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First, clean up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Leave the component in a viable 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Restore component invariants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Release any unneeded resources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Use finally block to ensure this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Then, escalate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Enhance original error information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Keep chaining exceptions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Checked vs. Unchecked Exceptions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unchecked exceptions within a component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also can use checked exceptions, but human psychology suggests that you won’t be able to follow through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Use checked exceptions at a service’s boundary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Typescript does not have checked exceptions, so you may have to find alternative ways of dealing with service boundaries</a:t>
            </a:r>
            <a:endParaRPr/>
          </a:p>
        </p:txBody>
      </p:sp>
      <p:sp>
        <p:nvSpPr>
          <p:cNvPr id="324" name="Google Shape;324;p4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7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Service Failure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Failure</a:t>
            </a:r>
            <a:endParaRPr/>
          </a:p>
        </p:txBody>
      </p:sp>
      <p:sp>
        <p:nvSpPr>
          <p:cNvPr id="335" name="Google Shape;335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service failure is a component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the interface to the calling client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Use checked exceptions to signal service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Only use exceptions specific to the failure</a:t>
            </a:r>
            <a:endParaRPr/>
          </a:p>
        </p:txBody>
      </p:sp>
      <p:sp>
        <p:nvSpPr>
          <p:cNvPr id="336" name="Google Shape;336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Client / Service Error Handling State Model</a:t>
            </a:r>
            <a:endParaRPr/>
          </a:p>
        </p:txBody>
      </p:sp>
      <p:sp>
        <p:nvSpPr>
          <p:cNvPr id="342" name="Google Shape;342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343" name="Google Shape;343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Failure Exceptions to Use [1]</a:t>
            </a:r>
            <a:endParaRPr/>
          </a:p>
        </p:txBody>
      </p:sp>
      <p:sp>
        <p:nvSpPr>
          <p:cNvPr id="349" name="Google Shape;349;p5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 the service side, for service failures, use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ServiceFailureException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To be interpreted as a “to check” (checked) exception</a:t>
            </a:r>
            <a:endParaRPr/>
          </a:p>
        </p:txBody>
      </p:sp>
      <p:sp>
        <p:nvSpPr>
          <p:cNvPr id="351" name="Google Shape;351;p50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JavaScript does not support checked exceptions, hence we have to simulate it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Error Escalation of Failure Signal</a:t>
            </a:r>
            <a:endParaRPr/>
          </a:p>
        </p:txBody>
      </p:sp>
      <p:sp>
        <p:nvSpPr>
          <p:cNvPr id="357" name="Google Shape;357;p5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 the client side, if you need to escalate a service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Wrap the checked exception in an unchecked exception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game may repeat itself at the next service boundary</a:t>
            </a:r>
            <a:endParaRPr/>
          </a:p>
        </p:txBody>
      </p:sp>
      <p:sp>
        <p:nvSpPr>
          <p:cNvPr id="358" name="Google Shape;358;p5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Failure at the User (Operator) Interface</a:t>
            </a:r>
            <a:endParaRPr/>
          </a:p>
        </p:txBody>
      </p:sp>
      <p:sp>
        <p:nvSpPr>
          <p:cNvPr id="364" name="Google Shape;364;p5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Rather than display in text, a checked exception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Convert the error into human-readable form and display it</a:t>
            </a:r>
            <a:endParaRPr/>
          </a:p>
        </p:txBody>
      </p:sp>
      <p:sp>
        <p:nvSpPr>
          <p:cNvPr id="365" name="Google Shape;365;p5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366" name="Google Shape;366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1920240"/>
            <a:ext cx="6888175" cy="283464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Final Word on Exceptions</a:t>
            </a:r>
            <a:endParaRPr/>
          </a:p>
        </p:txBody>
      </p:sp>
      <p:sp>
        <p:nvSpPr>
          <p:cNvPr id="372" name="Google Shape;372;p5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73" name="Google Shape;373;p53"/>
          <p:cNvSpPr txBox="1"/>
          <p:nvPr/>
        </p:nvSpPr>
        <p:spPr>
          <a:xfrm>
            <a:off x="274320" y="914400"/>
            <a:ext cx="85953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up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"something is wrong"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throw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up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" sz="1000">
                <a:solidFill>
                  <a:srgbClr val="008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haha</a:t>
            </a:r>
            <a:endParaRPr sz="1000">
              <a:solidFill>
                <a:srgbClr val="008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common bug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 system model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Error detection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Error signaling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Error handling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Service failure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86" name="Google Shape;386;p5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92" name="Google Shape;392;p5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93" name="Google Shape;393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