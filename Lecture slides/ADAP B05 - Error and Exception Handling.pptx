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657F08-89A6-429C-9532-F9CB1B2E76FD}">
  <a:tblStyle styleId="{7B657F08-89A6-429C-9532-F9CB1B2E76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adfe1e13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adfe1e13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adfe1e13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0adfe1e13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adfe1e13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adfe1e13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adfe1e13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adfe1e13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adfe1e13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adfe1e13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adfe1e13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adfe1e13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adfe1e13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adfe1e1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0b020d8c4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0b020d8c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adfe1e13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adfe1e13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adfe1e13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adfe1e13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adfe1e13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adfe1e13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adfe1e13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0adfe1e13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adfe1e13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0adfe1e13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85bc3a9c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85bc3a9c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adfe1e13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adfe1e13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adfe1e13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adfe1e13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bebb828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bebb828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85bc3a9c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85bc3a9c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adfe1e13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adfe1e13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adfe1e13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adfe1e13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85bc3a9c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185bc3a9c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bebb828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bebb828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0bebb828f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0bebb828f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adfe1e13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adfe1e13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adfe1e13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adfe1e13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85bc3a9c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85bc3a9c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85bc3a9c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85bc3a9c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85bc3a9c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85bc3a9c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85bc3a9c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185bc3a9c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85bc3a9c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185bc3a9c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0adfe1e13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0adfe1e13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85bc3a9c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85bc3a9c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0adfe1e13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0adfe1e13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85bc3a9c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185bc3a9c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85bc3a9c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185bc3a9c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85bc3a9c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185bc3a9c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0adfe1e13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0adfe1e13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85bc3a9c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85bc3a9c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85bc3a9c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185bc3a9c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89ae385d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189ae385d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0adfe1e13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0adfe1e13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185bc3a9c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185bc3a9c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185bc3a9c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185bc3a9c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0adfe1e13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0adfe1e1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ss.cs.fau.d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oss.cs.fau.d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ss.cs.fau.de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and Exception Handling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B05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common bug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system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signaling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handling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Service failure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lecture, we focus on a subset of [A+04], specifically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Errors caused by software faults that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Always development, internal, human-made faults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non-malicious, non-deliberate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detection by concurrent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handling using any matching strategy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other words, errors caused by the common bug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67" name="Google Shape;67;p10"/>
          <p:cNvSpPr txBox="1"/>
          <p:nvPr/>
        </p:nvSpPr>
        <p:spPr>
          <a:xfrm>
            <a:off x="0" y="423367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[A+04] Avižienis, A., Laprie, J. C., Randell, B., &amp; Landwehr, C. (2004). Basic concepts and taxonomy of dependable and secure computing. </a:t>
            </a:r>
            <a:r>
              <a:rPr lang="en">
                <a:solidFill>
                  <a:schemeClr val="dk1"/>
                </a:solidFill>
              </a:rPr>
              <a:t>IEEE Transactions on </a:t>
            </a:r>
            <a:r>
              <a:rPr lang="en"/>
              <a:t>Dependable and Secure Computing 1(1), 11-33.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The Common Bug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Catching the Common Bug</a:t>
            </a:r>
            <a:endParaRPr/>
          </a:p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done during development (earlier is better)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you can’t avoid errors at runtime</a:t>
            </a:r>
            <a:endParaRPr/>
          </a:p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Deliberately Bad Java Example [1]</a:t>
            </a:r>
            <a:endParaRPr/>
          </a:p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readInt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Buffer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ParseException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FileInputStream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FileInputStream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there should never be “0” in file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something went wrong!</a:t>
            </a:r>
            <a:r>
              <a:rPr lang="en" sz="10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7" name="Google Shape;87;p1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Doesn’t compile; created for demonstration purposes only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Wrong With Example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General programming errors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Unclear preconditions; no assertions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external buffer variable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clean-up after resource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Specific bad practices of error handling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Overloading of purpose of return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Mismatch between method signature and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exception swallowed without logging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Inconsistent use of error codes and exceptions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Unprofessional logging / error message useless</a:t>
            </a:r>
            <a:endParaRPr/>
          </a:p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Dependability and Fault Tolerance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If bugs are inevitable, how to handle them?</a:t>
            </a:r>
            <a:endParaRPr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 System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(Runtime Tiers)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Objects</a:t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(Static) Code Layers</a:t>
            </a:r>
            <a:endParaRPr/>
          </a:p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8595360" cy="3495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774175" y="444325"/>
            <a:ext cx="1371600" cy="54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System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2736125" y="2023050"/>
            <a:ext cx="1371600" cy="54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Boundary</a:t>
            </a:r>
            <a:br>
              <a:rPr b="1" lang="en">
                <a:solidFill>
                  <a:schemeClr val="lt1"/>
                </a:solidFill>
              </a:rPr>
            </a:br>
            <a:r>
              <a:rPr b="1" lang="en">
                <a:solidFill>
                  <a:schemeClr val="lt1"/>
                </a:solidFill>
              </a:rPr>
              <a:t>or interface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1515725" y="772125"/>
            <a:ext cx="1371600" cy="54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Component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or service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4685875" y="2670048"/>
            <a:ext cx="1371600" cy="548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State and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behavior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 (User) Interaction [1]</a:t>
            </a:r>
            <a:endParaRPr/>
          </a:p>
        </p:txBody>
      </p:sp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Not using </a:t>
            </a:r>
            <a:r>
              <a:rPr lang="en"/>
              <a:t>the term “user” because it is too broad</a:t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4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Terminology</a:t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runtime component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runtime data encapsulated (bounded) by an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does not stand alone and cannot be deployed independently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service is a runtime component that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business value and maybe composed of other components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does not stand alone (has clients), but can be deployed independently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a combination of services and operators (yeah, really)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business value and has stakeholders to who this value accrues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Operators are stakeholders but not all stakeholders are operators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</a:t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fault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condition that can cause an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fault is </a:t>
            </a:r>
            <a:r>
              <a:rPr b="1" lang="en"/>
              <a:t>dormant,</a:t>
            </a:r>
            <a:r>
              <a:rPr lang="en"/>
              <a:t> if it has not yet caused an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fault is</a:t>
            </a:r>
            <a:r>
              <a:rPr b="1" lang="en"/>
              <a:t> active,</a:t>
            </a:r>
            <a:r>
              <a:rPr lang="en"/>
              <a:t> if it causes an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fault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classified by eight independent dimensions [A+04]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Fault Classification</a:t>
            </a:r>
            <a:endParaRPr/>
          </a:p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167" name="Google Shape;167;p2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{7B657F08-89A6-429C-9532-F9CB1B2E76FD}</a:tableStyleId>
              </a:tblPr>
              <a:tblGrid>
                <a:gridCol w="2865125"/>
                <a:gridCol w="2865125"/>
                <a:gridCol w="2865125"/>
              </a:tblGrid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Option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Option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Phase of creation / occurrence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Developmental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Operational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System boundaries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Internal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External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Phenomenological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cause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Natural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Human-made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Dimension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Hardware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Software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Objective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Malicious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Non-malicious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Intent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Deliberate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Non-deliberate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Capability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Accidental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Incompetence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Persistence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Permanent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Transient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error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state of the system that may lead to a failure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error is </a:t>
            </a:r>
            <a:r>
              <a:rPr b="1" lang="en"/>
              <a:t>latent,</a:t>
            </a:r>
            <a:r>
              <a:rPr lang="en"/>
              <a:t> if it has not been detected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error has been </a:t>
            </a:r>
            <a:r>
              <a:rPr b="1" lang="en"/>
              <a:t>detected,</a:t>
            </a:r>
            <a:r>
              <a:rPr lang="en"/>
              <a:t> if regular code identifies an erroneous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error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</a:t>
            </a:r>
            <a:r>
              <a:rPr lang="en"/>
              <a:t>n be categorized by the failures it may cause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</a:t>
            </a:r>
            <a:endParaRPr/>
          </a:p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failure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event that transitions the system from correct to incorrect 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failure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a (failure)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categorized by four independent dimensions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Domain (content, early timing, late timing, halt, and erratic failures)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Detectability (signaled and unsignaled failures)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Consistency (consistent and inconsistent failures)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Consequences (minor to catastrophic failures)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ranked by severity (consequences)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Process that Leads to Service Failure</a:t>
            </a:r>
            <a:endParaRPr/>
          </a:p>
        </p:txBody>
      </p: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Steps to Error Handling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signaling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handling</a:t>
            </a:r>
            <a:endParaRPr/>
          </a:p>
        </p:txBody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Error Detection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Detect an Error (State)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an error is an erroneous state of the system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need to explicitly check for that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Assertions that fail identify an error (state)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Assertions</a:t>
            </a:r>
            <a:r>
              <a:rPr lang="en"/>
              <a:t> are regular code in normal processing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design by contract</a:t>
            </a:r>
            <a:endParaRPr/>
          </a:p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Name Instance (= Component) Failure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void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assertIsValidIndex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assertIsProperlyMasked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oldNoComponents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getNoComponents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doInsert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assertClassInvariants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getNoComponents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oldNoComponents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MethodFailedException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assertCondition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14" name="Google Shape;214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</a:t>
            </a:r>
            <a:r>
              <a:rPr lang="en"/>
              <a:t> Information to Capture / Gather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information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id (instance)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type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Error-specific information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Stacktrace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Affected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Explanatory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Represent Error Information</a:t>
            </a:r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codes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Error Signaling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Signal an Error?</a:t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detected error state needs to be logged and signaled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Transition the system from normal to abnormal program / processing state</a:t>
            </a:r>
            <a:endParaRPr/>
          </a:p>
        </p:txBody>
      </p:sp>
      <p:sp>
        <p:nvSpPr>
          <p:cNvPr id="240" name="Google Shape;240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vs. Abnormal Processing State</a:t>
            </a:r>
            <a:endParaRPr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processing state (NPS)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performed its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 flow returns via return statement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Abnormal processing state (APS)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failed to perform service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 flow returns via raising an exception</a:t>
            </a:r>
            <a:endParaRPr/>
          </a:p>
        </p:txBody>
      </p:sp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for Error Signaling</a:t>
            </a:r>
            <a:endParaRPr/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normal control flow (but in abnormal processing state)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return statement but include error code in return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Using abnormal control flow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Raise an exception and include information in exception object</a:t>
            </a:r>
            <a:endParaRPr/>
          </a:p>
        </p:txBody>
      </p:sp>
      <p:sp>
        <p:nvSpPr>
          <p:cNvPr id="254" name="Google Shape;254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Code Conventions</a:t>
            </a:r>
            <a:endParaRPr/>
          </a:p>
        </p:txBody>
      </p:sp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 </a:t>
            </a:r>
            <a:r>
              <a:rPr lang="en"/>
              <a:t>= no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-1</a:t>
            </a:r>
            <a:r>
              <a:rPr lang="en"/>
              <a:t> </a:t>
            </a:r>
            <a:r>
              <a:rPr lang="en"/>
              <a:t>= generic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1..n</a:t>
            </a:r>
            <a:r>
              <a:rPr lang="en"/>
              <a:t> </a:t>
            </a:r>
            <a:r>
              <a:rPr lang="en"/>
              <a:t>= specific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Objects</a:t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return object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object that provides both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possible error code, if any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actual return results</a:t>
            </a:r>
            <a:endParaRPr/>
          </a:p>
        </p:txBody>
      </p:sp>
      <p:sp>
        <p:nvSpPr>
          <p:cNvPr id="268" name="Google Shape;268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Codes vs. Return Objects vs. Exceptions</a:t>
            </a:r>
            <a:endParaRPr/>
          </a:p>
        </p:txBody>
      </p:sp>
      <p:sp>
        <p:nvSpPr>
          <p:cNvPr id="274" name="Google Shape;274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275" name="Google Shape;275;p40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{7B657F08-89A6-429C-9532-F9CB1B2E76FD}</a:tableStyleId>
              </a:tblPr>
              <a:tblGrid>
                <a:gridCol w="2865125"/>
                <a:gridCol w="2865125"/>
                <a:gridCol w="286512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Error codes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Return values need to be passed back </a:t>
                      </a:r>
                      <a:r>
                        <a:rPr lang="en"/>
                        <a:t>separately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Return objects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solution if you have no good exception mechanism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Mix normal with abnormal processing state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Exceptions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Separate normal with abnormal processing state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–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Error Handling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 State Model</a:t>
            </a:r>
            <a:endParaRPr/>
          </a:p>
        </p:txBody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Handling</a:t>
            </a:r>
            <a:endParaRPr/>
          </a:p>
        </p:txBody>
      </p:sp>
      <p:sp>
        <p:nvSpPr>
          <p:cNvPr id="293" name="Google Shape;293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false alarm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erroneously identified </a:t>
            </a:r>
            <a:r>
              <a:rPr lang="en"/>
              <a:t>error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Resumption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try again, possibly after fixing something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Escalation (a.k.a. organized panic)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give up and signal the error to your caller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Handle Component Failures?</a:t>
            </a:r>
            <a:endParaRPr/>
          </a:p>
        </p:txBody>
      </p:sp>
      <p:sp>
        <p:nvSpPr>
          <p:cNvPr id="300" name="Google Shape;300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noBytes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Int8Array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Int8Array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Int8Array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noBytes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something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tries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noBytes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readNextByte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tries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Oh no! What @todo?!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302" name="Google Shape;302;p44"/>
          <p:cNvGrpSpPr/>
          <p:nvPr/>
        </p:nvGrpSpPr>
        <p:grpSpPr>
          <a:xfrm>
            <a:off x="4206175" y="914400"/>
            <a:ext cx="4663500" cy="3566100"/>
            <a:chOff x="4206175" y="914400"/>
            <a:chExt cx="4663500" cy="3566100"/>
          </a:xfrm>
        </p:grpSpPr>
        <p:sp>
          <p:nvSpPr>
            <p:cNvPr id="303" name="Google Shape;303;p44"/>
            <p:cNvSpPr txBox="1"/>
            <p:nvPr/>
          </p:nvSpPr>
          <p:spPr>
            <a:xfrm>
              <a:off x="4754870" y="914400"/>
              <a:ext cx="4114800" cy="731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AF00D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(</a:t>
              </a:r>
              <a:r>
                <a:rPr lang="en" sz="105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tries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5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50">
                  <a:solidFill>
                    <a:srgbClr val="098658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" sz="1050">
                  <a:solidFill>
                    <a:srgbClr val="008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// ignore</a:t>
              </a:r>
              <a:endParaRPr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4" name="Google Shape;304;p44"/>
            <p:cNvSpPr txBox="1"/>
            <p:nvPr/>
          </p:nvSpPr>
          <p:spPr>
            <a:xfrm>
              <a:off x="4754875" y="2560320"/>
              <a:ext cx="4114800" cy="1097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AF00D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(</a:t>
              </a:r>
              <a:r>
                <a:rPr lang="en" sz="100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tries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rgbClr val="098658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" sz="100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result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{</a:t>
              </a:r>
              <a:endParaRPr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</a:t>
              </a:r>
              <a:r>
                <a:rPr lang="en" sz="100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errorCode: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-</a:t>
              </a:r>
              <a:r>
                <a:rPr lang="en" sz="1000">
                  <a:solidFill>
                    <a:srgbClr val="098658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</a:t>
              </a:r>
              <a:r>
                <a:rPr lang="en" sz="100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errorMessage: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rgbClr val="A31515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"couldn't finish"</a:t>
              </a:r>
              <a:endParaRPr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}</a:t>
              </a:r>
              <a:endParaRPr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5" name="Google Shape;305;p44"/>
            <p:cNvSpPr txBox="1"/>
            <p:nvPr/>
          </p:nvSpPr>
          <p:spPr>
            <a:xfrm>
              <a:off x="4754875" y="1737360"/>
              <a:ext cx="4114800" cy="731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AF00D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(</a:t>
              </a:r>
              <a:r>
                <a:rPr lang="en" sz="105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tries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5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50">
                  <a:solidFill>
                    <a:srgbClr val="098658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" sz="1050">
                  <a:solidFill>
                    <a:srgbClr val="AF00D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throw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5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exception</a:t>
              </a: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6" name="Google Shape;306;p44"/>
            <p:cNvSpPr txBox="1"/>
            <p:nvPr/>
          </p:nvSpPr>
          <p:spPr>
            <a:xfrm>
              <a:off x="4754875" y="3749040"/>
              <a:ext cx="4114800" cy="731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267F99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MethodFailedException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.</a:t>
              </a:r>
              <a:r>
                <a:rPr lang="en" sz="1000">
                  <a:solidFill>
                    <a:srgbClr val="795E26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assertCondition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" sz="1000">
                  <a:solidFill>
                    <a:srgbClr val="00108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tries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" sz="1000">
                  <a:solidFill>
                    <a:srgbClr val="098658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r>
                <a:rPr lang="en" sz="1000">
                  <a:solidFill>
                    <a:srgbClr val="3B3B3B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7" name="Google Shape;307;p44"/>
            <p:cNvSpPr/>
            <p:nvPr/>
          </p:nvSpPr>
          <p:spPr>
            <a:xfrm>
              <a:off x="4206175" y="914400"/>
              <a:ext cx="548700" cy="731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1</a:t>
              </a:r>
              <a:endParaRPr b="1" sz="1800"/>
            </a:p>
          </p:txBody>
        </p:sp>
        <p:sp>
          <p:nvSpPr>
            <p:cNvPr id="308" name="Google Shape;308;p44"/>
            <p:cNvSpPr/>
            <p:nvPr/>
          </p:nvSpPr>
          <p:spPr>
            <a:xfrm>
              <a:off x="4206175" y="2560320"/>
              <a:ext cx="548700" cy="10974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3</a:t>
              </a:r>
              <a:endParaRPr b="1" sz="1800"/>
            </a:p>
          </p:txBody>
        </p:sp>
        <p:sp>
          <p:nvSpPr>
            <p:cNvPr id="309" name="Google Shape;309;p44"/>
            <p:cNvSpPr/>
            <p:nvPr/>
          </p:nvSpPr>
          <p:spPr>
            <a:xfrm>
              <a:off x="4206175" y="1737360"/>
              <a:ext cx="548700" cy="7314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2</a:t>
              </a:r>
              <a:endParaRPr b="1" sz="1800"/>
            </a:p>
          </p:txBody>
        </p:sp>
        <p:sp>
          <p:nvSpPr>
            <p:cNvPr id="310" name="Google Shape;310;p44"/>
            <p:cNvSpPr/>
            <p:nvPr/>
          </p:nvSpPr>
          <p:spPr>
            <a:xfrm>
              <a:off x="4206175" y="3749400"/>
              <a:ext cx="548700" cy="7311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4</a:t>
              </a:r>
              <a:endParaRPr b="1" sz="180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Escalate an Error</a:t>
            </a:r>
            <a:endParaRPr/>
          </a:p>
        </p:txBody>
      </p:sp>
      <p:sp>
        <p:nvSpPr>
          <p:cNvPr id="316" name="Google Shape;316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clean up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Leave the component in a viable 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Restore component invariants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Release any unneeded resources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finally block to ensure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Then, escalate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Enhance original error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chaining exceptions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Checked vs. Unchecked Exceptions</a:t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unchecked exceptions within a component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also can use checked exceptions, but human psychology suggests that you won’t be able to follow through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checked exceptions at a service’s boundary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Typescript does not have checked exceptions, so you may have to find alternative ways of dealing with service boundaries</a:t>
            </a:r>
            <a:endParaRPr/>
          </a:p>
        </p:txBody>
      </p:sp>
      <p:sp>
        <p:nvSpPr>
          <p:cNvPr id="324" name="Google Shape;324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Service Failure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Failure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service failure is a component failure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the interface to the calling client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checked exceptions to signal service failure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use exceptions specific to the failure</a:t>
            </a:r>
            <a:endParaRPr/>
          </a:p>
        </p:txBody>
      </p:sp>
      <p:sp>
        <p:nvSpPr>
          <p:cNvPr id="336" name="Google Shape;336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/ Service Error Handling State Model</a:t>
            </a:r>
            <a:endParaRPr/>
          </a:p>
        </p:txBody>
      </p:sp>
      <p:sp>
        <p:nvSpPr>
          <p:cNvPr id="342" name="Google Shape;342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43" name="Google Shape;34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Failure Exceptions to Use [1]</a:t>
            </a:r>
            <a:endParaRPr/>
          </a:p>
        </p:txBody>
      </p:sp>
      <p:sp>
        <p:nvSpPr>
          <p:cNvPr id="349" name="Google Shape;349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50" name="Google Shape;350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service side, for service failures, use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ServiceFailureException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 be interpreted as a “to check” (checked) exception</a:t>
            </a:r>
            <a:endParaRPr/>
          </a:p>
        </p:txBody>
      </p:sp>
      <p:sp>
        <p:nvSpPr>
          <p:cNvPr id="351" name="Google Shape;351;p5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JavaScript does not support checked exceptions, hence we have to simulate it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Escalation of Failure Signal</a:t>
            </a:r>
            <a:endParaRPr/>
          </a:p>
        </p:txBody>
      </p:sp>
      <p:sp>
        <p:nvSpPr>
          <p:cNvPr id="357" name="Google Shape;357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the client side, if you need to escalate a service failure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Wrap the checked exception in an unchecked 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game may repeat itself at the next service boundary</a:t>
            </a:r>
            <a:endParaRPr/>
          </a:p>
        </p:txBody>
      </p:sp>
      <p:sp>
        <p:nvSpPr>
          <p:cNvPr id="358" name="Google Shape;358;p5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Failure at the User (Operator) Interface</a:t>
            </a:r>
            <a:endParaRPr/>
          </a:p>
        </p:txBody>
      </p:sp>
      <p:sp>
        <p:nvSpPr>
          <p:cNvPr id="364" name="Google Shape;364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Rather than display in text, a checked exception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 the error into human-readable form and display it</a:t>
            </a:r>
            <a:endParaRPr/>
          </a:p>
        </p:txBody>
      </p:sp>
      <p:sp>
        <p:nvSpPr>
          <p:cNvPr id="365" name="Google Shape;365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366" name="Google Shape;36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1920240"/>
            <a:ext cx="6888175" cy="283464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Final Word on Exceptions</a:t>
            </a:r>
            <a:endParaRPr/>
          </a:p>
        </p:txBody>
      </p:sp>
      <p:sp>
        <p:nvSpPr>
          <p:cNvPr id="372" name="Google Shape;372;p5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73" name="Google Shape;373;p53"/>
          <p:cNvSpPr txBox="1"/>
          <p:nvPr/>
        </p:nvSpPr>
        <p:spPr>
          <a:xfrm>
            <a:off x="274320" y="914400"/>
            <a:ext cx="8595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"something is wrong"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haha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79" name="Google Shape;379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common bug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system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signaling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Error handling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Service failure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86" name="Google Shape;386;p5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92" name="Google Shape;392;p5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93" name="Google Shape;393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