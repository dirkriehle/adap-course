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1569D09-A4F2-419A-BF9A-66A570F4F6D9}">
  <a:tblStyle styleId="{E1569D09-A4F2-419A-BF9A-66A570F4F6D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31" Type="http://schemas.openxmlformats.org/officeDocument/2006/relationships/slide" Target="slides/slide25.xml"/><Relationship Id="rId75" Type="http://schemas.openxmlformats.org/officeDocument/2006/relationships/slide" Target="slides/slide69.xml"/><Relationship Id="rId30" Type="http://schemas.openxmlformats.org/officeDocument/2006/relationships/slide" Target="slides/slide24.xml"/><Relationship Id="rId74" Type="http://schemas.openxmlformats.org/officeDocument/2006/relationships/slide" Target="slides/slide68.xml"/><Relationship Id="rId33" Type="http://schemas.openxmlformats.org/officeDocument/2006/relationships/slide" Target="slides/slide27.xml"/><Relationship Id="rId77" Type="http://schemas.openxmlformats.org/officeDocument/2006/relationships/slide" Target="slides/slide71.xml"/><Relationship Id="rId32" Type="http://schemas.openxmlformats.org/officeDocument/2006/relationships/slide" Target="slides/slide26.xml"/><Relationship Id="rId76" Type="http://schemas.openxmlformats.org/officeDocument/2006/relationships/slide" Target="slides/slide70.xml"/><Relationship Id="rId35" Type="http://schemas.openxmlformats.org/officeDocument/2006/relationships/slide" Target="slides/slide29.xml"/><Relationship Id="rId79" Type="http://schemas.openxmlformats.org/officeDocument/2006/relationships/slide" Target="slides/slide73.xml"/><Relationship Id="rId34" Type="http://schemas.openxmlformats.org/officeDocument/2006/relationships/slide" Target="slides/slide28.xml"/><Relationship Id="rId78" Type="http://schemas.openxmlformats.org/officeDocument/2006/relationships/slide" Target="slides/slide72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66" Type="http://schemas.openxmlformats.org/officeDocument/2006/relationships/slide" Target="slides/slide60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68" Type="http://schemas.openxmlformats.org/officeDocument/2006/relationships/slide" Target="slides/slide62.xml"/><Relationship Id="rId23" Type="http://schemas.openxmlformats.org/officeDocument/2006/relationships/slide" Target="slides/slide17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69" Type="http://schemas.openxmlformats.org/officeDocument/2006/relationships/slide" Target="slides/slide63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2fe02fb2826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2fe02fb282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26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2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fe79c80a4c_0_1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2fe79c80a4c_0_1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fe02fb2826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fe02fb2826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e02fb2826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e02fb2826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fe02fb2826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fe02fb2826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2fe02fb282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2fe02fb282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fe02fb2826_0_2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2fe02fb2826_0_2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2fe02fb2826_0_1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2fe02fb2826_0_1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0266cfaaa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0266cfaaa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2fe02fb2826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2fe02fb2826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fe02fb2826_0_1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2fe02fb2826_0_1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2fe02fb2826_0_2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2fe02fb2826_0_2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9b7a217ebd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9b7a217ebd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0cf89ee48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0cf89ee48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fe02fb2826_0_1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2fe02fb2826_0_1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fe02fb2826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2fe02fb2826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fe02fb2826_0_2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2fe02fb2826_0_2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8991cfcc5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28991cfcc5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2fe02fb2826_0_2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2fe02fb2826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8991cfcc57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28991cfcc57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fe02fb2826_0_2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2fe02fb2826_0_2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2fe02fb2826_0_2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2fe02fb2826_0_2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2fe02fb2826_0_2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2fe02fb2826_0_2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8991cfcc57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8991cfcc5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8991cfcc57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28991cfcc57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fe02fb2826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2fe02fb2826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2fe6637e8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2fe6637e8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2fe6637e8c0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2fe6637e8c0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2fe6637e8c0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2fe6637e8c0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fe6637e8c0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2fe6637e8c0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d434a3b5e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2d434a3b5e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2fe6637e8c0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2fe6637e8c0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2fe6637e8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2fe6637e8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fe02fb2826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2fe02fb2826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2fe6637e8c0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2fe6637e8c0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fe6637e8c0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2fe6637e8c0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8991cfcc57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8991cfcc57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fe6637e8c0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fe6637e8c0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2fe6637e8c0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2fe6637e8c0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2fe6637e8c0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2fe6637e8c0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2fe6637e8c0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2fe6637e8c0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fe6637e8c0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2fe6637e8c0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2fe02fb2826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2fe02fb2826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fe79c80a4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2fe79c80a4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2fe79c80a4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2fe79c80a4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2fe79c80a4c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Google Shape;362;g2fe79c80a4c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2fe79c80a4c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9" name="Google Shape;369;g2fe79c80a4c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28991cfcc57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28991cfcc57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2fe02fb2826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2fe02fb2826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fe79c80a4c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2fe79c80a4c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2fe79c80a4c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2fe79c80a4c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2fe79c80a4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2fe79c80a4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fe79c80a4c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2fe79c80a4c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2fe79c80a4c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2fe79c80a4c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2fe79c80a4c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2fe79c80a4c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0cc470a80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0cc470a80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2fe02fb2826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2fe02fb2826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2fe79c80a4c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2fe79c80a4c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2fe79c80a4c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2fe79c80a4c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fe79c80a4c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2fe79c80a4c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2fe02fb2826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2fe02fb2826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e79c80a4c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8" name="Google Shape;468;g2fe79c80a4c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2fe79c80a4c_0_1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2fe79c80a4c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2fe79c80a4c_0_1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2fe79c80a4c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2fe79c80a4c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2fe79c80a4c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2fe02fb2826_0_1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2fe02fb2826_0_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2fe79c80a4c_0_1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2fe79c80a4c_0_1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2fe79c80a4c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2fe79c80a4c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2fe79c80a4c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5" name="Google Shape;515;g2fe79c80a4c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2fe02fb2826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2" name="Google Shape;522;g2fe02fb2826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2fe02fb2826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2fe02fb2826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2fe02fb2826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2fe02fb2826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oss.cs.fau.de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oss.cs.fau.de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ss.cs.fau.de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ss.cs.fau.de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oss.cs.fau.d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s://oss.cs.fau.de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s://oss.cs.fau.de" TargetMode="Externa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oss.cs.fau.de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3" Type="http://schemas.openxmlformats.org/officeDocument/2006/relationships/hyperlink" Target="https://oss.cs.fau.de" TargetMode="Externa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s://oss.cs.fau.de" TargetMode="Externa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s://oss.cs.fau.de" TargetMode="Externa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Relationship Id="rId3" Type="http://schemas.openxmlformats.org/officeDocument/2006/relationships/hyperlink" Target="https://oss.cs.fau.de" TargetMode="Externa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Relationship Id="rId3" Type="http://schemas.openxmlformats.org/officeDocument/2006/relationships/hyperlink" Target="https://oss.cs.fau.de" TargetMode="Externa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Relationship Id="rId3" Type="http://schemas.openxmlformats.org/officeDocument/2006/relationships/hyperlink" Target="https://oss.cs.fau.de" TargetMode="Externa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Relationship Id="rId3" Type="http://schemas.openxmlformats.org/officeDocument/2006/relationships/hyperlink" Target="https://oss.cs.fau.de" TargetMode="Externa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Relationship Id="rId3" Type="http://schemas.openxmlformats.org/officeDocument/2006/relationships/hyperlink" Target="https://oss.cs.fau.de" TargetMode="Externa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Relationship Id="rId3" Type="http://schemas.openxmlformats.org/officeDocument/2006/relationships/hyperlink" Target="https://oss.cs.fau.de" TargetMode="Externa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Relationship Id="rId3" Type="http://schemas.openxmlformats.org/officeDocument/2006/relationships/hyperlink" Target="https://oss.cs.fau.de" TargetMode="Externa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Relationship Id="rId3" Type="http://schemas.openxmlformats.org/officeDocument/2006/relationships/hyperlink" Target="https://oss.cs.fau.de" TargetMode="Externa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Relationship Id="rId3" Type="http://schemas.openxmlformats.org/officeDocument/2006/relationships/hyperlink" Target="https://oss.cs.fau.de" TargetMode="Externa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Relationship Id="rId3" Type="http://schemas.openxmlformats.org/officeDocument/2006/relationships/hyperlink" Target="https://oss.cs.fau.de" TargetMode="Externa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Relationship Id="rId3" Type="http://schemas.openxmlformats.org/officeDocument/2006/relationships/hyperlink" Target="https://oss.cs.fau.de" TargetMode="Externa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Relationship Id="rId3" Type="http://schemas.openxmlformats.org/officeDocument/2006/relationships/hyperlink" Target="https://oss.cs.fau.de" TargetMode="Externa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8.xml"/><Relationship Id="rId3" Type="http://schemas.openxmlformats.org/officeDocument/2006/relationships/hyperlink" Target="https://oss.cs.fau.de" TargetMode="Externa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Relationship Id="rId3" Type="http://schemas.openxmlformats.org/officeDocument/2006/relationships/hyperlink" Target="https://oss.cs.fau.de" TargetMode="Externa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<Relationship Id="rId3" Type="http://schemas.openxmlformats.org/officeDocument/2006/relationships/hyperlink" Target="https://oss.cs.fau.de" TargetMode="Externa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<Relationship Id="rId3" Type="http://schemas.openxmlformats.org/officeDocument/2006/relationships/hyperlink" Target="https://oss.cs.fau.de" TargetMode="Externa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3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Method Types and Properties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B01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Method types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Query methods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Mutation methods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Helper methods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Method properties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Implementation properties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Inheritance properties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Convenience methods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guidelines</a:t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Professional Language</a:t>
            </a:r>
            <a:endParaRPr/>
          </a:p>
        </p:txBody>
      </p:sp>
      <p:sp>
        <p:nvSpPr>
          <p:cNvPr id="65" name="Google Shape;65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become a proficient developer, you need to learn the language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just a programming language, but how developers talk about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of it can be found in textbooks, some cannot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is always evolving so stay current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Method Types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Method Types</a:t>
            </a:r>
            <a:endParaRPr/>
          </a:p>
        </p:txBody>
      </p:sp>
      <p:sp>
        <p:nvSpPr>
          <p:cNvPr id="77" name="Google Shape;77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method type classifies a method into a particular type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method type is indicative of the main purpose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method may have only one type, not many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(Also: A method should have one purpose)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 Categories of Method Types</a:t>
            </a:r>
            <a:endParaRPr/>
          </a:p>
        </p:txBody>
      </p:sp>
      <p:sp>
        <p:nvSpPr>
          <p:cNvPr id="84" name="Google Shape;84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Query methods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Methods that return information about the object but don’t change its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Mutation methods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Methods that change the object’s state but don’t provide information back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Helper methods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Methods that perform some utility function independent of the object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Classification of Method Types</a:t>
            </a:r>
            <a:endParaRPr/>
          </a:p>
        </p:txBody>
      </p:sp>
      <p:sp>
        <p:nvSpPr>
          <p:cNvPr id="91" name="Google Shape;91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92" name="Google Shape;92;p14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{E1569D09-A4F2-419A-BF9A-66A570F4F6D9}</a:tableStyleId>
              </a:tblPr>
              <a:tblGrid>
                <a:gridCol w="2865125"/>
                <a:gridCol w="2865125"/>
                <a:gridCol w="2865125"/>
              </a:tblGrid>
              <a:tr h="5486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Query methods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Mutation methods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Helper methods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Get method (getter)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Set method (setter)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Factory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Boolean query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Command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Cloning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Comparison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Initialization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Assertion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Conversion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Finalization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Logging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...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...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...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Cartesian Coordinates</a:t>
            </a:r>
            <a:endParaRPr/>
          </a:p>
        </p:txBody>
      </p:sp>
      <p:sp>
        <p:nvSpPr>
          <p:cNvPr id="98" name="Google Shape;98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99" name="Google Shape;99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 Class for Cartesian Coordinates</a:t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private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private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constructor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?: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?: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isEqual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): </a:t>
            </a:r>
            <a:r>
              <a:rPr lang="en" sz="1000">
                <a:solidFill>
                  <a:srgbClr val="267F9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lang="en" sz="1000">
                <a:solidFill>
                  <a:srgbClr val="267F9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calcStraightLineDistance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/>
          </a:p>
        </p:txBody>
      </p:sp>
      <p:sp>
        <p:nvSpPr>
          <p:cNvPr id="106" name="Google Shape;106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Model of Cartesian Coordinate</a:t>
            </a:r>
            <a:endParaRPr/>
          </a:p>
        </p:txBody>
      </p:sp>
      <p:sp>
        <p:nvSpPr>
          <p:cNvPr id="112" name="Google Shape;112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13" name="Google Shape;11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Query Methods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Method (a.k.a. Getter)</a:t>
            </a:r>
            <a:endParaRPr/>
          </a:p>
        </p:txBody>
      </p:sp>
      <p:sp>
        <p:nvSpPr>
          <p:cNvPr id="124" name="Google Shape;124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get method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query method that returns a logical field of the queried object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getX(): number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Prefix + the name of the logical field</a:t>
            </a:r>
            <a:endParaRPr/>
          </a:p>
        </p:txBody>
      </p:sp>
      <p:sp>
        <p:nvSpPr>
          <p:cNvPr id="125" name="Google Shape;125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Cartesian and Polar Coordinates</a:t>
            </a:r>
            <a:endParaRPr/>
          </a:p>
        </p:txBody>
      </p:sp>
      <p:sp>
        <p:nvSpPr>
          <p:cNvPr id="131" name="Google Shape;131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32" name="Google Shape;13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Cartesian and Polar Coordinate Classes</a:t>
            </a:r>
            <a:endParaRPr/>
          </a:p>
        </p:txBody>
      </p:sp>
      <p:sp>
        <p:nvSpPr>
          <p:cNvPr id="138" name="Google Shape;138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39" name="Google Shape;13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Logical state </a:t>
            </a:r>
            <a:r>
              <a:rPr lang="en"/>
              <a:t>(fields / attributes) </a:t>
            </a:r>
            <a:r>
              <a:rPr lang="en"/>
              <a:t>is visible in the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Technical [1] (“implementation”) state is the actual fields in memory</a:t>
            </a:r>
            <a:endParaRPr/>
          </a:p>
        </p:txBody>
      </p:sp>
      <p:sp>
        <p:nvSpPr>
          <p:cNvPr id="145" name="Google Shape;145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Logical vs. Technical State</a:t>
            </a:r>
            <a:endParaRPr/>
          </a:p>
        </p:txBody>
      </p:sp>
      <p:sp>
        <p:nvSpPr>
          <p:cNvPr id="146" name="Google Shape;146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47" name="Google Shape;147;p2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Also sometimes called physical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Method Examples</a:t>
            </a:r>
            <a:endParaRPr/>
          </a:p>
        </p:txBody>
      </p:sp>
      <p:sp>
        <p:nvSpPr>
          <p:cNvPr id="153" name="Google Shape;153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5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5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getR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5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hypot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(), </a:t>
            </a: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getPhi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5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atan2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(), </a:t>
            </a: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  <p:sp>
        <p:nvSpPr>
          <p:cNvPr id="154" name="Google Shape;154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Boolean Query</a:t>
            </a:r>
            <a:r>
              <a:rPr lang="en"/>
              <a:t> Method</a:t>
            </a:r>
            <a:endParaRPr/>
          </a:p>
        </p:txBody>
      </p:sp>
      <p:sp>
        <p:nvSpPr>
          <p:cNvPr id="160" name="Google Shape;160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boolean query method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query method that returns boolean state about the queried object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isEqual(): boolean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Prefix + the name of the state</a:t>
            </a:r>
            <a:endParaRPr/>
          </a:p>
        </p:txBody>
      </p:sp>
      <p:sp>
        <p:nvSpPr>
          <p:cNvPr id="161" name="Google Shape;161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Boolean Query Method Examples</a:t>
            </a:r>
            <a:endParaRPr/>
          </a:p>
        </p:txBody>
      </p:sp>
      <p:sp>
        <p:nvSpPr>
          <p:cNvPr id="167" name="Google Shape;167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isEqual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&amp;&amp;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68" name="Google Shape;168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Equality</a:t>
            </a:r>
            <a:endParaRPr/>
          </a:p>
        </p:txBody>
      </p:sp>
      <p:sp>
        <p:nvSpPr>
          <p:cNvPr id="174" name="Google Shape;174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interface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Equality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isEqual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any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getHashCode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75" name="Google Shape;175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Equality Contract</a:t>
            </a:r>
            <a:endParaRPr/>
          </a:p>
        </p:txBody>
      </p:sp>
      <p:sp>
        <p:nvSpPr>
          <p:cNvPr id="181" name="Google Shape;181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equal objects must have the same hashcode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Equality Implementation</a:t>
            </a:r>
            <a:endParaRPr/>
          </a:p>
        </p:txBody>
      </p:sp>
      <p:sp>
        <p:nvSpPr>
          <p:cNvPr id="188" name="Google Shape;188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isEqual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&amp;&amp;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getHashCode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hashCode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asDataString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length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charCodeAt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hashCode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hashCode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&lt;&lt;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5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hashCode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hashCode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|=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hashCode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asDataString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"#"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/>
          </a:p>
        </p:txBody>
      </p:sp>
      <p:sp>
        <p:nvSpPr>
          <p:cNvPr id="189" name="Google Shape;189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Comparison Method</a:t>
            </a:r>
            <a:endParaRPr/>
          </a:p>
        </p:txBody>
      </p:sp>
      <p:sp>
        <p:nvSpPr>
          <p:cNvPr id="195" name="Google Shape;195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comparison method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query method that compares to objects on an ordinal scale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compareDistance(other: Coordinate): number // to origin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 specifically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Prefix + what is being compared</a:t>
            </a:r>
            <a:endParaRPr/>
          </a:p>
        </p:txBody>
      </p:sp>
      <p:sp>
        <p:nvSpPr>
          <p:cNvPr id="196" name="Google Shape;196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Comparison Method Example</a:t>
            </a:r>
            <a:endParaRPr/>
          </a:p>
        </p:txBody>
      </p:sp>
      <p:sp>
        <p:nvSpPr>
          <p:cNvPr id="202" name="Google Shape;202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compareDistance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hypot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(),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hypot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(),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else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else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203" name="Google Shape;203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Conversion</a:t>
            </a:r>
            <a:r>
              <a:rPr lang="en"/>
              <a:t> Method [1]</a:t>
            </a:r>
            <a:endParaRPr/>
          </a:p>
        </p:txBody>
      </p:sp>
      <p:sp>
        <p:nvSpPr>
          <p:cNvPr id="209" name="Google Shape;209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</a:t>
            </a:r>
            <a:r>
              <a:rPr lang="en"/>
              <a:t> conversion </a:t>
            </a:r>
            <a:r>
              <a:rPr lang="en"/>
              <a:t>method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query method that returns a different representation of the object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asDataString(): string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as, to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Prefix + target type</a:t>
            </a:r>
            <a:endParaRPr/>
          </a:p>
        </p:txBody>
      </p:sp>
      <p:sp>
        <p:nvSpPr>
          <p:cNvPr id="210" name="Google Shape;210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11" name="Google Shape;211;p31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</a:t>
            </a:r>
            <a:r>
              <a:rPr lang="en"/>
              <a:t>Better, but less common: Interpretation Method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Conversion Method Example</a:t>
            </a:r>
            <a:endParaRPr/>
          </a:p>
        </p:txBody>
      </p:sp>
      <p:sp>
        <p:nvSpPr>
          <p:cNvPr id="217" name="Google Shape;217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toString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5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asDataString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0000FF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asDataString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5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5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"#"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18" name="Google Shape;218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Ambiguous Semantics of toString(): string</a:t>
            </a:r>
            <a:endParaRPr/>
          </a:p>
        </p:txBody>
      </p:sp>
      <p:sp>
        <p:nvSpPr>
          <p:cNvPr id="224" name="Google Shape;224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it made for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Users (= human-readable representation of object) or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Machines (= machine-readable representation of object)?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Is it used in an end-user UI, in a database, or a debugger?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Our interpretation is that toString() is for developers and </a:t>
            </a:r>
            <a:r>
              <a:rPr lang="en"/>
              <a:t>machines, not </a:t>
            </a:r>
            <a:r>
              <a:rPr lang="en"/>
              <a:t>users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Mutation Methods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 Method</a:t>
            </a:r>
            <a:endParaRPr/>
          </a:p>
        </p:txBody>
      </p:sp>
      <p:sp>
        <p:nvSpPr>
          <p:cNvPr id="236" name="Google Shape;236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set method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mutation method that changes a logical field of the object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setX(x: number): void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Prefix + name of logical field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 Method Examples</a:t>
            </a:r>
            <a:endParaRPr/>
          </a:p>
        </p:txBody>
      </p:sp>
      <p:sp>
        <p:nvSpPr>
          <p:cNvPr id="243" name="Google Shape;243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lang="en" sz="1000">
                <a:solidFill>
                  <a:srgbClr val="267F9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lang="en" sz="1000">
                <a:solidFill>
                  <a:srgbClr val="267F9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atan2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(),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));    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hypot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(),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));    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/>
          </a:p>
        </p:txBody>
      </p:sp>
      <p:sp>
        <p:nvSpPr>
          <p:cNvPr id="244" name="Google Shape;244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command method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mutation method that makes a complex change to an object's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multiplyWith(other: Coordinate): void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make, handle, execute, perform, </a:t>
            </a:r>
            <a:r>
              <a:rPr lang="en"/>
              <a:t>...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Prefix + descriptive term about the action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Method</a:t>
            </a:r>
            <a:endParaRPr/>
          </a:p>
        </p:txBody>
      </p:sp>
      <p:sp>
        <p:nvSpPr>
          <p:cNvPr id="251" name="Google Shape;251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</a:t>
            </a:r>
            <a:r>
              <a:rPr lang="en"/>
              <a:t> Method Examples</a:t>
            </a:r>
            <a:endParaRPr/>
          </a:p>
        </p:txBody>
      </p:sp>
      <p:sp>
        <p:nvSpPr>
          <p:cNvPr id="257" name="Google Shape;257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multiplyWith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258" name="Google Shape;258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Remove vs. Delete</a:t>
            </a:r>
            <a:endParaRPr/>
          </a:p>
        </p:txBody>
      </p:sp>
      <p:sp>
        <p:nvSpPr>
          <p:cNvPr id="264" name="Google Shape;264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remove command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Removes an element from its context, but does not delete 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delete command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Deletes the element, invalidating any other references</a:t>
            </a:r>
            <a:endParaRPr/>
          </a:p>
        </p:txBody>
      </p:sp>
      <p:sp>
        <p:nvSpPr>
          <p:cNvPr id="265" name="Google Shape;265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Initialization Method</a:t>
            </a:r>
            <a:endParaRPr/>
          </a:p>
        </p:txBody>
      </p:sp>
      <p:sp>
        <p:nvSpPr>
          <p:cNvPr id="271" name="Google Shape;271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initialization method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mutation</a:t>
            </a:r>
            <a:r>
              <a:rPr lang="en"/>
              <a:t> method that sets some or all of the state of an object at once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initialize(x: number, y: number): void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init, initialize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Prefix + the part of the object being initialized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Initialization</a:t>
            </a:r>
            <a:r>
              <a:rPr lang="en"/>
              <a:t> Method Example</a:t>
            </a:r>
            <a:endParaRPr/>
          </a:p>
        </p:txBody>
      </p:sp>
      <p:sp>
        <p:nvSpPr>
          <p:cNvPr id="278" name="Google Shape;278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initialize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?: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?: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lang="en" sz="1000">
                <a:solidFill>
                  <a:srgbClr val="267F9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!=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undefined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!=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undefined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0000FF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79" name="Google Shape;279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2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Helper Methods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Creation Methods</a:t>
            </a:r>
            <a:endParaRPr/>
          </a:p>
        </p:txBody>
      </p:sp>
      <p:sp>
        <p:nvSpPr>
          <p:cNvPr id="290" name="Google Shape;290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object creation method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helper method </a:t>
            </a:r>
            <a:r>
              <a:rPr lang="en"/>
              <a:t>that creates an object and returns 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factory method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object creation method that creates an object by naming the 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cloning method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object creation method that creates an object by cloning an object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trader (also: trading) method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object creation method that creates an object from a specification</a:t>
            </a:r>
            <a:endParaRPr/>
          </a:p>
        </p:txBody>
      </p:sp>
      <p:sp>
        <p:nvSpPr>
          <p:cNvPr id="291" name="Google Shape;291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Factory Method</a:t>
            </a:r>
            <a:endParaRPr/>
          </a:p>
        </p:txBody>
      </p:sp>
      <p:sp>
        <p:nvSpPr>
          <p:cNvPr id="297" name="Google Shape;297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factory method method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object creation method that creates an object by naming the 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createCoordinate(x: number, y: number): Coordinate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create (also: new, make)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Prefix + some identification for the new object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Factory Method Example</a:t>
            </a:r>
            <a:endParaRPr/>
          </a:p>
        </p:txBody>
      </p:sp>
      <p:sp>
        <p:nvSpPr>
          <p:cNvPr id="304" name="Google Shape;304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createOrigin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 </a:t>
            </a:r>
            <a:endParaRPr sz="1000"/>
          </a:p>
        </p:txBody>
      </p:sp>
      <p:sp>
        <p:nvSpPr>
          <p:cNvPr id="305" name="Google Shape;305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vs. Ensure</a:t>
            </a:r>
            <a:endParaRPr/>
          </a:p>
        </p:txBody>
      </p:sp>
      <p:sp>
        <p:nvSpPr>
          <p:cNvPr id="311" name="Google Shape;311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create </a:t>
            </a:r>
            <a:r>
              <a:rPr lang="en"/>
              <a:t>command</a:t>
            </a:r>
            <a:r>
              <a:rPr lang="en"/>
              <a:t> guarantees a new object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createLocationCoordinate(): Coordinate;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 </a:t>
            </a:r>
            <a:r>
              <a:rPr b="1" lang="en"/>
              <a:t>ensure </a:t>
            </a:r>
            <a:r>
              <a:rPr lang="en"/>
              <a:t>command</a:t>
            </a:r>
            <a:r>
              <a:rPr lang="en"/>
              <a:t> guarantees a specific cardinality of the requested object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ensureLocationCoordinate(): Coordinate;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Create creates, ensure may or may not create a new object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4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Cloning Method Example</a:t>
            </a:r>
            <a:endParaRPr/>
          </a:p>
        </p:txBody>
      </p:sp>
      <p:sp>
        <p:nvSpPr>
          <p:cNvPr id="318" name="Google Shape;318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interface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Cloneable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clone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Object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clone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0000FF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};</a:t>
            </a:r>
            <a:endParaRPr sz="1000">
              <a:solidFill>
                <a:srgbClr val="3B3B3B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0000FF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9" name="Google Shape;319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Shallow</a:t>
            </a:r>
            <a:r>
              <a:rPr lang="en"/>
              <a:t> vs. Deep Cloning</a:t>
            </a:r>
            <a:endParaRPr/>
          </a:p>
        </p:txBody>
      </p:sp>
      <p:sp>
        <p:nvSpPr>
          <p:cNvPr id="325" name="Google Shape;325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shallow clone of an object is a clone with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attribute values being identical between original and clone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object references pointing to the originally referenced objects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deep clone of an object is a clone with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attribute values being identical between original and clone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referenced but not owned objects pointing to their originals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owned / composed objects being deep clones of the originals</a:t>
            </a:r>
            <a:endParaRPr/>
          </a:p>
        </p:txBody>
      </p:sp>
      <p:sp>
        <p:nvSpPr>
          <p:cNvPr id="326" name="Google Shape;326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Assertion Method</a:t>
            </a:r>
            <a:endParaRPr/>
          </a:p>
        </p:txBody>
      </p:sp>
      <p:sp>
        <p:nvSpPr>
          <p:cNvPr id="332" name="Google Shape;332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assertion method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helper method that asserts a condition holds or throws an exception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assertIsValidPhi(phi: number): void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assert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Prefix + condition being asserted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Assertion Method Example</a:t>
            </a:r>
            <a:endParaRPr/>
          </a:p>
        </p:txBody>
      </p:sp>
      <p:sp>
        <p:nvSpPr>
          <p:cNvPr id="339" name="Google Shape;339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assertIsNotNullOrUndefined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0000FF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||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throw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RangeError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"Invalid phi value"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assertIsNotNullOrUndefined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Object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null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||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undefined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throw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RangeError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"Value is null or undefined"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40" name="Google Shape;340;p5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Method Properties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Method Properties</a:t>
            </a:r>
            <a:endParaRPr/>
          </a:p>
        </p:txBody>
      </p:sp>
      <p:sp>
        <p:nvSpPr>
          <p:cNvPr id="351" name="Google Shape;351;p5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method property describes a particular property of a method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Method properties fall into different method property categories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method may only have one property from any one category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Like method types, method properties have naming conventions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5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 Categories of Method Properties</a:t>
            </a:r>
            <a:endParaRPr/>
          </a:p>
        </p:txBody>
      </p:sp>
      <p:sp>
        <p:nvSpPr>
          <p:cNvPr id="358" name="Google Shape;358;p5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Method implementation properties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properties of a method implementation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Inheritance interface properties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properties of the inheritance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Convenience method properties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about making programming easier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Method meta-level properties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about the method level (class, instance)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Method visibility properties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about </a:t>
            </a:r>
            <a:r>
              <a:rPr lang="en"/>
              <a:t>visibility</a:t>
            </a:r>
            <a:r>
              <a:rPr lang="en"/>
              <a:t> (public, </a:t>
            </a:r>
            <a:r>
              <a:rPr lang="en"/>
              <a:t>protected, ...)</a:t>
            </a:r>
            <a:endParaRPr/>
          </a:p>
        </p:txBody>
      </p:sp>
      <p:sp>
        <p:nvSpPr>
          <p:cNvPr id="359" name="Google Shape;359;p5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Classification of Method Properties</a:t>
            </a:r>
            <a:endParaRPr/>
          </a:p>
        </p:txBody>
      </p:sp>
      <p:sp>
        <p:nvSpPr>
          <p:cNvPr id="365" name="Google Shape;365;p5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366" name="Google Shape;366;p54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{E1569D09-A4F2-419A-BF9A-66A570F4F6D9}</a:tableStyleId>
              </a:tblPr>
              <a:tblGrid>
                <a:gridCol w="2865125"/>
                <a:gridCol w="2865125"/>
                <a:gridCol w="2865125"/>
              </a:tblGrid>
              <a:tr h="5486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Method implementation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Inheritance interface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Convenience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Regular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Regular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General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Composing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Template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Constructor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Primitive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Hook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Default value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Null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Abstract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Finalizer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...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...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...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Extended Coordinate Example</a:t>
            </a:r>
            <a:endParaRPr/>
          </a:p>
        </p:txBody>
      </p:sp>
      <p:sp>
        <p:nvSpPr>
          <p:cNvPr id="372" name="Google Shape;372;p5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373" name="Google Shape;373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Coordinate Interface</a:t>
            </a:r>
            <a:endParaRPr/>
          </a:p>
        </p:txBody>
      </p:sp>
      <p:sp>
        <p:nvSpPr>
          <p:cNvPr id="379" name="Google Shape;379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Equality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"./Equality"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Cloneable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"./Cloneable"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interface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extends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Equality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Cloneable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reset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calcStraightLineDistance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calcGreatCircleDistance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380" name="Google Shape;380;p5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7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Method </a:t>
            </a:r>
            <a:r>
              <a:rPr lang="en"/>
              <a:t>Implementation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5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regular method is (just)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method that performs some task, for which it usually relies on further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initialize(x?: number, y?: number): void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 specifically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 specifically</a:t>
            </a:r>
            <a:endParaRPr/>
          </a:p>
        </p:txBody>
      </p:sp>
      <p:sp>
        <p:nvSpPr>
          <p:cNvPr id="391" name="Google Shape;391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</a:t>
            </a:r>
            <a:r>
              <a:rPr lang="en"/>
              <a:t> Method</a:t>
            </a:r>
            <a:endParaRPr/>
          </a:p>
        </p:txBody>
      </p:sp>
      <p:sp>
        <p:nvSpPr>
          <p:cNvPr id="392" name="Google Shape;392;p5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5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Method Examples</a:t>
            </a:r>
            <a:endParaRPr/>
          </a:p>
        </p:txBody>
      </p:sp>
      <p:sp>
        <p:nvSpPr>
          <p:cNvPr id="398" name="Google Shape;398;p5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99" name="Google Shape;399;p5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isEqual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&amp;&amp;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calcStraightLineDistance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deltaX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deltaY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other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hypot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deltaX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deltaY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6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Composing Method</a:t>
            </a:r>
            <a:endParaRPr/>
          </a:p>
        </p:txBody>
      </p:sp>
      <p:sp>
        <p:nvSpPr>
          <p:cNvPr id="405" name="Google Shape;405;p6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composing method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method that organizes a task into several subtasks as a linear succession of method calls to other regular or primitive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initialize(x?: number, y?: number): void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 specifically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Adapted from Beck (1997)</a:t>
            </a:r>
            <a:endParaRPr/>
          </a:p>
        </p:txBody>
      </p:sp>
      <p:sp>
        <p:nvSpPr>
          <p:cNvPr id="406" name="Google Shape;406;p6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6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Composing Method Example</a:t>
            </a:r>
            <a:endParaRPr/>
          </a:p>
        </p:txBody>
      </p:sp>
      <p:sp>
        <p:nvSpPr>
          <p:cNvPr id="412" name="Google Shape;412;p6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initialize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?: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?: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!=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undefined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!=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undefined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413" name="Google Shape;413;p6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6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Primitive</a:t>
            </a:r>
            <a:r>
              <a:rPr lang="en"/>
              <a:t> Method</a:t>
            </a:r>
            <a:endParaRPr/>
          </a:p>
        </p:txBody>
      </p:sp>
      <p:sp>
        <p:nvSpPr>
          <p:cNvPr id="419" name="Google Shape;419;p6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primitive method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</a:t>
            </a:r>
            <a:r>
              <a:rPr lang="en"/>
              <a:t>method that carries out one specific task, usually by directly engaging the object’s implementation state; it does not use any non-primitive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doSetX(x: number): void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do, basic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Prefix + name of the logical or implementation state</a:t>
            </a:r>
            <a:endParaRPr/>
          </a:p>
        </p:txBody>
      </p:sp>
      <p:sp>
        <p:nvSpPr>
          <p:cNvPr id="420" name="Google Shape;420;p6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6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Primitive Method Example</a:t>
            </a:r>
            <a:endParaRPr/>
          </a:p>
        </p:txBody>
      </p:sp>
      <p:sp>
        <p:nvSpPr>
          <p:cNvPr id="426" name="Google Shape;426;p6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assertIsNotNullOrUndefined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assertIsNotNullOrUndefined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hypot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(),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    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/>
          </a:p>
        </p:txBody>
      </p:sp>
      <p:sp>
        <p:nvSpPr>
          <p:cNvPr id="427" name="Google Shape;427;p6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Null Method</a:t>
            </a:r>
            <a:endParaRPr/>
          </a:p>
        </p:txBody>
      </p:sp>
      <p:sp>
        <p:nvSpPr>
          <p:cNvPr id="433" name="Google Shape;433;p6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null method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method with an empty implementation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Template Method example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 specifically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 specifically</a:t>
            </a:r>
            <a:endParaRPr/>
          </a:p>
        </p:txBody>
      </p:sp>
      <p:sp>
        <p:nvSpPr>
          <p:cNvPr id="434" name="Google Shape;434;p6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5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Inheritance Properties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6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Template</a:t>
            </a:r>
            <a:r>
              <a:rPr lang="en"/>
              <a:t> Method</a:t>
            </a:r>
            <a:endParaRPr/>
          </a:p>
        </p:txBody>
      </p:sp>
      <p:sp>
        <p:nvSpPr>
          <p:cNvPr id="445" name="Google Shape;445;p6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template method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</a:t>
            </a:r>
            <a:r>
              <a:rPr lang="en"/>
              <a:t> method that defines an algorithmic skeleton by breaking a task into subtasks the implementation of which is delegated to subclasses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Main.run()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 specifically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Taken from Gamma et al. (1995)</a:t>
            </a:r>
            <a:endParaRPr/>
          </a:p>
        </p:txBody>
      </p:sp>
      <p:sp>
        <p:nvSpPr>
          <p:cNvPr id="446" name="Google Shape;446;p6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6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Template Method Example</a:t>
            </a:r>
            <a:endParaRPr/>
          </a:p>
        </p:txBody>
      </p:sp>
      <p:sp>
        <p:nvSpPr>
          <p:cNvPr id="452" name="Google Shape;452;p6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run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parseArgs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initialize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execute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finalize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parseArgs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nothing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initialize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nothing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execute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nothing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finalize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nothing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53" name="Google Shape;453;p6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6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Hook</a:t>
            </a:r>
            <a:r>
              <a:rPr lang="en"/>
              <a:t> Method</a:t>
            </a:r>
            <a:endParaRPr/>
          </a:p>
        </p:txBody>
      </p:sp>
      <p:sp>
        <p:nvSpPr>
          <p:cNvPr id="459" name="Google Shape;459;p6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hook method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</a:t>
            </a:r>
            <a:r>
              <a:rPr lang="en"/>
              <a:t> method that declares a well-defined task for overriding through subclasses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Main.parseArgs / initialize / execute / finalize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 specifically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 specifically </a:t>
            </a:r>
            <a:endParaRPr/>
          </a:p>
        </p:txBody>
      </p:sp>
      <p:sp>
        <p:nvSpPr>
          <p:cNvPr id="460" name="Google Shape;460;p6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6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8. Convenience Methods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7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Convenience</a:t>
            </a:r>
            <a:r>
              <a:rPr lang="en"/>
              <a:t> Method</a:t>
            </a:r>
            <a:endParaRPr/>
          </a:p>
        </p:txBody>
      </p:sp>
      <p:sp>
        <p:nvSpPr>
          <p:cNvPr id="471" name="Google Shape;471;p7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convenience method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</a:t>
            </a:r>
            <a:r>
              <a:rPr lang="en"/>
              <a:t> method that simplifies the use of another, more complicated method by providing a simpler signature and by using default arguments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reset(): void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 specifically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 specifically </a:t>
            </a:r>
            <a:endParaRPr/>
          </a:p>
        </p:txBody>
      </p:sp>
      <p:sp>
        <p:nvSpPr>
          <p:cNvPr id="472" name="Google Shape;472;p7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7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Convenience</a:t>
            </a:r>
            <a:r>
              <a:rPr lang="en"/>
              <a:t> Method Example</a:t>
            </a:r>
            <a:endParaRPr/>
          </a:p>
        </p:txBody>
      </p:sp>
      <p:sp>
        <p:nvSpPr>
          <p:cNvPr id="478" name="Google Shape;478;p7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reset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initialize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79" name="Google Shape;479;p7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7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Default-Value</a:t>
            </a:r>
            <a:r>
              <a:rPr lang="en"/>
              <a:t> Method</a:t>
            </a:r>
            <a:endParaRPr/>
          </a:p>
        </p:txBody>
      </p:sp>
      <p:sp>
        <p:nvSpPr>
          <p:cNvPr id="485" name="Google Shape;485;p7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default-value method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default-value method is a method that returns a single predefined value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static getOrigin(): Coordinate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Prefixes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 specifically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Naming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 specifically, but typically also a getter</a:t>
            </a:r>
            <a:endParaRPr/>
          </a:p>
        </p:txBody>
      </p:sp>
      <p:sp>
        <p:nvSpPr>
          <p:cNvPr id="486" name="Google Shape;486;p7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7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Default-Value</a:t>
            </a:r>
            <a:r>
              <a:rPr lang="en"/>
              <a:t> Method Example</a:t>
            </a:r>
            <a:endParaRPr/>
          </a:p>
        </p:txBody>
      </p:sp>
      <p:sp>
        <p:nvSpPr>
          <p:cNvPr id="492" name="Google Shape;492;p7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static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getOrigin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5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93" name="Google Shape;493;p7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7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9. Design Guidelines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 Method Purpose Rule</a:t>
            </a:r>
            <a:endParaRPr/>
          </a:p>
        </p:txBody>
      </p:sp>
      <p:sp>
        <p:nvSpPr>
          <p:cNvPr id="504" name="Google Shape;504;p7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Single method purpose rule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method should have one purpose only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Benefits of single-purpose rule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Makes methods easier to understand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Makes overriding methods easier</a:t>
            </a:r>
            <a:endParaRPr/>
          </a:p>
        </p:txBody>
      </p:sp>
      <p:sp>
        <p:nvSpPr>
          <p:cNvPr id="505" name="Google Shape;505;p7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7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Well-known idioms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Increment and return value (iteration)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Technical requirements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Test and set value (c</a:t>
            </a:r>
            <a:r>
              <a:rPr lang="en"/>
              <a:t>ritical sections)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Lazy initialization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7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Exceptions to Single Purpose Rule</a:t>
            </a:r>
            <a:endParaRPr/>
          </a:p>
        </p:txBody>
      </p:sp>
      <p:sp>
        <p:nvSpPr>
          <p:cNvPr id="512" name="Google Shape;512;p7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7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Documenting Method Types and Properties</a:t>
            </a:r>
            <a:endParaRPr/>
          </a:p>
        </p:txBody>
      </p:sp>
      <p:sp>
        <p:nvSpPr>
          <p:cNvPr id="518" name="Google Shape;518;p7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Use annotations</a:t>
            </a:r>
            <a:endParaRPr/>
          </a:p>
        </p:txBody>
      </p:sp>
      <p:sp>
        <p:nvSpPr>
          <p:cNvPr id="519" name="Google Shape;519;p7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7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525" name="Google Shape;525;p7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Method types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Query methods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Mutation methods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Helper methods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Method properties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Implementation related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Inheritance related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Convenience methods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guidelines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7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532" name="Google Shape;532;p7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8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538" name="Google Shape;538;p8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539" name="Google Shape;539;p8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