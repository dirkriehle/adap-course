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8DC0C47-B02E-412E-A142-2C4A60B22656}">
  <a:tblStyle styleId="{48DC0C47-B02E-412E-A142-2C4A60B2265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31" Type="http://schemas.openxmlformats.org/officeDocument/2006/relationships/slide" Target="slides/slide25.xml"/><Relationship Id="rId75" Type="http://schemas.openxmlformats.org/officeDocument/2006/relationships/slide" Target="slides/slide69.xml"/><Relationship Id="rId30" Type="http://schemas.openxmlformats.org/officeDocument/2006/relationships/slide" Target="slides/slide24.xml"/><Relationship Id="rId74" Type="http://schemas.openxmlformats.org/officeDocument/2006/relationships/slide" Target="slides/slide68.xml"/><Relationship Id="rId33" Type="http://schemas.openxmlformats.org/officeDocument/2006/relationships/slide" Target="slides/slide27.xml"/><Relationship Id="rId77" Type="http://schemas.openxmlformats.org/officeDocument/2006/relationships/slide" Target="slides/slide71.xml"/><Relationship Id="rId32" Type="http://schemas.openxmlformats.org/officeDocument/2006/relationships/slide" Target="slides/slide26.xml"/><Relationship Id="rId76" Type="http://schemas.openxmlformats.org/officeDocument/2006/relationships/slide" Target="slides/slide70.xml"/><Relationship Id="rId35" Type="http://schemas.openxmlformats.org/officeDocument/2006/relationships/slide" Target="slides/slide29.xml"/><Relationship Id="rId79" Type="http://schemas.openxmlformats.org/officeDocument/2006/relationships/slide" Target="slides/slide73.xml"/><Relationship Id="rId34" Type="http://schemas.openxmlformats.org/officeDocument/2006/relationships/slide" Target="slides/slide28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slide" Target="slides/slide60.xml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68" Type="http://schemas.openxmlformats.org/officeDocument/2006/relationships/slide" Target="slides/slide62.xml"/><Relationship Id="rId23" Type="http://schemas.openxmlformats.org/officeDocument/2006/relationships/slide" Target="slides/slide17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slide" Target="slides/slide63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2fe02fb2826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" name="Google Shape;49;g2fe02fb2826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2fe02fb2826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2fe02fb2826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2fe79c80a4c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2fe79c80a4c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fe02fb2826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fe02fb2826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fe02fb2826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2fe02fb2826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fe02fb2826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2fe02fb2826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2fe02fb2826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2fe02fb2826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fe02fb2826_0_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2fe02fb2826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fe02fb2826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fe02fb2826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0266cfaaa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0266cfaaa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fe02fb2826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2fe02fb2826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fe02fb2826_0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2fe02fb2826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fe02fb2826_0_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2fe02fb2826_0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9b7a217ebd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9b7a217ebd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0cf89ee481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0cf89ee481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fe02fb2826_0_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2fe02fb2826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fe02fb2826_0_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fe02fb2826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2fe02fb2826_0_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2fe02fb2826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8991cfcc5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28991cfcc5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fe02fb2826_0_2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2fe02fb2826_0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8991cfcc57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28991cfcc57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fe02fb2826_0_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2fe02fb2826_0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fe02fb2826_0_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2fe02fb2826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2fe02fb2826_0_2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2fe02fb2826_0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28991cfcc57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28991cfcc57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28991cfcc57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28991cfcc57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2fe02fb2826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2fe02fb2826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2fe6637e8c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2fe6637e8c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2fe6637e8c0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2fe6637e8c0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fe6637e8c0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2fe6637e8c0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2fe6637e8c0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2fe6637e8c0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2d434a3b5e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2d434a3b5e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2fe6637e8c0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2fe6637e8c0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2fe6637e8c0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2fe6637e8c0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2fe02fb2826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2fe02fb2826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2fe6637e8c0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2fe6637e8c0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2fe6637e8c0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2fe6637e8c0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28991cfcc57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28991cfcc57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2fe6637e8c0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2fe6637e8c0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2fe6637e8c0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2fe6637e8c0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2fe6637e8c0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2fe6637e8c0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2fe6637e8c0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2fe6637e8c0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2fe6637e8c0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2fe6637e8c0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2fe02fb2826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2fe02fb2826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2fe79c80a4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2fe79c80a4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2fe79c80a4c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2fe79c80a4c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2fe79c80a4c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2fe79c80a4c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2fe79c80a4c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2fe79c80a4c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28991cfcc57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28991cfcc57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2fe02fb2826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2fe02fb2826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2fe79c80a4c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2fe79c80a4c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2fe79c80a4c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2fe79c80a4c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2fe79c80a4c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2fe79c80a4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2fe79c80a4c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2fe79c80a4c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2fe79c80a4c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2fe79c80a4c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2fe79c80a4c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2fe79c80a4c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30cc470a800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0" name="Google Shape;430;g30cc470a800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2fe02fb2826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2fe02fb2826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2fe79c80a4c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g2fe79c80a4c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2fe79c80a4c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2fe79c80a4c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2fe79c80a4c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2fe79c80a4c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2fe02fb2826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g2fe02fb2826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2fe79c80a4c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2fe79c80a4c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2fe79c80a4c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2fe79c80a4c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2fe79c80a4c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2fe79c80a4c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2fe79c80a4c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9" name="Google Shape;489;g2fe79c80a4c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2fe02fb2826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g2fe02fb2826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2fe79c80a4c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g2fe79c80a4c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2fe79c80a4c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g2fe79c80a4c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2fe79c80a4c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5" name="Google Shape;515;g2fe79c80a4c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2fe02fb2826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2" name="Google Shape;522;g2fe02fb2826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2fe02fb2826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9" name="Google Shape;529;g2fe02fb2826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2fe02fb2826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5" name="Google Shape;535;g2fe02fb2826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oss.cs.fau.de" TargetMode="Externa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oss.cs.fau.de" TargetMode="Externa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oss.cs.fau.de" TargetMode="Externa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0" y="0"/>
            <a:ext cx="9144000" cy="2388900"/>
          </a:xfrm>
          <a:prstGeom prst="rect">
            <a:avLst/>
          </a:prstGeom>
          <a:noFill/>
        </p:spPr>
        <p:txBody>
          <a:bodyPr anchorCtr="0" anchor="b" bIns="27430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0" y="2569475"/>
            <a:ext cx="9144000" cy="2574000"/>
          </a:xfrm>
          <a:prstGeom prst="rect">
            <a:avLst/>
          </a:prstGeom>
        </p:spPr>
        <p:txBody>
          <a:bodyPr anchorCtr="0" anchor="t" bIns="91425" lIns="91425" spcFirstLastPara="1" rIns="91425" wrap="square" tIns="27430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grpSp>
        <p:nvGrpSpPr>
          <p:cNvPr id="12" name="Google Shape;12;p2"/>
          <p:cNvGrpSpPr/>
          <p:nvPr/>
        </p:nvGrpSpPr>
        <p:grpSpPr>
          <a:xfrm>
            <a:off x="0" y="2388810"/>
            <a:ext cx="9144000" cy="183000"/>
            <a:chOff x="0" y="2388810"/>
            <a:chExt cx="9144000" cy="183000"/>
          </a:xfrm>
        </p:grpSpPr>
        <p:sp>
          <p:nvSpPr>
            <p:cNvPr id="13" name="Google Shape;13;p2"/>
            <p:cNvSpPr/>
            <p:nvPr/>
          </p:nvSpPr>
          <p:spPr>
            <a:xfrm>
              <a:off x="0" y="2388810"/>
              <a:ext cx="914400" cy="183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914400" y="2388810"/>
              <a:ext cx="1828800" cy="183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2743200" y="2388810"/>
              <a:ext cx="6400800" cy="183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grpSp>
        <p:nvGrpSpPr>
          <p:cNvPr id="18" name="Google Shape;18;p3"/>
          <p:cNvGrpSpPr/>
          <p:nvPr/>
        </p:nvGrpSpPr>
        <p:grpSpPr>
          <a:xfrm>
            <a:off x="0" y="2432304"/>
            <a:ext cx="9144000" cy="91500"/>
            <a:chOff x="0" y="2386584"/>
            <a:chExt cx="9144000" cy="91500"/>
          </a:xfrm>
        </p:grpSpPr>
        <p:sp>
          <p:nvSpPr>
            <p:cNvPr id="19" name="Google Shape;19;p3"/>
            <p:cNvSpPr/>
            <p:nvPr/>
          </p:nvSpPr>
          <p:spPr>
            <a:xfrm>
              <a:off x="0" y="2386584"/>
              <a:ext cx="914400" cy="91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>
              <a:off x="914400" y="2386584"/>
              <a:ext cx="1828800" cy="91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3"/>
            <p:cNvSpPr/>
            <p:nvPr/>
          </p:nvSpPr>
          <p:spPr>
            <a:xfrm>
              <a:off x="2743200" y="2386584"/>
              <a:ext cx="6400800" cy="91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2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grpSp>
        <p:nvGrpSpPr>
          <p:cNvPr id="26" name="Google Shape;26;p4"/>
          <p:cNvGrpSpPr/>
          <p:nvPr/>
        </p:nvGrpSpPr>
        <p:grpSpPr>
          <a:xfrm>
            <a:off x="0" y="685800"/>
            <a:ext cx="9144000" cy="91500"/>
            <a:chOff x="0" y="2386584"/>
            <a:chExt cx="9144000" cy="91500"/>
          </a:xfrm>
        </p:grpSpPr>
        <p:sp>
          <p:nvSpPr>
            <p:cNvPr id="27" name="Google Shape;27;p4"/>
            <p:cNvSpPr/>
            <p:nvPr/>
          </p:nvSpPr>
          <p:spPr>
            <a:xfrm>
              <a:off x="0" y="2386584"/>
              <a:ext cx="914400" cy="91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4"/>
            <p:cNvSpPr/>
            <p:nvPr/>
          </p:nvSpPr>
          <p:spPr>
            <a:xfrm>
              <a:off x="914400" y="2386584"/>
              <a:ext cx="1828800" cy="91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4"/>
            <p:cNvSpPr/>
            <p:nvPr/>
          </p:nvSpPr>
          <p:spPr>
            <a:xfrm>
              <a:off x="2743200" y="2386584"/>
              <a:ext cx="6400800" cy="91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  <a:ln>
            <a:noFill/>
          </a:ln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274320" y="914400"/>
            <a:ext cx="4114800" cy="4114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46320" y="914400"/>
            <a:ext cx="41148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900" u="sng">
                <a:solidFill>
                  <a:schemeClr val="hlink"/>
                </a:solidFill>
                <a:hlinkClick r:id="rId2"/>
              </a:rPr>
              <a:t>https://oss.cs.fau.de</a:t>
            </a:r>
            <a:endParaRPr>
              <a:solidFill>
                <a:schemeClr val="dk2"/>
              </a:solidFill>
            </a:endParaRPr>
          </a:p>
        </p:txBody>
      </p:sp>
      <p:grpSp>
        <p:nvGrpSpPr>
          <p:cNvPr id="35" name="Google Shape;35;p5"/>
          <p:cNvGrpSpPr/>
          <p:nvPr/>
        </p:nvGrpSpPr>
        <p:grpSpPr>
          <a:xfrm>
            <a:off x="0" y="685800"/>
            <a:ext cx="9144000" cy="91500"/>
            <a:chOff x="0" y="2386584"/>
            <a:chExt cx="9144000" cy="91500"/>
          </a:xfrm>
        </p:grpSpPr>
        <p:sp>
          <p:nvSpPr>
            <p:cNvPr id="36" name="Google Shape;36;p5"/>
            <p:cNvSpPr/>
            <p:nvPr/>
          </p:nvSpPr>
          <p:spPr>
            <a:xfrm>
              <a:off x="0" y="2386584"/>
              <a:ext cx="914400" cy="91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5"/>
            <p:cNvSpPr/>
            <p:nvPr/>
          </p:nvSpPr>
          <p:spPr>
            <a:xfrm>
              <a:off x="914400" y="2386584"/>
              <a:ext cx="1828800" cy="91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5"/>
            <p:cNvSpPr/>
            <p:nvPr/>
          </p:nvSpPr>
          <p:spPr>
            <a:xfrm>
              <a:off x="2743200" y="2386584"/>
              <a:ext cx="6400800" cy="91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2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>
              <a:solidFill>
                <a:schemeClr val="dk2"/>
              </a:solidFill>
            </a:endParaRPr>
          </a:p>
        </p:txBody>
      </p:sp>
      <p:grpSp>
        <p:nvGrpSpPr>
          <p:cNvPr id="42" name="Google Shape;42;p6"/>
          <p:cNvGrpSpPr/>
          <p:nvPr/>
        </p:nvGrpSpPr>
        <p:grpSpPr>
          <a:xfrm>
            <a:off x="0" y="685800"/>
            <a:ext cx="9144000" cy="91500"/>
            <a:chOff x="0" y="2386584"/>
            <a:chExt cx="9144000" cy="91500"/>
          </a:xfrm>
        </p:grpSpPr>
        <p:sp>
          <p:nvSpPr>
            <p:cNvPr id="43" name="Google Shape;43;p6"/>
            <p:cNvSpPr/>
            <p:nvPr/>
          </p:nvSpPr>
          <p:spPr>
            <a:xfrm>
              <a:off x="0" y="2386584"/>
              <a:ext cx="914400" cy="91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>
              <a:off x="914400" y="2386584"/>
              <a:ext cx="1828800" cy="91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6"/>
            <p:cNvSpPr/>
            <p:nvPr/>
          </p:nvSpPr>
          <p:spPr>
            <a:xfrm>
              <a:off x="2743200" y="2386584"/>
              <a:ext cx="6400800" cy="91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hyperlink" Target="https://oss.cs.fau.de" TargetMode="Externa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buNone/>
              <a:defRPr b="1" sz="2400">
                <a:solidFill>
                  <a:schemeClr val="dk2"/>
                </a:solidFill>
              </a:defRPr>
            </a:lvl1pPr>
            <a:lvl2pPr lvl="1" rtl="0" algn="r">
              <a:buNone/>
              <a:defRPr b="1" sz="2400">
                <a:solidFill>
                  <a:schemeClr val="dk2"/>
                </a:solidFill>
              </a:defRPr>
            </a:lvl2pPr>
            <a:lvl3pPr lvl="2" rtl="0" algn="r">
              <a:buNone/>
              <a:defRPr b="1" sz="2400">
                <a:solidFill>
                  <a:schemeClr val="dk2"/>
                </a:solidFill>
              </a:defRPr>
            </a:lvl3pPr>
            <a:lvl4pPr lvl="3" rtl="0" algn="r">
              <a:buNone/>
              <a:defRPr b="1" sz="2400">
                <a:solidFill>
                  <a:schemeClr val="dk2"/>
                </a:solidFill>
              </a:defRPr>
            </a:lvl4pPr>
            <a:lvl5pPr lvl="4" rtl="0" algn="r">
              <a:buNone/>
              <a:defRPr b="1" sz="2400">
                <a:solidFill>
                  <a:schemeClr val="dk2"/>
                </a:solidFill>
              </a:defRPr>
            </a:lvl5pPr>
            <a:lvl6pPr lvl="5" rtl="0" algn="r">
              <a:buNone/>
              <a:defRPr b="1" sz="2400">
                <a:solidFill>
                  <a:schemeClr val="dk2"/>
                </a:solidFill>
              </a:defRPr>
            </a:lvl6pPr>
            <a:lvl7pPr lvl="6" rtl="0" algn="r">
              <a:buNone/>
              <a:defRPr b="1" sz="2400">
                <a:solidFill>
                  <a:schemeClr val="dk2"/>
                </a:solidFill>
              </a:defRPr>
            </a:lvl7pPr>
            <a:lvl8pPr lvl="7" rtl="0" algn="r">
              <a:buNone/>
              <a:defRPr b="1" sz="2400">
                <a:solidFill>
                  <a:schemeClr val="dk2"/>
                </a:solidFill>
              </a:defRPr>
            </a:lvl8pPr>
            <a:lvl9pPr lvl="8" rtl="0" algn="r">
              <a:buNone/>
              <a:defRPr b="1" sz="24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1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://creativecommons.org/licenses/by/4.0/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oss.cs.fau.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oss.cs.fau.de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oss.cs.fau.de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oss.cs.fau.de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oss.cs.fau.de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oss.cs.fau.de" TargetMode="External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oss.cs.fau.de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oss.cs.fau.de" TargetMode="External"/><Relationship Id="rId4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oss.cs.fau.de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oss.cs.fau.de" TargetMode="External"/><Relationship Id="rId4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oss.cs.fau.de" TargetMode="External"/><Relationship Id="rId4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oss.cs.fau.de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oss.cs.fau.de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oss.cs.fau.de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oss.cs.fau.de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oss.cs.fau.de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oss.cs.fau.de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oss.cs.fau.de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oss.cs.fau.de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oss.cs.fau.de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oss.cs.fau.de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oss.cs.fau.de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oss.cs.fau.de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oss.cs.fau.de" TargetMode="Externa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oss.cs.fau.de" TargetMode="Externa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oss.cs.fau.de" TargetMode="Externa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s://oss.cs.fau.de" TargetMode="Externa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s://oss.cs.fau.de" TargetMode="Externa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hyperlink" Target="https://oss.cs.fau.de" TargetMode="Externa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hyperlink" Target="https://oss.cs.fau.de" TargetMode="Externa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hyperlink" Target="https://oss.cs.fau.de" TargetMode="Externa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hyperlink" Target="https://oss.cs.fau.de" TargetMode="Externa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hyperlink" Target="https://oss.cs.fau.de" TargetMode="Externa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hyperlink" Target="https://oss.cs.fau.de" TargetMode="Externa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hyperlink" Target="https://oss.cs.fau.de" TargetMode="Externa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hyperlink" Target="https://oss.cs.fau.de" TargetMode="Externa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hyperlink" Target="https://oss.cs.fau.de" TargetMode="Externa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hyperlink" Target="https://oss.cs.fau.de" TargetMode="Externa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hyperlink" Target="https://oss.cs.fau.de" TargetMode="Externa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hyperlink" Target="https://oss.cs.fau.de" TargetMode="Externa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hyperlink" Target="https://oss.cs.fau.de" TargetMode="Externa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hyperlink" Target="https://oss.cs.fau.de" TargetMode="External"/><Relationship Id="rId4" Type="http://schemas.openxmlformats.org/officeDocument/2006/relationships/image" Target="../media/image5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hyperlink" Target="https://oss.cs.fau.de" TargetMode="Externa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hyperlink" Target="https://oss.cs.fau.de" TargetMode="Externa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hyperlink" Target="https://oss.cs.fau.de" TargetMode="Externa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hyperlink" Target="https://oss.cs.fau.de" TargetMode="Externa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hyperlink" Target="https://oss.cs.fau.de" TargetMode="Externa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Relationship Id="rId3" Type="http://schemas.openxmlformats.org/officeDocument/2006/relationships/hyperlink" Target="https://oss.cs.fau.de" TargetMode="Externa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Relationship Id="rId3" Type="http://schemas.openxmlformats.org/officeDocument/2006/relationships/hyperlink" Target="https://oss.cs.fau.de" TargetMode="Externa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Relationship Id="rId3" Type="http://schemas.openxmlformats.org/officeDocument/2006/relationships/hyperlink" Target="https://oss.cs.fau.de" TargetMode="Externa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Relationship Id="rId3" Type="http://schemas.openxmlformats.org/officeDocument/2006/relationships/hyperlink" Target="https://oss.cs.fau.de" TargetMode="Externa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Relationship Id="rId3" Type="http://schemas.openxmlformats.org/officeDocument/2006/relationships/hyperlink" Target="https://oss.cs.fau.de" TargetMode="Externa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Relationship Id="rId3" Type="http://schemas.openxmlformats.org/officeDocument/2006/relationships/hyperlink" Target="https://oss.cs.fau.de" TargetMode="Externa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Relationship Id="rId3" Type="http://schemas.openxmlformats.org/officeDocument/2006/relationships/hyperlink" Target="https://oss.cs.fau.de" TargetMode="Externa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Relationship Id="rId3" Type="http://schemas.openxmlformats.org/officeDocument/2006/relationships/hyperlink" Target="https://oss.cs.fau.de" TargetMode="Externa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Relationship Id="rId3" Type="http://schemas.openxmlformats.org/officeDocument/2006/relationships/hyperlink" Target="https://oss.cs.fau.de" TargetMode="Externa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Relationship Id="rId3" Type="http://schemas.openxmlformats.org/officeDocument/2006/relationships/hyperlink" Target="https://oss.cs.fau.de" TargetMode="Externa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Relationship Id="rId3" Type="http://schemas.openxmlformats.org/officeDocument/2006/relationships/hyperlink" Target="https://oss.cs.fau.de" TargetMode="Externa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Relationship Id="rId3" Type="http://schemas.openxmlformats.org/officeDocument/2006/relationships/hyperlink" Target="https://oss.cs.fau.de" TargetMode="Externa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Relationship Id="rId3" Type="http://schemas.openxmlformats.org/officeDocument/2006/relationships/hyperlink" Target="https://oss.cs.fau.de" TargetMode="Externa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Relationship Id="rId3" Type="http://schemas.openxmlformats.org/officeDocument/2006/relationships/hyperlink" Target="https://oss.cs.fau.de" TargetMode="Externa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3" Type="http://schemas.openxmlformats.org/officeDocument/2006/relationships/hyperlink" Target="mailto:dirk.riehle@fau.de" TargetMode="External"/><Relationship Id="rId4" Type="http://schemas.openxmlformats.org/officeDocument/2006/relationships/hyperlink" Target="https://oss.cs.fau.de" TargetMode="External"/><Relationship Id="rId5" Type="http://schemas.openxmlformats.org/officeDocument/2006/relationships/hyperlink" Target="mailto:dirk@riehle.org" TargetMode="External"/><Relationship Id="rId6" Type="http://schemas.openxmlformats.org/officeDocument/2006/relationships/hyperlink" Target="https://dirkriehle.com" TargetMode="External"/><Relationship Id="rId7" Type="http://schemas.openxmlformats.org/officeDocument/2006/relationships/hyperlink" Target="https://twitter.com/dirkriehle" TargetMode="Externa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3.xml"/><Relationship Id="rId3" Type="http://schemas.openxmlformats.org/officeDocument/2006/relationships/hyperlink" Target="https://oss.cs.fau.de" TargetMode="External"/><Relationship Id="rId4" Type="http://schemas.openxmlformats.org/officeDocument/2006/relationships/hyperlink" Target="http://creativecommons.org/licenses/by/4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type="ctrTitle"/>
          </p:nvPr>
        </p:nvSpPr>
        <p:spPr>
          <a:xfrm>
            <a:off x="0" y="0"/>
            <a:ext cx="9144000" cy="23889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 Types and Properties</a:t>
            </a:r>
            <a:endParaRPr/>
          </a:p>
        </p:txBody>
      </p:sp>
      <p:sp>
        <p:nvSpPr>
          <p:cNvPr id="52" name="Google Shape;52;p8"/>
          <p:cNvSpPr txBox="1"/>
          <p:nvPr>
            <p:ph idx="1" type="subTitle"/>
          </p:nvPr>
        </p:nvSpPr>
        <p:spPr>
          <a:xfrm>
            <a:off x="0" y="2569475"/>
            <a:ext cx="9144000" cy="2574000"/>
          </a:xfrm>
          <a:prstGeom prst="rect">
            <a:avLst/>
          </a:prstGeom>
        </p:spPr>
        <p:txBody>
          <a:bodyPr anchorCtr="0" anchor="t" bIns="91425" lIns="91425" spcFirstLastPara="1" rIns="91425" wrap="square" tIns="274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Dirk Riehle, FAU Erlangen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ADAP B01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Licensed under </a:t>
            </a:r>
            <a:r>
              <a:rPr lang="en" sz="1800" u="sng">
                <a:solidFill>
                  <a:schemeClr val="hlink"/>
                </a:solidFill>
                <a:hlinkClick r:id="rId3"/>
              </a:rPr>
              <a:t>CC BY 4.0 International</a:t>
            </a:r>
            <a:endParaRPr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58" name="Google Shape;58;p9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Method types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Query methods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Mutation methods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Helper methods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Method properties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Implementation properties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Inheritance properties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Convenience methods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Design guidelines</a:t>
            </a:r>
            <a:endParaRPr/>
          </a:p>
        </p:txBody>
      </p:sp>
      <p:sp>
        <p:nvSpPr>
          <p:cNvPr id="59" name="Google Shape;59;p9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0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Professional Language</a:t>
            </a:r>
            <a:endParaRPr/>
          </a:p>
        </p:txBody>
      </p:sp>
      <p:sp>
        <p:nvSpPr>
          <p:cNvPr id="65" name="Google Shape;65;p10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become a proficient developer, you need to learn the language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Not just a programming language, but how developers talk about code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 of it can be found in textbooks, some cannot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 is always evolving so stay current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0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1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Method Types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2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 Types</a:t>
            </a:r>
            <a:endParaRPr/>
          </a:p>
        </p:txBody>
      </p:sp>
      <p:sp>
        <p:nvSpPr>
          <p:cNvPr id="77" name="Google Shape;77;p12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 method type classifies a method into a particular type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method type is indicative of the main purpose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method may have only one type, not many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(Also: A method should have one purpose)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2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3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Main Categories of Method Types</a:t>
            </a:r>
            <a:endParaRPr/>
          </a:p>
        </p:txBody>
      </p:sp>
      <p:sp>
        <p:nvSpPr>
          <p:cNvPr id="84" name="Google Shape;84;p13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Query methods are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Methods that return information about the object but don’t change its state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Mutation methods are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Methods that change the object’s state but don’t provide information back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Helper methods are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Methods that perform some utility function independent of the object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3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Classification of Method Types</a:t>
            </a:r>
            <a:endParaRPr/>
          </a:p>
        </p:txBody>
      </p:sp>
      <p:sp>
        <p:nvSpPr>
          <p:cNvPr id="91" name="Google Shape;91;p14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graphicFrame>
        <p:nvGraphicFramePr>
          <p:cNvPr id="92" name="Google Shape;92;p14"/>
          <p:cNvGraphicFramePr/>
          <p:nvPr/>
        </p:nvGraphicFramePr>
        <p:xfrm>
          <a:off x="274320" y="91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{48DC0C47-B02E-412E-A142-2C4A60B22656}</a:tableStyleId>
              </a:tblPr>
              <a:tblGrid>
                <a:gridCol w="2865125"/>
                <a:gridCol w="2865125"/>
                <a:gridCol w="2865125"/>
              </a:tblGrid>
              <a:tr h="54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Query methods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Mutation methods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Helper methods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Get method (getter)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Set method (setter)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Factory method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Boolean query method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Command method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Cloning method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Comparison method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Initialization method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Assertion method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Conversion method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Finalization method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Logging method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...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...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...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Cartesian Coordinates</a:t>
            </a:r>
            <a:endParaRPr/>
          </a:p>
        </p:txBody>
      </p:sp>
      <p:sp>
        <p:nvSpPr>
          <p:cNvPr id="98" name="Google Shape;98;p15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99" name="Google Shape;9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320" y="914400"/>
            <a:ext cx="8595360" cy="3502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Simple Class for Cartesian Coordinates</a:t>
            </a:r>
            <a:endParaRPr/>
          </a:p>
        </p:txBody>
      </p:sp>
      <p:sp>
        <p:nvSpPr>
          <p:cNvPr id="105" name="Google Shape;105;p16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export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Coordinate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private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number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private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number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constructor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?: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number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?: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number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{ 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}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isEqual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other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Coordinate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boolean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 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}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getX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number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 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}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setX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number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): </a:t>
            </a:r>
            <a:r>
              <a:rPr lang="en" sz="1000">
                <a:solidFill>
                  <a:srgbClr val="267F99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 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}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getY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number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 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}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setY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number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" sz="1000">
                <a:solidFill>
                  <a:srgbClr val="3B3B3B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1000">
                <a:solidFill>
                  <a:srgbClr val="267F99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" sz="1000">
                <a:solidFill>
                  <a:srgbClr val="3B3B3B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 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}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calcStraightLineDistance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other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Coordinate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number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 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}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/>
          </a:p>
        </p:txBody>
      </p:sp>
      <p:sp>
        <p:nvSpPr>
          <p:cNvPr id="106" name="Google Shape;106;p16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 Model of Cartesian Coordinate</a:t>
            </a:r>
            <a:endParaRPr/>
          </a:p>
        </p:txBody>
      </p:sp>
      <p:sp>
        <p:nvSpPr>
          <p:cNvPr id="112" name="Google Shape;112;p17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pic>
        <p:nvPicPr>
          <p:cNvPr id="113" name="Google Shape;113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320" y="914400"/>
            <a:ext cx="8595360" cy="3502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Query Methods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 Method (a.k.a. Getter)</a:t>
            </a:r>
            <a:endParaRPr/>
          </a:p>
        </p:txBody>
      </p:sp>
      <p:sp>
        <p:nvSpPr>
          <p:cNvPr id="124" name="Google Shape;124;p19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get method is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query method that returns a logical field of the queried object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getX(): number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Prefixes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get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Naming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Prefix + the name of the logical field</a:t>
            </a:r>
            <a:endParaRPr/>
          </a:p>
        </p:txBody>
      </p:sp>
      <p:sp>
        <p:nvSpPr>
          <p:cNvPr id="125" name="Google Shape;125;p19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0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Cartesian and Polar Coordinates</a:t>
            </a:r>
            <a:endParaRPr/>
          </a:p>
        </p:txBody>
      </p:sp>
      <p:sp>
        <p:nvSpPr>
          <p:cNvPr id="131" name="Google Shape;131;p20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pic>
        <p:nvPicPr>
          <p:cNvPr id="132" name="Google Shape;132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320" y="914400"/>
            <a:ext cx="8595360" cy="3502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Cartesian and Polar Coordinate Classes</a:t>
            </a:r>
            <a:endParaRPr/>
          </a:p>
        </p:txBody>
      </p:sp>
      <p:sp>
        <p:nvSpPr>
          <p:cNvPr id="138" name="Google Shape;138;p21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pic>
        <p:nvPicPr>
          <p:cNvPr id="139" name="Google Shape;139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320" y="914400"/>
            <a:ext cx="8595360" cy="3502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Logical state </a:t>
            </a:r>
            <a:r>
              <a:rPr lang="en"/>
              <a:t>(fields / attributes) </a:t>
            </a:r>
            <a:r>
              <a:rPr lang="en"/>
              <a:t>is visible in the interface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Technical [1] (“implementation”) state is the actual fields in memory</a:t>
            </a:r>
            <a:endParaRPr/>
          </a:p>
        </p:txBody>
      </p:sp>
      <p:sp>
        <p:nvSpPr>
          <p:cNvPr id="145" name="Google Shape;145;p22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Logical vs. Technical State</a:t>
            </a:r>
            <a:endParaRPr/>
          </a:p>
        </p:txBody>
      </p:sp>
      <p:sp>
        <p:nvSpPr>
          <p:cNvPr id="146" name="Google Shape;146;p22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sp>
        <p:nvSpPr>
          <p:cNvPr id="147" name="Google Shape;147;p22"/>
          <p:cNvSpPr txBox="1"/>
          <p:nvPr/>
        </p:nvSpPr>
        <p:spPr>
          <a:xfrm>
            <a:off x="0" y="4233672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[1] Also sometimes called physical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3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 Method Examples</a:t>
            </a:r>
            <a:endParaRPr/>
          </a:p>
        </p:txBody>
      </p:sp>
      <p:sp>
        <p:nvSpPr>
          <p:cNvPr id="153" name="Google Shape;153;p23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getX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" sz="10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number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getY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" sz="10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number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getR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" sz="10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number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Math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hypot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getX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(), </a:t>
            </a:r>
            <a:r>
              <a:rPr lang="en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getY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());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getPhi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" sz="10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number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Math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atan2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getY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(), </a:t>
            </a:r>
            <a:r>
              <a:rPr lang="en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getX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());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  <p:sp>
        <p:nvSpPr>
          <p:cNvPr id="154" name="Google Shape;154;p23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4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Boolean Query</a:t>
            </a:r>
            <a:r>
              <a:rPr lang="en"/>
              <a:t> Method</a:t>
            </a:r>
            <a:endParaRPr/>
          </a:p>
        </p:txBody>
      </p:sp>
      <p:sp>
        <p:nvSpPr>
          <p:cNvPr id="160" name="Google Shape;160;p24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boolean query method is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query method that returns boolean state about the queried object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isEqual(): boolean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Prefixes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Naming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Prefix + the name of the state</a:t>
            </a:r>
            <a:endParaRPr/>
          </a:p>
        </p:txBody>
      </p:sp>
      <p:sp>
        <p:nvSpPr>
          <p:cNvPr id="161" name="Google Shape;161;p24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5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Boolean Query Method Examples</a:t>
            </a:r>
            <a:endParaRPr/>
          </a:p>
        </p:txBody>
      </p:sp>
      <p:sp>
        <p:nvSpPr>
          <p:cNvPr id="167" name="Google Shape;167;p25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isEqual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other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Coordinate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boolean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getX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 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==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other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getX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()) 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&amp;&amp;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getY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 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==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other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getY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());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8" name="Google Shape;168;p25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6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Equality</a:t>
            </a:r>
            <a:endParaRPr/>
          </a:p>
        </p:txBody>
      </p:sp>
      <p:sp>
        <p:nvSpPr>
          <p:cNvPr id="174" name="Google Shape;174;p26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export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interface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Equality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isEqual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other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any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boolean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getHashCode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number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175" name="Google Shape;175;p26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7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Equality Contract</a:t>
            </a:r>
            <a:endParaRPr/>
          </a:p>
        </p:txBody>
      </p:sp>
      <p:sp>
        <p:nvSpPr>
          <p:cNvPr id="181" name="Google Shape;181;p27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Two equal objects must have the same hashcode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7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8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Equality Implementation</a:t>
            </a:r>
            <a:endParaRPr/>
          </a:p>
        </p:txBody>
      </p:sp>
      <p:sp>
        <p:nvSpPr>
          <p:cNvPr id="188" name="Google Shape;188;p28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isEqual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other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Coordinate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boolean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getX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 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==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other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getX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()) 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&amp;&amp;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getY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 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==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other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getY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());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getHashCode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number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hashCode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number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70C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asDataString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70C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0070C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length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++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70C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charCodeAt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hashCode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hashCode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&lt;&lt;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hashCode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hashCode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|=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hashCode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asDataString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getX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 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"#"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getY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/>
          </a:p>
        </p:txBody>
      </p:sp>
      <p:sp>
        <p:nvSpPr>
          <p:cNvPr id="189" name="Google Shape;189;p28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9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Comparison Method</a:t>
            </a:r>
            <a:endParaRPr/>
          </a:p>
        </p:txBody>
      </p:sp>
      <p:sp>
        <p:nvSpPr>
          <p:cNvPr id="195" name="Google Shape;195;p29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 comparison method is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query method that compares to objects on an ordinal scale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Example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compareDistance(other: Coordinate): number // to origin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Prefixes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None specifically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Naming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Prefix + what is being compared</a:t>
            </a:r>
            <a:endParaRPr/>
          </a:p>
        </p:txBody>
      </p:sp>
      <p:sp>
        <p:nvSpPr>
          <p:cNvPr id="196" name="Google Shape;196;p29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0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Comparison Method Example</a:t>
            </a:r>
            <a:endParaRPr/>
          </a:p>
        </p:txBody>
      </p:sp>
      <p:sp>
        <p:nvSpPr>
          <p:cNvPr id="202" name="Google Shape;202;p30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compareDistance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other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Coordinate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number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Math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hypot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getX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(),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getY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());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otherR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Math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hypot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getX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(),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getY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());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==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otherR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0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} </a:t>
            </a:r>
            <a:r>
              <a:rPr lang="en" sz="10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otherR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0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en" sz="10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} </a:t>
            </a:r>
            <a:r>
              <a:rPr lang="en" sz="10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0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203" name="Google Shape;203;p30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Conversion</a:t>
            </a:r>
            <a:r>
              <a:rPr lang="en"/>
              <a:t> Method [1]</a:t>
            </a:r>
            <a:endParaRPr/>
          </a:p>
        </p:txBody>
      </p:sp>
      <p:sp>
        <p:nvSpPr>
          <p:cNvPr id="209" name="Google Shape;209;p31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r>
              <a:rPr lang="en"/>
              <a:t> conversion </a:t>
            </a:r>
            <a:r>
              <a:rPr lang="en"/>
              <a:t>method is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query method that returns a different representation of the object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asDataString(): string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Prefixes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as, to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Naming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Prefix + target type</a:t>
            </a:r>
            <a:endParaRPr/>
          </a:p>
        </p:txBody>
      </p:sp>
      <p:sp>
        <p:nvSpPr>
          <p:cNvPr id="210" name="Google Shape;210;p31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sp>
        <p:nvSpPr>
          <p:cNvPr id="211" name="Google Shape;211;p31"/>
          <p:cNvSpPr txBox="1"/>
          <p:nvPr/>
        </p:nvSpPr>
        <p:spPr>
          <a:xfrm>
            <a:off x="0" y="4233672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[1] </a:t>
            </a:r>
            <a:r>
              <a:rPr lang="en"/>
              <a:t>Better, but less common: Interpretation Method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2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Conversion Method Example</a:t>
            </a:r>
            <a:endParaRPr/>
          </a:p>
        </p:txBody>
      </p:sp>
      <p:sp>
        <p:nvSpPr>
          <p:cNvPr id="217" name="Google Shape;217;p32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toString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" sz="10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asDataString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asDataString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" sz="10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getX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 </a:t>
            </a:r>
            <a:r>
              <a:rPr lang="en" sz="10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"#"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getY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18" name="Google Shape;218;p32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3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Ambiguous Semantics of toString(): string</a:t>
            </a:r>
            <a:endParaRPr/>
          </a:p>
        </p:txBody>
      </p:sp>
      <p:sp>
        <p:nvSpPr>
          <p:cNvPr id="224" name="Google Shape;224;p33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 it made for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Users (= human-readable representation of object) or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Machines (= machine-readable representation of object)?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Is it used in an end-user UI, in a database, or a debugger?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Our interpretation is that toString() is for developers and </a:t>
            </a:r>
            <a:r>
              <a:rPr lang="en"/>
              <a:t>machines, not </a:t>
            </a:r>
            <a:r>
              <a:rPr lang="en"/>
              <a:t>users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33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4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Mutation Methods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5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 Method</a:t>
            </a:r>
            <a:endParaRPr/>
          </a:p>
        </p:txBody>
      </p:sp>
      <p:sp>
        <p:nvSpPr>
          <p:cNvPr id="236" name="Google Shape;236;p35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 set method is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mutation method that changes a logical field of the object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Example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setX(x: number): void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Prefixes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Naming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Prefix + name of logical field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35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6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 Method Examples</a:t>
            </a:r>
            <a:endParaRPr/>
          </a:p>
        </p:txBody>
      </p:sp>
      <p:sp>
        <p:nvSpPr>
          <p:cNvPr id="243" name="Google Shape;243;p36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setX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number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" sz="1000">
                <a:solidFill>
                  <a:srgbClr val="3B3B3B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1000">
                <a:solidFill>
                  <a:srgbClr val="267F99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" sz="1000">
                <a:solidFill>
                  <a:srgbClr val="3B3B3B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setY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number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" sz="1000">
                <a:solidFill>
                  <a:srgbClr val="3B3B3B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1000">
                <a:solidFill>
                  <a:srgbClr val="267F99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" sz="1000">
                <a:solidFill>
                  <a:srgbClr val="3B3B3B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setR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number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phi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number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Math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atan2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getY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(),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getX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());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setX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Math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phi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));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setY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Math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sin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phi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));      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setPhi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phi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number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number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Math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hypot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getX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(),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getY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());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setX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Math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phi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));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setY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Math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sin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phi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));      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/>
          </a:p>
        </p:txBody>
      </p:sp>
      <p:sp>
        <p:nvSpPr>
          <p:cNvPr id="244" name="Google Shape;244;p36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7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command method is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mutation method that makes a complex change to an object's state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multiplyWith(other: Coordinate): void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Prefixes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make, handle, execute, perform, </a:t>
            </a:r>
            <a:r>
              <a:rPr lang="en"/>
              <a:t>...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Naming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Prefix + descriptive term about the action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37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Command Method</a:t>
            </a:r>
            <a:endParaRPr/>
          </a:p>
        </p:txBody>
      </p:sp>
      <p:sp>
        <p:nvSpPr>
          <p:cNvPr id="251" name="Google Shape;251;p37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8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Command</a:t>
            </a:r>
            <a:r>
              <a:rPr lang="en"/>
              <a:t> Method Examples</a:t>
            </a:r>
            <a:endParaRPr/>
          </a:p>
        </p:txBody>
      </p:sp>
      <p:sp>
        <p:nvSpPr>
          <p:cNvPr id="257" name="Google Shape;257;p38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multiplyWith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other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Coordinate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newR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getR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 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other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getR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newPhi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getPhi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 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other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getPhi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setR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newR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setPhi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newPhi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258" name="Google Shape;258;p38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9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Remove vs. Delete</a:t>
            </a:r>
            <a:endParaRPr/>
          </a:p>
        </p:txBody>
      </p:sp>
      <p:sp>
        <p:nvSpPr>
          <p:cNvPr id="264" name="Google Shape;264;p39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remove command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Removes an element from its context, but does not delete it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 delete command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Deletes the element, invalidating any other references</a:t>
            </a:r>
            <a:endParaRPr/>
          </a:p>
        </p:txBody>
      </p:sp>
      <p:sp>
        <p:nvSpPr>
          <p:cNvPr id="265" name="Google Shape;265;p39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0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Initialization Method</a:t>
            </a:r>
            <a:endParaRPr/>
          </a:p>
        </p:txBody>
      </p:sp>
      <p:sp>
        <p:nvSpPr>
          <p:cNvPr id="271" name="Google Shape;271;p40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 initialization method is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mutation</a:t>
            </a:r>
            <a:r>
              <a:rPr lang="en"/>
              <a:t> method that sets some or all of the state of an object at once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initialize(x: number, y: number): void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Prefixes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init, initialize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Naming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Prefix + the part of the object being initialized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40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Initialization</a:t>
            </a:r>
            <a:r>
              <a:rPr lang="en"/>
              <a:t> Method Example</a:t>
            </a:r>
            <a:endParaRPr/>
          </a:p>
        </p:txBody>
      </p:sp>
      <p:sp>
        <p:nvSpPr>
          <p:cNvPr id="278" name="Google Shape;278;p41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initialize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?: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number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?: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number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" sz="1000">
                <a:solidFill>
                  <a:srgbClr val="3B3B3B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1000">
                <a:solidFill>
                  <a:srgbClr val="267F99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" sz="1000">
                <a:solidFill>
                  <a:srgbClr val="3B3B3B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!=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undefined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!=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undefined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79" name="Google Shape;279;p41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2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4. Helper Methods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43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 Creation Methods</a:t>
            </a:r>
            <a:endParaRPr/>
          </a:p>
        </p:txBody>
      </p:sp>
      <p:sp>
        <p:nvSpPr>
          <p:cNvPr id="290" name="Google Shape;290;p43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 object creation method is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helper method </a:t>
            </a:r>
            <a:r>
              <a:rPr lang="en"/>
              <a:t>that creates an object and returns it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 factory method is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 object creation method that creates an object by naming the class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 cloning method is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 object creation method that creates an object by cloning an object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 trader (also: trading) method is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 object creation method that creates an object from a specification</a:t>
            </a:r>
            <a:endParaRPr/>
          </a:p>
        </p:txBody>
      </p:sp>
      <p:sp>
        <p:nvSpPr>
          <p:cNvPr id="291" name="Google Shape;291;p43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4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Factory Method</a:t>
            </a:r>
            <a:endParaRPr/>
          </a:p>
        </p:txBody>
      </p:sp>
      <p:sp>
        <p:nvSpPr>
          <p:cNvPr id="297" name="Google Shape;297;p44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 factory method method is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 object creation method that creates an object by naming the class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Example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createCoordinate(x: number, y: number): Coordinate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Prefixes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create (also: new, make)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Naming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Prefix + some identification for the new object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44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5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Factory Method Example</a:t>
            </a:r>
            <a:endParaRPr/>
          </a:p>
        </p:txBody>
      </p:sp>
      <p:sp>
        <p:nvSpPr>
          <p:cNvPr id="304" name="Google Shape;304;p45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createOrigin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Coordinate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Coordinate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 </a:t>
            </a:r>
            <a:endParaRPr sz="1000"/>
          </a:p>
        </p:txBody>
      </p:sp>
      <p:sp>
        <p:nvSpPr>
          <p:cNvPr id="305" name="Google Shape;305;p45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6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 vs. Ensure</a:t>
            </a:r>
            <a:endParaRPr/>
          </a:p>
        </p:txBody>
      </p:sp>
      <p:sp>
        <p:nvSpPr>
          <p:cNvPr id="311" name="Google Shape;311;p46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</a:t>
            </a:r>
            <a:r>
              <a:rPr b="1" lang="en"/>
              <a:t>create </a:t>
            </a:r>
            <a:r>
              <a:rPr lang="en"/>
              <a:t>command</a:t>
            </a:r>
            <a:r>
              <a:rPr lang="en"/>
              <a:t> guarantees a new object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createLocationCoordinate(): Coordinate;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An </a:t>
            </a:r>
            <a:r>
              <a:rPr b="1" lang="en"/>
              <a:t>ensure </a:t>
            </a:r>
            <a:r>
              <a:rPr lang="en"/>
              <a:t>command</a:t>
            </a:r>
            <a:r>
              <a:rPr lang="en"/>
              <a:t> guarantees a specific cardinality of the requested object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ensureLocationCoordinate(): Coordinate;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Create creates, ensure may or may not create a new object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46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7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Cloning Method Example</a:t>
            </a:r>
            <a:endParaRPr/>
          </a:p>
        </p:txBody>
      </p:sp>
      <p:sp>
        <p:nvSpPr>
          <p:cNvPr id="318" name="Google Shape;318;p47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export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interface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Cloneable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clone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Object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0000F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 sz="1000">
                <a:solidFill>
                  <a:srgbClr val="3B3B3B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795E26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clone</a:t>
            </a:r>
            <a:r>
              <a:rPr lang="en" sz="1000">
                <a:solidFill>
                  <a:srgbClr val="3B3B3B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" sz="10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Coordinate</a:t>
            </a:r>
            <a:r>
              <a:rPr lang="en" sz="1000">
                <a:solidFill>
                  <a:srgbClr val="3B3B3B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00">
              <a:solidFill>
                <a:srgbClr val="3B3B3B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00">
                <a:solidFill>
                  <a:srgbClr val="AF00DB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1000">
                <a:solidFill>
                  <a:srgbClr val="3B3B3B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{ </a:t>
            </a:r>
            <a:r>
              <a:rPr lang="en" sz="10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r>
              <a:rPr lang="en" sz="1000">
                <a:solidFill>
                  <a:srgbClr val="0000F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n" sz="1000">
                <a:solidFill>
                  <a:srgbClr val="3B3B3B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};</a:t>
            </a:r>
            <a:endParaRPr sz="1000">
              <a:solidFill>
                <a:srgbClr val="3B3B3B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19" name="Google Shape;319;p47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8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Shallow</a:t>
            </a:r>
            <a:r>
              <a:rPr lang="en"/>
              <a:t> vs. Deep Cloning</a:t>
            </a:r>
            <a:endParaRPr/>
          </a:p>
        </p:txBody>
      </p:sp>
      <p:sp>
        <p:nvSpPr>
          <p:cNvPr id="325" name="Google Shape;325;p48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shallow clone of an object is a clone with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All attribute values being identical between original and clone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All object references pointing to the originally referenced objects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 deep clone of an object is a clone with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All attribute values being identical between original and clone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All referenced but not owned objects pointing to their originals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All owned / composed objects being deep clones of the originals</a:t>
            </a:r>
            <a:endParaRPr/>
          </a:p>
        </p:txBody>
      </p:sp>
      <p:sp>
        <p:nvSpPr>
          <p:cNvPr id="326" name="Google Shape;326;p48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9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Assertion Method</a:t>
            </a:r>
            <a:endParaRPr/>
          </a:p>
        </p:txBody>
      </p:sp>
      <p:sp>
        <p:nvSpPr>
          <p:cNvPr id="332" name="Google Shape;332;p49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 assertion method is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helper method that asserts a condition holds or throws an exception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assertIsValidPhi(phi: number): void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Prefixes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assert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Naming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Prefix + condition being asserted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49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50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Assertion Method Example</a:t>
            </a:r>
            <a:endParaRPr/>
          </a:p>
        </p:txBody>
      </p:sp>
      <p:sp>
        <p:nvSpPr>
          <p:cNvPr id="339" name="Google Shape;339;p50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setPhi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phi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number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assertIsNotNullOrUndefined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phi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assertIsValidPhi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phi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phi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phi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  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>
              <a:solidFill>
                <a:srgbClr val="0000FF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protected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assertIsValidPhi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phi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number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((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phi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||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phi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&gt;=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Math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0070C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PI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)) {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0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throw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RangeError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"Invalid phi value"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protected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assertIsNotNullOrUndefined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other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Object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" sz="10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((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other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==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null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||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other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==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undefined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)) {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 sz="10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throw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RangeError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"Value is null or undefined"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40" name="Google Shape;340;p50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51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5. Method Properties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52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 Properties</a:t>
            </a:r>
            <a:endParaRPr/>
          </a:p>
        </p:txBody>
      </p:sp>
      <p:sp>
        <p:nvSpPr>
          <p:cNvPr id="351" name="Google Shape;351;p52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 method property describes a particular property of a method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Method properties fall into different method property categories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 method may only have one property from any one category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Like method types, method properties have naming conventions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52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53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Main Categories of Method Properties</a:t>
            </a:r>
            <a:endParaRPr/>
          </a:p>
        </p:txBody>
      </p:sp>
      <p:sp>
        <p:nvSpPr>
          <p:cNvPr id="358" name="Google Shape;358;p53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 implementation properties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Are properties of a method implementation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Inheritance interface properties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Are properties of the inheritance interface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Convenience method properties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Are about making programming easier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Method meta-level properties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Are about the method level (class, instance)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Method visibility properties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Are about </a:t>
            </a:r>
            <a:r>
              <a:rPr lang="en"/>
              <a:t>visibility</a:t>
            </a:r>
            <a:r>
              <a:rPr lang="en"/>
              <a:t> (public, </a:t>
            </a:r>
            <a:r>
              <a:rPr lang="en"/>
              <a:t>protected, ...)</a:t>
            </a:r>
            <a:endParaRPr/>
          </a:p>
        </p:txBody>
      </p:sp>
      <p:sp>
        <p:nvSpPr>
          <p:cNvPr id="359" name="Google Shape;359;p53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54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Classification of Method Properties</a:t>
            </a:r>
            <a:endParaRPr/>
          </a:p>
        </p:txBody>
      </p:sp>
      <p:sp>
        <p:nvSpPr>
          <p:cNvPr id="365" name="Google Shape;365;p54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graphicFrame>
        <p:nvGraphicFramePr>
          <p:cNvPr id="366" name="Google Shape;366;p54"/>
          <p:cNvGraphicFramePr/>
          <p:nvPr/>
        </p:nvGraphicFramePr>
        <p:xfrm>
          <a:off x="274320" y="91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{48DC0C47-B02E-412E-A142-2C4A60B22656}</a:tableStyleId>
              </a:tblPr>
              <a:tblGrid>
                <a:gridCol w="2865125"/>
                <a:gridCol w="2865125"/>
                <a:gridCol w="2865125"/>
              </a:tblGrid>
              <a:tr h="548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Method implementation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Inheritance interface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Convenience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Regular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Regular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General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Composing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Template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Constructor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Primitive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Hook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Default value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Null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Abstract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Finalizer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...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...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...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55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Extended Coordinate Example</a:t>
            </a:r>
            <a:endParaRPr/>
          </a:p>
        </p:txBody>
      </p:sp>
      <p:sp>
        <p:nvSpPr>
          <p:cNvPr id="372" name="Google Shape;372;p55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pic>
        <p:nvPicPr>
          <p:cNvPr id="373" name="Google Shape;373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320" y="914400"/>
            <a:ext cx="8595360" cy="3502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56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Coordinate Interface</a:t>
            </a:r>
            <a:endParaRPr/>
          </a:p>
        </p:txBody>
      </p:sp>
      <p:sp>
        <p:nvSpPr>
          <p:cNvPr id="379" name="Google Shape;379;p56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Equality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} </a:t>
            </a:r>
            <a:r>
              <a:rPr lang="en" sz="10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"./Equality"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Cloneable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} </a:t>
            </a:r>
            <a:r>
              <a:rPr lang="en" sz="10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from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A31515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"./Cloneable"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export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interface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Coordinate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extends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Equality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Cloneable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reset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getX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number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setX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number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getY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number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setY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number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calcStraightLineDistance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other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Coordinate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number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getR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number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setR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number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getPhi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number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setPhi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phi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number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calcGreatCircleDistance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other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Coordinate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number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380" name="Google Shape;380;p56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57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6. Method </a:t>
            </a:r>
            <a:r>
              <a:rPr lang="en"/>
              <a:t>Implementation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58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regular method is (just)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method that performs some task, for which it usually relies on further methods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Examples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initialize(x?: number, y?: number): void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Prefixes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None specifically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Naming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None specifically</a:t>
            </a:r>
            <a:endParaRPr/>
          </a:p>
        </p:txBody>
      </p:sp>
      <p:sp>
        <p:nvSpPr>
          <p:cNvPr id="391" name="Google Shape;391;p58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Regular</a:t>
            </a:r>
            <a:r>
              <a:rPr lang="en"/>
              <a:t> Method</a:t>
            </a:r>
            <a:endParaRPr/>
          </a:p>
        </p:txBody>
      </p:sp>
      <p:sp>
        <p:nvSpPr>
          <p:cNvPr id="392" name="Google Shape;392;p58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59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Regular Method Examples</a:t>
            </a:r>
            <a:endParaRPr/>
          </a:p>
        </p:txBody>
      </p:sp>
      <p:sp>
        <p:nvSpPr>
          <p:cNvPr id="398" name="Google Shape;398;p59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sp>
        <p:nvSpPr>
          <p:cNvPr id="399" name="Google Shape;399;p59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isEqual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other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Coordinate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boolean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getX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 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==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other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getX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()) 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&amp;&amp;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getY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 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==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other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getY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());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calcStraightLineDistance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other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Coordinate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number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deltaX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number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Math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abs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other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getX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 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getX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());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deltaY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number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Math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abs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other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getY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 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-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getY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());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Math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hypot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deltaX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deltaY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00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60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Composing Method</a:t>
            </a:r>
            <a:endParaRPr/>
          </a:p>
        </p:txBody>
      </p:sp>
      <p:sp>
        <p:nvSpPr>
          <p:cNvPr id="405" name="Google Shape;405;p60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composing method is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method that organizes a task into several subtasks as a linear succession of method calls to other regular or primitive methods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Examples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initialize(x?: number, y?: number): void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Prefixes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None specifically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Naming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Adapted from Beck (1997)</a:t>
            </a:r>
            <a:endParaRPr/>
          </a:p>
        </p:txBody>
      </p:sp>
      <p:sp>
        <p:nvSpPr>
          <p:cNvPr id="406" name="Google Shape;406;p60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6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Composing Method Example</a:t>
            </a:r>
            <a:endParaRPr/>
          </a:p>
        </p:txBody>
      </p:sp>
      <p:sp>
        <p:nvSpPr>
          <p:cNvPr id="412" name="Google Shape;412;p61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initialize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?: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number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?: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number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" sz="10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!=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undefined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setX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!=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undefined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setY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413" name="Google Shape;413;p61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62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Primitive</a:t>
            </a:r>
            <a:r>
              <a:rPr lang="en"/>
              <a:t> Method</a:t>
            </a:r>
            <a:endParaRPr/>
          </a:p>
        </p:txBody>
      </p:sp>
      <p:sp>
        <p:nvSpPr>
          <p:cNvPr id="419" name="Google Shape;419;p62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primitive method is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</a:t>
            </a:r>
            <a:r>
              <a:rPr lang="en"/>
              <a:t>method that carries out one specific task, usually by directly engaging the object’s implementation state; it does not use any non-primitive methods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Examples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doSetX(x: number): void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Prefixes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do, basic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Naming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Prefix + name of the logical or implementation state</a:t>
            </a:r>
            <a:endParaRPr/>
          </a:p>
        </p:txBody>
      </p:sp>
      <p:sp>
        <p:nvSpPr>
          <p:cNvPr id="420" name="Google Shape;420;p62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63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Primitive Method Example</a:t>
            </a:r>
            <a:endParaRPr/>
          </a:p>
        </p:txBody>
      </p:sp>
      <p:sp>
        <p:nvSpPr>
          <p:cNvPr id="426" name="Google Shape;426;p63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setX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number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" sz="10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assertIsNotNullOrUndefined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doSetX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protected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doSetX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number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" sz="10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setPhi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phi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number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assertIsNotNullOrUndefined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phi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assertIsValidPhi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phi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number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Math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hypot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getX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(),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getY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());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number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Math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phi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number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Math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sin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phi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doSetX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doSetY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      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/>
          </a:p>
        </p:txBody>
      </p:sp>
      <p:sp>
        <p:nvSpPr>
          <p:cNvPr id="427" name="Google Shape;427;p63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64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Null Method</a:t>
            </a:r>
            <a:endParaRPr/>
          </a:p>
        </p:txBody>
      </p:sp>
      <p:sp>
        <p:nvSpPr>
          <p:cNvPr id="433" name="Google Shape;433;p64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null method is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method with an empty implementation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Examples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See Template Method example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Prefixes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None specifically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Naming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None specifically</a:t>
            </a:r>
            <a:endParaRPr/>
          </a:p>
        </p:txBody>
      </p:sp>
      <p:sp>
        <p:nvSpPr>
          <p:cNvPr id="434" name="Google Shape;434;p64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65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7. Inheritance Properties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66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Template</a:t>
            </a:r>
            <a:r>
              <a:rPr lang="en"/>
              <a:t> Method</a:t>
            </a:r>
            <a:endParaRPr/>
          </a:p>
        </p:txBody>
      </p:sp>
      <p:sp>
        <p:nvSpPr>
          <p:cNvPr id="445" name="Google Shape;445;p66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template method is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</a:t>
            </a:r>
            <a:r>
              <a:rPr lang="en"/>
              <a:t> method that defines an algorithmic skeleton by breaking a task into subtasks the implementation of which is delegated to subclasses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Examples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Main.run()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Prefixes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None specifically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Naming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Taken from Gamma et al. (1995)</a:t>
            </a:r>
            <a:endParaRPr/>
          </a:p>
        </p:txBody>
      </p:sp>
      <p:sp>
        <p:nvSpPr>
          <p:cNvPr id="446" name="Google Shape;446;p66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67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Template Method Example</a:t>
            </a:r>
            <a:endParaRPr/>
          </a:p>
        </p:txBody>
      </p:sp>
      <p:sp>
        <p:nvSpPr>
          <p:cNvPr id="452" name="Google Shape;452;p67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export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run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args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[])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parseArgs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args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initialize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execute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finalize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};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protected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parseArgs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args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[])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 sz="100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do nothing</a:t>
            </a:r>
            <a:endParaRPr sz="100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protected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initialize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 sz="100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do nothing</a:t>
            </a:r>
            <a:endParaRPr sz="100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protected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execute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 sz="100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do nothing</a:t>
            </a:r>
            <a:endParaRPr sz="100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protected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finalize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" sz="100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 sz="1000">
                <a:solidFill>
                  <a:srgbClr val="00800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// do nothing</a:t>
            </a:r>
            <a:endParaRPr sz="1000">
              <a:solidFill>
                <a:srgbClr val="008000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AF00D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53" name="Google Shape;453;p67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68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Hook</a:t>
            </a:r>
            <a:r>
              <a:rPr lang="en"/>
              <a:t> Method</a:t>
            </a:r>
            <a:endParaRPr/>
          </a:p>
        </p:txBody>
      </p:sp>
      <p:sp>
        <p:nvSpPr>
          <p:cNvPr id="459" name="Google Shape;459;p68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hook method is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</a:t>
            </a:r>
            <a:r>
              <a:rPr lang="en"/>
              <a:t> method that declares a well-defined task for overriding through subclasses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Examples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Main.parseArgs / initialize / execute / finalize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Prefixes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None specifically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Naming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None specifically </a:t>
            </a:r>
            <a:endParaRPr/>
          </a:p>
        </p:txBody>
      </p:sp>
      <p:sp>
        <p:nvSpPr>
          <p:cNvPr id="460" name="Google Shape;460;p68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69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8. Convenience Methods</a:t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70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Convenience</a:t>
            </a:r>
            <a:r>
              <a:rPr lang="en"/>
              <a:t> Method</a:t>
            </a:r>
            <a:endParaRPr/>
          </a:p>
        </p:txBody>
      </p:sp>
      <p:sp>
        <p:nvSpPr>
          <p:cNvPr id="471" name="Google Shape;471;p70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convenience method is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</a:t>
            </a:r>
            <a:r>
              <a:rPr lang="en"/>
              <a:t> method that simplifies the use of another, more complicated method by providing a simpler signature and by using default arguments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Examples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reset(): void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Prefixes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None specifically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Naming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None specifically </a:t>
            </a:r>
            <a:endParaRPr/>
          </a:p>
        </p:txBody>
      </p:sp>
      <p:sp>
        <p:nvSpPr>
          <p:cNvPr id="472" name="Google Shape;472;p70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7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Convenience</a:t>
            </a:r>
            <a:r>
              <a:rPr lang="en"/>
              <a:t> Method Example</a:t>
            </a:r>
            <a:endParaRPr/>
          </a:p>
        </p:txBody>
      </p:sp>
      <p:sp>
        <p:nvSpPr>
          <p:cNvPr id="478" name="Google Shape;478;p71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reset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" sz="1000"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initialize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5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5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79" name="Google Shape;479;p71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72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Default-Value</a:t>
            </a:r>
            <a:r>
              <a:rPr lang="en"/>
              <a:t> Method</a:t>
            </a:r>
            <a:endParaRPr/>
          </a:p>
        </p:txBody>
      </p:sp>
      <p:sp>
        <p:nvSpPr>
          <p:cNvPr id="485" name="Google Shape;485;p72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default-value method is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default-value method is a method that returns a single predefined value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Examples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static getOrigin(): Coordinate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Prefixes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None specifically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Naming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None specifically, but typically also a getter</a:t>
            </a:r>
            <a:endParaRPr/>
          </a:p>
        </p:txBody>
      </p:sp>
      <p:sp>
        <p:nvSpPr>
          <p:cNvPr id="486" name="Google Shape;486;p72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73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Default-Value</a:t>
            </a:r>
            <a:r>
              <a:rPr lang="en"/>
              <a:t> Method Example</a:t>
            </a:r>
            <a:endParaRPr/>
          </a:p>
        </p:txBody>
      </p:sp>
      <p:sp>
        <p:nvSpPr>
          <p:cNvPr id="492" name="Google Shape;492;p73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static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getOrigin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" sz="1050"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Coordinate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5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Coordinate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5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5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93" name="Google Shape;493;p73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74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9. Design Guidelines</a:t>
            </a:r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75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Single Method Purpose Rule</a:t>
            </a:r>
            <a:endParaRPr/>
          </a:p>
        </p:txBody>
      </p:sp>
      <p:sp>
        <p:nvSpPr>
          <p:cNvPr id="504" name="Google Shape;504;p75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Single method purpose rule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method should have one purpose only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Benefits of single-purpose rule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Makes methods easier to understand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Makes overriding methods easier</a:t>
            </a:r>
            <a:endParaRPr/>
          </a:p>
        </p:txBody>
      </p:sp>
      <p:sp>
        <p:nvSpPr>
          <p:cNvPr id="505" name="Google Shape;505;p75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76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Well-known idioms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Increment and return value (iteration)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Technical requirements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Test and set value (c</a:t>
            </a:r>
            <a:r>
              <a:rPr lang="en"/>
              <a:t>ritical sections)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Lazy initialization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76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Exceptions to Single Purpose Rule</a:t>
            </a:r>
            <a:endParaRPr/>
          </a:p>
        </p:txBody>
      </p:sp>
      <p:sp>
        <p:nvSpPr>
          <p:cNvPr id="512" name="Google Shape;512;p76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77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Documenting Method Types and Properties</a:t>
            </a:r>
            <a:endParaRPr/>
          </a:p>
        </p:txBody>
      </p:sp>
      <p:sp>
        <p:nvSpPr>
          <p:cNvPr id="518" name="Google Shape;518;p77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Use annotations</a:t>
            </a:r>
            <a:endParaRPr/>
          </a:p>
        </p:txBody>
      </p:sp>
      <p:sp>
        <p:nvSpPr>
          <p:cNvPr id="519" name="Google Shape;519;p77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78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</a:t>
            </a:r>
            <a:endParaRPr/>
          </a:p>
        </p:txBody>
      </p:sp>
      <p:sp>
        <p:nvSpPr>
          <p:cNvPr id="525" name="Google Shape;525;p78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Method types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Query methods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Mutation methods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Helper methods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Method properties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Implementation related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Inheritance related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Convenience methods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Design guidelines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78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79"/>
          <p:cNvSpPr txBox="1"/>
          <p:nvPr>
            <p:ph type="ctrTitle"/>
          </p:nvPr>
        </p:nvSpPr>
        <p:spPr>
          <a:xfrm>
            <a:off x="0" y="0"/>
            <a:ext cx="9144000" cy="23889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 Any questions?</a:t>
            </a:r>
            <a:endParaRPr/>
          </a:p>
        </p:txBody>
      </p:sp>
      <p:sp>
        <p:nvSpPr>
          <p:cNvPr id="532" name="Google Shape;532;p79"/>
          <p:cNvSpPr txBox="1"/>
          <p:nvPr>
            <p:ph idx="1" type="subTitle"/>
          </p:nvPr>
        </p:nvSpPr>
        <p:spPr>
          <a:xfrm>
            <a:off x="0" y="2569475"/>
            <a:ext cx="9144000" cy="2574000"/>
          </a:xfrm>
          <a:prstGeom prst="rect">
            <a:avLst/>
          </a:prstGeom>
        </p:spPr>
        <p:txBody>
          <a:bodyPr anchorCtr="0" anchor="t" bIns="91425" lIns="91425" spcFirstLastPara="1" rIns="91425" wrap="square" tIns="2743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dirk.riehle@fau.de</a:t>
            </a:r>
            <a:r>
              <a:rPr lang="en"/>
              <a:t> </a:t>
            </a:r>
            <a:r>
              <a:rPr lang="en" sz="2400"/>
              <a:t>–</a:t>
            </a:r>
            <a:r>
              <a:rPr lang="en"/>
              <a:t>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https://oss.cs.fau.de</a:t>
            </a:r>
            <a:endParaRPr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u="sng">
                <a:solidFill>
                  <a:schemeClr val="hlink"/>
                </a:solidFill>
                <a:hlinkClick r:id="rId5"/>
              </a:rPr>
              <a:t>dirk@riehle.org</a:t>
            </a:r>
            <a:r>
              <a:rPr lang="en" sz="2400"/>
              <a:t> – </a:t>
            </a:r>
            <a:r>
              <a:rPr lang="en" sz="2400" u="sng">
                <a:solidFill>
                  <a:schemeClr val="hlink"/>
                </a:solidFill>
                <a:hlinkClick r:id="rId6"/>
              </a:rPr>
              <a:t>https://dirkriehle.com</a:t>
            </a:r>
            <a:r>
              <a:rPr lang="en" sz="2400"/>
              <a:t> – </a:t>
            </a:r>
            <a:r>
              <a:rPr lang="en" sz="2400" u="sng">
                <a:solidFill>
                  <a:schemeClr val="hlink"/>
                </a:solidFill>
                <a:hlinkClick r:id="rId7"/>
              </a:rPr>
              <a:t>@dirkriehle</a:t>
            </a:r>
            <a:endParaRPr sz="240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80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Legal Notices</a:t>
            </a:r>
            <a:endParaRPr/>
          </a:p>
        </p:txBody>
      </p:sp>
      <p:sp>
        <p:nvSpPr>
          <p:cNvPr id="538" name="Google Shape;538;p80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sp>
        <p:nvSpPr>
          <p:cNvPr id="539" name="Google Shape;539;p80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License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Licensed under the </a:t>
            </a:r>
            <a:r>
              <a:rPr lang="en" u="sng">
                <a:solidFill>
                  <a:schemeClr val="hlink"/>
                </a:solidFill>
                <a:hlinkClick r:id="rId4"/>
              </a:rPr>
              <a:t>CC BY 4.0 International</a:t>
            </a:r>
            <a:r>
              <a:rPr lang="en"/>
              <a:t> license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Copyright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© 2012, 2018, 2024 Dirk Riehle, some rights reserved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OSS Slides Template">
  <a:themeElements>
    <a:clrScheme name="Simple Light">
      <a:dk1>
        <a:srgbClr val="000000"/>
      </a:dk1>
      <a:lt1>
        <a:srgbClr val="FFFFFF"/>
      </a:lt1>
      <a:dk2>
        <a:srgbClr val="404040"/>
      </a:dk2>
      <a:lt2>
        <a:srgbClr val="808080"/>
      </a:lt2>
      <a:accent1>
        <a:srgbClr val="D0D0D0"/>
      </a:accent1>
      <a:accent2>
        <a:srgbClr val="4169E1"/>
      </a:accent2>
      <a:accent3>
        <a:srgbClr val="4CAF50"/>
      </a:accent3>
      <a:accent4>
        <a:srgbClr val="FEB612"/>
      </a:accent4>
      <a:accent5>
        <a:srgbClr val="F36838"/>
      </a:accent5>
      <a:accent6>
        <a:srgbClr val="8E44AD"/>
      </a:accent6>
      <a:hlink>
        <a:srgbClr val="1E9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