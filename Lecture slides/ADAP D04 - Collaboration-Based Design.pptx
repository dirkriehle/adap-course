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27d59f723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27d59f723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7d59f723e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7d59f723e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276ea433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276ea433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76ea4334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276ea4334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7d59f723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7d59f723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76ea4334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276ea4334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7d59f723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7d59f723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7d59f723e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7d59f723e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6c7adcf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6c7adcf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7d59f723e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7d59f723e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76ea4334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76ea4334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76ea4334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276ea4334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76ea4334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76ea4334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7d59f723e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7d59f723e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76ea4334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76ea4334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7d59f723e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7d59f723e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76ea4334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76ea4334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76ea4334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76ea4334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76ea4334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276ea4334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7d59f723e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7d59f723e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7d59f723e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27d59f723e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7d59f723e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7d59f723e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27d59f723e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27d59f723e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7d59f723e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27d59f723e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7d59f723e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27d59f723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7d59f723e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27d59f723e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7d59f723e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27d59f723e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7d59f723e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27d59f723e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46c7adcf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46c7adcf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7d59f723e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27d59f723e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7d59f723e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27d59f723e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27d59f723e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27d59f723e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27d59f723e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27d59f723e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46c7adcf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b46c7adcf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7d59f723e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27d59f723e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profriehl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https://profriehle.com</a:t>
            </a:r>
            <a:r>
              <a:rPr b="0" lang="en" sz="1000"/>
              <a:t> 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rofriehle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rofriehle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rofriehle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friehle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rofriehle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rofriehle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rofriehle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profriehle.co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profriehle.com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profriehle.com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profriehle.com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profriehle.com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s://riehle.org/computer-science/research/dissertation/index.html" TargetMode="External"/><Relationship Id="rId5" Type="http://schemas.openxmlformats.org/officeDocument/2006/relationships/hyperlink" Target="https://www.omg.org/spec/UML/2.0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profriehle.com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s://riehle.org/computer-science/research/2000/plopd-4.html" TargetMode="External"/><Relationship Id="rId5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profriehle.com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profriehle.com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profriehle.com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Collaboration-Based Design</a:t>
            </a:r>
            <a:endParaRPr/>
          </a:p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D04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Collaborations in UML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File system collaborations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Collaboration and class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History and related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role object pattern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Collaborations in UML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Collaboration-Based Design</a:t>
            </a:r>
            <a:endParaRPr/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Collaboration</a:t>
            </a:r>
            <a:r>
              <a:rPr b="1" lang="en"/>
              <a:t>-based design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approach to modeling and implementing using collaborations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collaboration specification</a:t>
            </a:r>
            <a:r>
              <a:rPr lang="en"/>
              <a:t> (UML: Collaboration)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model of how objects collaborate for a particular purpose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collaboration instance</a:t>
            </a:r>
            <a:r>
              <a:rPr lang="en"/>
              <a:t> (UML: Collaboration Use)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set of objects collaborating according to a </a:t>
            </a:r>
            <a:r>
              <a:rPr lang="en"/>
              <a:t>collaboration</a:t>
            </a:r>
            <a:r>
              <a:rPr lang="en"/>
              <a:t> specification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role specification</a:t>
            </a:r>
            <a:r>
              <a:rPr lang="en"/>
              <a:t> (UML: Role)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model of the behavior of one object in a collaboration instance</a:t>
            </a:r>
            <a:endParaRPr/>
          </a:p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System Example Revisited</a:t>
            </a:r>
            <a:endParaRPr/>
          </a:p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63" name="Google Shape;6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Example (UML)</a:t>
            </a:r>
            <a:endParaRPr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as Code</a:t>
            </a:r>
            <a:endParaRPr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274326" y="914400"/>
            <a:ext cx="45720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Directory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78" name="Google Shape;78;p14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Role Binding Example (UML)</a:t>
            </a:r>
            <a:endParaRPr/>
          </a:p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Roles as Code</a:t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74326" y="914400"/>
            <a:ext cx="45720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NodeLinkLink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Directory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super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NodeLinkTarget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no methods</a:t>
            </a:r>
            <a:endParaRPr b="1"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b="1"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baseName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parentNode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Directory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Directory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doSetBaseName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parentNode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initialize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initialize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Directory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parentNode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parentNode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addChild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doSetBaseName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baseName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as Code (as Language Construct)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collaboration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!=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no methods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101" name="Google Shape;101;p17"/>
          <p:cNvSpPr txBox="1"/>
          <p:nvPr>
            <p:ph idx="2" type="body"/>
          </p:nvPr>
        </p:nvSpPr>
        <p:spPr>
          <a:xfrm>
            <a:off x="4389125" y="914400"/>
            <a:ext cx="45720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"./NodeLink"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----------------------------------------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"./NodeLink"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Semantics</a:t>
            </a:r>
            <a:r>
              <a:rPr lang="en"/>
              <a:t> of Collaboration “Implementation”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collaboration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!=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role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no methods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8" name="Google Shape;108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109" name="Google Shape;109;p18"/>
          <p:cNvSpPr txBox="1"/>
          <p:nvPr>
            <p:ph idx="2" type="body"/>
          </p:nvPr>
        </p:nvSpPr>
        <p:spPr>
          <a:xfrm>
            <a:off x="4389125" y="914400"/>
            <a:ext cx="45720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"./NodeLink"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----------------------------------------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"./NodeLink"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NodeLink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0" name="Google Shape;110;p18"/>
          <p:cNvSpPr/>
          <p:nvPr/>
        </p:nvSpPr>
        <p:spPr>
          <a:xfrm>
            <a:off x="365760" y="1280160"/>
            <a:ext cx="2743200" cy="27432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572000" y="2286010"/>
            <a:ext cx="2743200" cy="27432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" name="Google Shape;112;p18"/>
          <p:cNvCxnSpPr>
            <a:stCxn id="111" idx="2"/>
            <a:endCxn id="110" idx="6"/>
          </p:cNvCxnSpPr>
          <p:nvPr/>
        </p:nvCxnSpPr>
        <p:spPr>
          <a:xfrm rot="10800000">
            <a:off x="3108900" y="2651710"/>
            <a:ext cx="1463100" cy="1005900"/>
          </a:xfrm>
          <a:prstGeom prst="curvedConnector3">
            <a:avLst>
              <a:gd fmla="val 49998" name="adj1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8"/>
          <p:cNvSpPr txBox="1"/>
          <p:nvPr/>
        </p:nvSpPr>
        <p:spPr>
          <a:xfrm>
            <a:off x="3108950" y="1737350"/>
            <a:ext cx="1463100" cy="28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accent3"/>
                </a:solidFill>
                <a:highlight>
                  <a:schemeClr val="lt1"/>
                </a:highlight>
              </a:rPr>
              <a:t>?</a:t>
            </a:r>
            <a:endParaRPr b="1" sz="9600">
              <a:solidFill>
                <a:schemeClr val="accent3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Collaboration-Based Design</a:t>
            </a:r>
            <a:endParaRPr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Separation of concerns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Better reusable models (potentially)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Reality Check: UML Collaboration in Sparx EA</a:t>
            </a:r>
            <a:endParaRPr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7161581" cy="402335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File System Collaborations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Link Collaboration (Riehle’s UML Extension)</a:t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Collaborations in File System Example</a:t>
            </a:r>
            <a:endParaRPr/>
          </a:p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Node collaboration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NodeLink collaboration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File collaboration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ParentChild collaboration (a.k.a. Composite pattern)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RootNode collaboration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Collaboration</a:t>
            </a:r>
            <a:endParaRPr/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NodeLink Collaboration</a:t>
            </a:r>
            <a:endParaRPr/>
          </a:p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Collaboration</a:t>
            </a:r>
            <a:endParaRPr/>
          </a:p>
        </p:txBody>
      </p:sp>
      <p:sp>
        <p:nvSpPr>
          <p:cNvPr id="166" name="Google Shape;166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Parent / Child Collaboration</a:t>
            </a:r>
            <a:endParaRPr/>
          </a:p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74" name="Google Shape;17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RootNode Collaboration</a:t>
            </a:r>
            <a:endParaRPr/>
          </a:p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Collaborations</a:t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</a:t>
            </a:r>
            <a:r>
              <a:rPr lang="en"/>
              <a:t> service collaborations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Typically simple client / service collaborations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client role often has no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visible to the outside (use-clients)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Maintenance collaborations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</a:t>
            </a:r>
            <a:r>
              <a:rPr lang="en"/>
              <a:t> the domain </a:t>
            </a:r>
            <a:r>
              <a:rPr lang="en"/>
              <a:t>logic</a:t>
            </a:r>
            <a:r>
              <a:rPr lang="en"/>
              <a:t> within the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follow design pattern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 not visible to the outside (no use-clients)</a:t>
            </a:r>
            <a:endParaRPr/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Collaboration and Class Models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Collaborations / Roles vs. Class Models / Classes</a:t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Collaborations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Roles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part of collaborations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Compose classes from parts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use-client interface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201" name="Google Shape;201;p31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Class models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Classes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part of class hierarchies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Compose classes by inheritance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inheritance interface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Role to Class Assignments</a:t>
            </a:r>
            <a:endParaRPr/>
          </a:p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Collaborations with Class Hierarchy</a:t>
            </a:r>
            <a:endParaRPr/>
          </a:p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15" name="Google Shape;21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and Class Duality</a:t>
            </a:r>
            <a:endParaRPr/>
          </a:p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role specification ties a class into a collaboration context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 flow enters and leaves through a role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class composes behavior in multiple contexts into one unit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implementation is mapped onto implementation state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</a:t>
            </a:r>
            <a:r>
              <a:rPr lang="en"/>
              <a:t> of Abstraction</a:t>
            </a:r>
            <a:endParaRPr/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modeling support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Design templates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UML Collaboration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models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UML Class Model</a:t>
            </a:r>
            <a:endParaRPr/>
          </a:p>
        </p:txBody>
      </p:sp>
      <p:sp>
        <p:nvSpPr>
          <p:cNvPr id="229" name="Google Shape;229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History and Related Concepts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Collaboration Modeling Methods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Trygve Reenskaug, Role Modeling [1]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Dirk Riehle, Framework Design [2]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OMG, UML 2.0 Specification [3]</a:t>
            </a:r>
            <a:endParaRPr/>
          </a:p>
        </p:txBody>
      </p:sp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242" name="Google Shape;242;p37"/>
          <p:cNvSpPr txBox="1"/>
          <p:nvPr/>
        </p:nvSpPr>
        <p:spPr>
          <a:xfrm>
            <a:off x="0" y="3319275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Reenskaug, T., Wold, P., &amp; Lehne, O. A. (1996). Working with Objects. Manning.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Riehle, D. (2000). </a:t>
            </a:r>
            <a:r>
              <a:rPr lang="en" u="sng">
                <a:solidFill>
                  <a:schemeClr val="hlink"/>
                </a:solidFill>
                <a:hlinkClick r:id="rId4"/>
              </a:rPr>
              <a:t>Framework Design: A Role Modeling Approach.</a:t>
            </a:r>
            <a:r>
              <a:rPr lang="en"/>
              <a:t> Dissertation, no. 13509. Swiss Federal Institute of Technology at Zurich (ETH Zurich), Zurich, Switzerland.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OMG (2005). </a:t>
            </a:r>
            <a:r>
              <a:rPr lang="en" u="sng">
                <a:solidFill>
                  <a:schemeClr val="hlink"/>
                </a:solidFill>
                <a:hlinkClick r:id="rId5"/>
              </a:rPr>
              <a:t>Unified Modeling Language 2.0.</a:t>
            </a:r>
            <a:r>
              <a:rPr lang="en"/>
              <a:t> OMG.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Concepts from Programming Language History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Past attempts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Interfaces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Protocols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Mix-ins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Common to all is that they ignore the collaboration, focus </a:t>
            </a:r>
            <a:r>
              <a:rPr lang="en"/>
              <a:t>only</a:t>
            </a:r>
            <a:r>
              <a:rPr lang="en"/>
              <a:t> on roles</a:t>
            </a:r>
            <a:endParaRPr/>
          </a:p>
        </p:txBody>
      </p:sp>
      <p:sp>
        <p:nvSpPr>
          <p:cNvPr id="249" name="Google Shape;249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The Role Object Pattern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Object Example</a:t>
            </a:r>
            <a:endParaRPr/>
          </a:p>
        </p:txBody>
      </p:sp>
      <p:sp>
        <p:nvSpPr>
          <p:cNvPr id="260" name="Google Shape;260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261" name="Google Shape;261;p4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Bäumer, D., Riehle, D., Siberski, W. &amp; Wulf, M. (2000). </a:t>
            </a:r>
            <a:r>
              <a:rPr lang="en" u="sng">
                <a:solidFill>
                  <a:schemeClr val="hlink"/>
                </a:solidFill>
                <a:hlinkClick r:id="rId4"/>
              </a:rPr>
              <a:t>Role Object.</a:t>
            </a:r>
            <a:r>
              <a:rPr lang="en"/>
              <a:t> In Pattern Languages of Program Design 4 (PLoPD 4), pp. 15-32. Addison-Wesley.</a:t>
            </a:r>
            <a:endParaRPr/>
          </a:p>
        </p:txBody>
      </p:sp>
      <p:pic>
        <p:nvPicPr>
          <p:cNvPr id="262" name="Google Shape;26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Object Pattern</a:t>
            </a:r>
            <a:endParaRPr/>
          </a:p>
        </p:txBody>
      </p:sp>
      <p:sp>
        <p:nvSpPr>
          <p:cNvPr id="268" name="Google Shape;268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large modular system with core domain concepts and varied applications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core concept needs to show a different face in each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Extend the core concept with separate role objects facing the application</a:t>
            </a:r>
            <a:endParaRPr/>
          </a:p>
        </p:txBody>
      </p:sp>
      <p:sp>
        <p:nvSpPr>
          <p:cNvPr id="269" name="Google Shape;269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Object Collaborations</a:t>
            </a:r>
            <a:endParaRPr/>
          </a:p>
        </p:txBody>
      </p:sp>
      <p:sp>
        <p:nvSpPr>
          <p:cNvPr id="275" name="Google Shape;275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76" name="Google Shape;27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Object Structure Diagram</a:t>
            </a:r>
            <a:endParaRPr/>
          </a:p>
        </p:txBody>
      </p:sp>
      <p:sp>
        <p:nvSpPr>
          <p:cNvPr id="282" name="Google Shape;282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83" name="Google Shape;28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Objects vs. Collaborations</a:t>
            </a:r>
            <a:endParaRPr/>
          </a:p>
        </p:txBody>
      </p:sp>
      <p:sp>
        <p:nvSpPr>
          <p:cNvPr id="289" name="Google Shape;289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object pattern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described using collaborations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for dynamic role playing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Simplifies persistence</a:t>
            </a:r>
            <a:endParaRPr/>
          </a:p>
        </p:txBody>
      </p:sp>
      <p:sp>
        <p:nvSpPr>
          <p:cNvPr id="290" name="Google Shape;290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96" name="Google Shape;296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Collaboration in UML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File system collaborations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Collaboration and class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History and related concepts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Role Object pattern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6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03" name="Google Shape;303;p46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09" name="Google Shape;309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10" name="Google Shape;310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AP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