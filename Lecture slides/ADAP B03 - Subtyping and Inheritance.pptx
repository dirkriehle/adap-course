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571799-A856-4213-81A0-5AF34CA6FF91}">
  <a:tblStyle styleId="{6B571799-A856-4213-81A0-5AF34CA6FF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2d3e3f7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2d3e3f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2d3e3f7d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2d3e3f7d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2dc61f0c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02dc61f0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02dc61f0c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02dc61f0c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2dc61f0c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2dc61f0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2dc61f0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2dc61f0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2dc61f0c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2dc61f0c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2dc61f0c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2dc61f0c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2dc61f0c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2dc61f0c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2dc61f0c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2dc61f0c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2dc61f0c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02dc61f0c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2dc61f0c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2dc61f0c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393da55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393da55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2dc61f0c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2dc61f0c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2dc61f0c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2dc61f0c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2dc61f0c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2dc61f0c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67255dc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167255dc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2dc61f0c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2dc61f0c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02dc61f0c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02dc61f0c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67255dcb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67255dcb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6bf9a562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16bf9a562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67255dcb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167255dcb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2dc61f0c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02dc61f0c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2dc61f0c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02dc61f0c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32be58f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032be58f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393da557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393da557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3047d5f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3047d5f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3047d5f21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3047d5f2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032be58fe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032be58fe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32be58fe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032be58fe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32be58fe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32be58fe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32be58fe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032be58fe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032be58fe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032be58fe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032be58fe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032be58fe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478ff7c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1478ff7c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032be58fe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032be58fe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32be58fe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32be58fe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14442235c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14442235c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1393da557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1393da557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Subtyping and Inheritance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B03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subtyping?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Liskov substitutability principle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Applied to class hierarchies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Co- and contravariance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Multiple inheritance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Abstract superclass rule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Cascading class hierarchies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What is Subtyping?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Subtyping Example 1 / 3</a:t>
            </a:r>
            <a:endParaRPr/>
          </a:p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1" name="Google Shape;7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Subtyping Example 2 / 3</a:t>
            </a:r>
            <a:endParaRPr/>
          </a:p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Subtyping Example 3 / 3</a:t>
            </a:r>
            <a:endParaRPr/>
          </a:p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Liskov Substitutability Principle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Subtype Requirement [1]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φ(x) be a property provable about objects x of type 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Then φ(y) should be provable for objects y of type S, where S is a subtype of T.</a:t>
            </a:r>
            <a:endParaRPr/>
          </a:p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A.k.a. the Liskov Substitutability Principle (LSP) [LW94]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Simpler Words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All properties that hold for instances of a supertype should also hold for instances of a subtype [DR]</a:t>
            </a:r>
            <a:endParaRPr/>
          </a:p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Simpler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Don’t surprise use-clients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Quiz: What’s the Surprise?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make Rectangle a subtype of Square?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make Square a subtype of Rectangle?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make 2DLine a subtype of Point?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you make Point a subtype of 2DLine?</a:t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Applied to Class Hierarchies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Subclasses as Extended Subtypes</a:t>
            </a:r>
            <a:endParaRPr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Subclasses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methods and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constraint superclasses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Subclasses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 behavior in defined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method signatures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covariant redefinition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Leads to parallel class hierarchies</a:t>
            </a:r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Subclasses as Constrained Subtypes</a:t>
            </a:r>
            <a:endParaRPr/>
          </a:p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 Superclass Refactoring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refactoring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Behavior-preserving transformation of existing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goal is to improve readability, remove redundancy,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extraction of an abstract superclass is a common refactoring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Fowler’s catalog [1] lists Extract Superclass (without “Abstract” though)</a:t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Martin Fowler. Refactoring (2nd Edition). Addison Wesley, 2018.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Co- and Contravariance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Covariant Redefinition of Return Types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return type has been covariantly redefined in a method definition,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return type of the subtype’s method is a subtype of the supertype’s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of covariant redefinition of return type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UserView.getUser(): </a:t>
            </a:r>
            <a:r>
              <a:rPr b="1" lang="en"/>
              <a:t>User</a:t>
            </a:r>
            <a:r>
              <a:rPr lang="en"/>
              <a:t> → ModeratorView.getUser(): </a:t>
            </a:r>
            <a:r>
              <a:rPr b="1" lang="en"/>
              <a:t>Moderator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subtype’s method “returns less” than what the supertype’s method promises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not violate the LSP (is within expectations)</a:t>
            </a:r>
            <a:endParaRPr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Contravariant Redefinition of Return Types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return type has been contravariantly redefined in a method definition,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return type of the subtype’s method is a supertype of the supertype’s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 of contravariant redefinition of return type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ModeratorView.getUser(): </a:t>
            </a:r>
            <a:r>
              <a:rPr b="1" lang="en"/>
              <a:t>Moderator</a:t>
            </a:r>
            <a:r>
              <a:rPr lang="en"/>
              <a:t> → AdministratorView.getUser(): </a:t>
            </a:r>
            <a:r>
              <a:rPr b="1" lang="en"/>
              <a:t>User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subtype’s method “returns more” than what the supertype’s method promises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Violate the LSP, because clients of the supertype’s methods might be surprised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/ </a:t>
            </a:r>
            <a:r>
              <a:rPr lang="en"/>
              <a:t>View</a:t>
            </a:r>
            <a:r>
              <a:rPr lang="en"/>
              <a:t>s Example 1 / 2</a:t>
            </a:r>
            <a:endParaRPr/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274325" y="1188720"/>
            <a:ext cx="4297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modAsUser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modAsUser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should work, no problem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274325" y="2743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Administrator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Administrator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mod3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mod3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will fail because mod3 is of dynamic type User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3840480" y="2514600"/>
            <a:ext cx="7317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3840480" y="3794760"/>
            <a:ext cx="7317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Covariant Redefinition of Argument Types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argument type has been covariantly redefined in a method definition,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argument type of subtype’s method is a subtype of the supertype’s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of covariant redefinition of argument type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UserView.setUser(u: </a:t>
            </a:r>
            <a:r>
              <a:rPr b="1" lang="en"/>
              <a:t>User</a:t>
            </a:r>
            <a:r>
              <a:rPr lang="en"/>
              <a:t>): void → ModeratorView.setUser(m: </a:t>
            </a:r>
            <a:r>
              <a:rPr b="1" lang="en"/>
              <a:t>Moderator</a:t>
            </a:r>
            <a:r>
              <a:rPr lang="en"/>
              <a:t>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subtype’s method “accepts less” than what the supertype’s method promises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violates the LSP and only makes sense if you think in relationships</a:t>
            </a:r>
            <a:endParaRPr/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Contravariant Redefinition of Argument Types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</a:t>
            </a:r>
            <a:r>
              <a:rPr lang="en"/>
              <a:t> argument type has been contravariantly redefined in a method definition,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argument type of the subtype’s method is a supertype of the supertype’s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of contravariant redefinition of argument type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ModeratorView.getUser(): </a:t>
            </a:r>
            <a:r>
              <a:rPr b="1" lang="en"/>
              <a:t>Moderator</a:t>
            </a:r>
            <a:r>
              <a:rPr lang="en"/>
              <a:t> → AdministratorView.getUser(): </a:t>
            </a:r>
            <a:r>
              <a:rPr b="1" lang="en"/>
              <a:t>User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subtype’s method “accepts more” than what the supertype’s method promises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not violate the LSP but also makes little sense in practice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/ </a:t>
            </a:r>
            <a:r>
              <a:rPr lang="en"/>
              <a:t>View</a:t>
            </a:r>
            <a:r>
              <a:rPr lang="en"/>
              <a:t>s Argument Type Example</a:t>
            </a:r>
            <a:endParaRPr/>
          </a:p>
        </p:txBody>
      </p:sp>
      <p:sp>
        <p:nvSpPr>
          <p:cNvPr id="198" name="Google Shape;198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274325" y="1280160"/>
            <a:ext cx="4297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modAsUser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modAsUser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setup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mod2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creates failure point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moderate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should fail</a:t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274325" y="27432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getUser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no problem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admin1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Administrator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Administrator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administer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will fail but also was not promised</a:t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3840480" y="2514600"/>
            <a:ext cx="7317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/>
          <p:nvPr/>
        </p:nvSpPr>
        <p:spPr>
          <a:xfrm>
            <a:off x="3840480" y="3794760"/>
            <a:ext cx="7317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Co- and Contravariance in Typescript</a:t>
            </a:r>
            <a:endParaRPr/>
          </a:p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210" name="Google Shape;210;p30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{6B571799-A856-4213-81A0-5AF34CA6FF91}</a:tableStyleId>
              </a:tblPr>
              <a:tblGrid>
                <a:gridCol w="2865125"/>
                <a:gridCol w="2865125"/>
                <a:gridCol w="2865125"/>
              </a:tblGrid>
              <a:tr h="9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Covariant Redefinition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Contravariant Redefinition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Return type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is allowed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is not allowed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Argument type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is allowed [2]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should not be allowed [1]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is allowed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3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Should not be allowed because it violates the LSP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Only makes sense if class (role type) is part of a collaboration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Class Hierarchies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274323" y="914400"/>
            <a:ext cx="4297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class </a:t>
            </a:r>
            <a:r>
              <a:rPr lang="en"/>
              <a:t>hierarchies</a:t>
            </a:r>
            <a:r>
              <a:rPr lang="en"/>
              <a:t>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related class hierarchies, subclassed in parallel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using covariant redefinition of both return and argument 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design focus is on the collaboration</a:t>
            </a:r>
            <a:endParaRPr/>
          </a:p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4400"/>
            <a:ext cx="4297680" cy="364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Multiple Inheritance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Inheritance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inheritance is when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class has 2+ superclasses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Does not imply substitutability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Cf. C++’s private inheritance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 a Typescript feature</a:t>
            </a:r>
            <a:endParaRPr/>
          </a:p>
        </p:txBody>
      </p:sp>
      <p:sp>
        <p:nvSpPr>
          <p:cNvPr id="231" name="Google Shape;231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32" name="Google Shape;23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delegation is when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class delegates its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Generally better than multiple inheritance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Choose delegation over inheritance</a:t>
            </a:r>
            <a:endParaRPr/>
          </a:p>
        </p:txBody>
      </p:sp>
      <p:sp>
        <p:nvSpPr>
          <p:cNvPr id="238" name="Google Shape;238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Delegation</a:t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88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Composition over Inheritance</a:t>
            </a:r>
            <a:endParaRPr/>
          </a:p>
        </p:txBody>
      </p:sp>
      <p:sp>
        <p:nvSpPr>
          <p:cNvPr id="246" name="Google Shape;246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composition over inheritance principle states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should favor object composition over class inheritance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A.k.a. delegation over inheritance (principle)</a:t>
            </a:r>
            <a:endParaRPr/>
          </a:p>
        </p:txBody>
      </p:sp>
      <p:sp>
        <p:nvSpPr>
          <p:cNvPr id="247" name="Google Shape;247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Abstract Superclass Rule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 vs. Abstractness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relationship between two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Abstractness / concreteness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relationship between a class and its instances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Superclass Rule (ASR)</a:t>
            </a:r>
            <a:endParaRPr/>
          </a:p>
        </p:txBody>
      </p:sp>
      <p:sp>
        <p:nvSpPr>
          <p:cNvPr id="265" name="Google Shape;265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superclasses must be abstract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Corollary: Never subclass a concrete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ASR in Framework vs. Application</a:t>
            </a:r>
            <a:endParaRPr/>
          </a:p>
        </p:txBody>
      </p:sp>
      <p:sp>
        <p:nvSpPr>
          <p:cNvPr id="272" name="Google Shape;272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framework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Leaf classes may be abstract (awaiting subclassing)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Leaf classes may be concrete (if ready to use)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an application (based on a framework)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Framework l</a:t>
            </a:r>
            <a:r>
              <a:rPr lang="en"/>
              <a:t>eaf </a:t>
            </a:r>
            <a:r>
              <a:rPr lang="en"/>
              <a:t>classes may be abstract if unused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leaf classes must be concrete</a:t>
            </a:r>
            <a:endParaRPr/>
          </a:p>
        </p:txBody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ASR and LSP</a:t>
            </a:r>
            <a:endParaRPr/>
          </a:p>
        </p:txBody>
      </p:sp>
      <p:sp>
        <p:nvSpPr>
          <p:cNvPr id="279" name="Google Shape;279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ASR helps to comply with the LSP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ASR automatically casts subclasses as constrained subtypes</a:t>
            </a:r>
            <a:endParaRPr/>
          </a:p>
        </p:txBody>
      </p:sp>
      <p:sp>
        <p:nvSpPr>
          <p:cNvPr id="280" name="Google Shape;280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Pragmatics of ASR</a:t>
            </a:r>
            <a:endParaRPr/>
          </a:p>
        </p:txBody>
      </p:sp>
      <p:sp>
        <p:nvSpPr>
          <p:cNvPr id="286" name="Google Shape;286;p41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Logically separate abstract class from</a:t>
            </a:r>
            <a:br>
              <a:rPr lang="en"/>
            </a:br>
            <a:r>
              <a:rPr lang="en"/>
              <a:t>generic implementation subclass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Pragmatically, merge implementation</a:t>
            </a:r>
            <a:br>
              <a:rPr lang="en"/>
            </a:br>
            <a:r>
              <a:rPr lang="en"/>
              <a:t>class into abstract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Make abstract class concrete but</a:t>
            </a:r>
            <a:br>
              <a:rPr lang="en"/>
            </a:br>
            <a:r>
              <a:rPr lang="en"/>
              <a:t>maintain inheritance interface</a:t>
            </a:r>
            <a:endParaRPr/>
          </a:p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88" name="Google Shape;28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14400"/>
            <a:ext cx="4297680" cy="364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Hierarchy Evolution</a:t>
            </a:r>
            <a:endParaRPr/>
          </a:p>
        </p:txBody>
      </p:sp>
      <p:sp>
        <p:nvSpPr>
          <p:cNvPr id="294" name="Google Shape;294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2743200" y="2455825"/>
            <a:ext cx="1371600" cy="548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4297680" cy="3620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914400"/>
            <a:ext cx="4297680" cy="364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Cascading Class Hierarchies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and After Methods</a:t>
            </a:r>
            <a:endParaRPr/>
          </a:p>
        </p:txBody>
      </p:sp>
      <p:sp>
        <p:nvSpPr>
          <p:cNvPr id="308" name="Google Shape;308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and after methods wrap a method’s main body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typically come in pairs and are about a meta issue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before method sets something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after method tears it down</a:t>
            </a:r>
            <a:endParaRPr/>
          </a:p>
        </p:txBody>
      </p:sp>
      <p:sp>
        <p:nvSpPr>
          <p:cNvPr id="309" name="Google Shape;309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with Service Example</a:t>
            </a:r>
            <a:endParaRPr/>
          </a:p>
        </p:txBody>
      </p:sp>
      <p:sp>
        <p:nvSpPr>
          <p:cNvPr id="315" name="Google Shape;315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MyAppMain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"./MyAppMain"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appMain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MyAppMain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MyAppMain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appMain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slice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7" name="Google Shape;31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4297680" cy="363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Inheritance Interfaces 1 / 2</a:t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parseArgs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parseArgs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 (expect subclass to override)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 (expect subclass to override)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 (expect subclass to override)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Google Shape;324;p46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"./Main"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loadModel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loadModel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 (expect subclass to override)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saveModel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saveModel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 (expect subclass to override)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" name="Google Shape;325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Inheritance Interfaces 2 / 2</a:t>
            </a:r>
            <a:endParaRPr/>
          </a:p>
        </p:txBody>
      </p:sp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274325" y="914400"/>
            <a:ext cx="4297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"./ModelMain"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ServiceMain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ModelMain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startService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startService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/*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 */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start main event loop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closeService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 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closeService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/* ... */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2" name="Google Shape;332;p47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ServiceMain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"./ServiceMain"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MyAppMain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ServiceMain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loadModel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startService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saveModel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closeService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39" name="Google Shape;339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subtyping?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Liskov substitutability principle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Applied to class hierarchies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Co- and contravariance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Multiple inheritance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Abstract superclass rule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Cascading class hierarchies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46" name="Google Shape;346;p4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52" name="Google Shape;352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53" name="Google Shape;353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