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DFA73F-9B91-4E97-AA3C-EDA130B5C314}">
  <a:tblStyle styleId="{14DFA73F-9B91-4E97-AA3C-EDA130B5C31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d39d6dfef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d39d6dfef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043fbd30e8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043fbd30e8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1442cd50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1442cd50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043fbd30e8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043fbd30e8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043fbd30e8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043fbd30e8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043fbd30e8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043fbd30e8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d39c0dc8d4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d39c0dc8d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d39c0dc8d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2d39c0dc8d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d39c0dc8d4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d39c0dc8d4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d39c0dc8d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d39c0dc8d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043fbd30e8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043fbd30e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043fbd30e8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043fbd30e8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d39c0dc8d4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2d39c0dc8d4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d39c0dc8d4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d39c0dc8d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d39c0dc8d4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d39c0dc8d4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39c0dc8d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d39c0dc8d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d39c0dc8d4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d39c0dc8d4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2d39c0dc8d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2d39c0dc8d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043fbd30e8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043fbd30e8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043fbd30e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043fbd30e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d39d6dfe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d39d6dfe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d39d6dfef6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2d39d6dfef6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d39d6dfef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d39d6dfef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d39d6dfef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d39d6dfef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d39d6dfef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d39d6dfef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043fbd30e8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043fbd30e8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d39d6dfef6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d39d6dfef6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d39d6dfef6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2d39d6dfef6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d39d6dfef6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d39d6dfef6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043fbd30e8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043fbd30e8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043fbd30e8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043fbd30e8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043fbd30e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043fbd30e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0ae6dadd80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0ae6dadd8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B04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contract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Expressing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</a:t>
            </a:r>
            <a:r>
              <a:rPr lang="en"/>
              <a:t>violations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pragmatics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Terminology</a:t>
            </a:r>
            <a:endParaRPr/>
          </a:p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the file “/usr/bin/ls”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“ls” is called the </a:t>
            </a:r>
            <a:r>
              <a:rPr b="1" lang="en"/>
              <a:t>base name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“/usr/bin” is called the </a:t>
            </a:r>
            <a:r>
              <a:rPr b="1" lang="en"/>
              <a:t>dir(ectory) name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“/usr/bin/ls” is called the </a:t>
            </a:r>
            <a:r>
              <a:rPr b="1" lang="en"/>
              <a:t>full name</a:t>
            </a:r>
            <a:endParaRPr b="1"/>
          </a:p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Filesystem Example</a:t>
            </a:r>
            <a:endParaRPr/>
          </a:p>
        </p:txBody>
      </p:sp>
      <p:sp>
        <p:nvSpPr>
          <p:cNvPr id="72" name="Google Shape;72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3" name="Google Shape;7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vs. Instance in Filesystem Example</a:t>
            </a:r>
            <a:endParaRPr/>
          </a:p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80" name="Google Shape;80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Design by Contract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 </a:t>
            </a:r>
            <a:r>
              <a:rPr lang="en"/>
              <a:t>[M91]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 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design as a succession of contracting decisions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0" y="4233675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[M91] Meyer, B. (1991). Design by Contract. Chapter 1 in Mandrioli, D., Meyer, B. (1991). Advances in Object-oriented Software Engineering. Prentice-Hall.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contract specifies rights (benefits) and obligations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Between a client (consumer) and contractor (supplier)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Contracts are (ideally) exhaustive; there are no hidden clauses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Rights and obligations are mutual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client obligation (precondition) is contractor’s right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contractor obligation (postcondition) is a client’s right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contract protects both sides of the deal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client is guaranteed a result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contractor is guaranteed a specified operating environment</a:t>
            </a:r>
            <a:endParaRPr/>
          </a:p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Client-File Contract 1 / 2</a:t>
            </a:r>
            <a:endParaRPr/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07" name="Google Shape;10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Where do you check that the obligations are met?</a:t>
            </a:r>
            <a:endParaRPr/>
          </a:p>
        </p:txBody>
      </p:sp>
      <p:sp>
        <p:nvSpPr>
          <p:cNvPr id="113" name="Google Shape;113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Client-File Contract 2 / 2</a:t>
            </a:r>
            <a:endParaRPr/>
          </a:p>
        </p:txBody>
      </p:sp>
      <p:sp>
        <p:nvSpPr>
          <p:cNvPr id="114" name="Google Shape;114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115" name="Google Shape;115;p17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{14DFA73F-9B91-4E97-AA3C-EDA130B5C314}</a:tableStyleId>
              </a:tblPr>
              <a:tblGrid>
                <a:gridCol w="1548300"/>
                <a:gridCol w="3523525"/>
                <a:gridCol w="3523525"/>
              </a:tblGrid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Rights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Obligations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Client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See contractor obligations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Provide valid base name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open an open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open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close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close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read from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read from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write to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Contractor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See client obligations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Perform functions properly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Defensive Programming</a:t>
            </a:r>
            <a:endParaRPr/>
          </a:p>
        </p:txBody>
      </p:sp>
      <p:sp>
        <p:nvSpPr>
          <p:cNvPr id="121" name="Google Shape;121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22" name="Google Shape;122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Defensive programming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Wikipedia: “[...] the programmer never assumes a particular function call or library will work as advertised”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Meyer: “[...] protect every software module by as many checks as possible, even those which are redundant with checks made by the clients”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with defensive programming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Multiplies the amount of checking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to bloated, hard-to-read, slow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Redundant code is (mostly) a bad idea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Benefits of Design by Contract</a:t>
            </a:r>
            <a:endParaRPr/>
          </a:p>
        </p:txBody>
      </p:sp>
      <p:sp>
        <p:nvSpPr>
          <p:cNvPr id="128" name="Google Shape;128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Leads to well-specified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Leads to clean separation of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Makes software more reliable</a:t>
            </a:r>
            <a:endParaRPr/>
          </a:p>
        </p:txBody>
      </p:sp>
      <p:sp>
        <p:nvSpPr>
          <p:cNvPr id="129" name="Google Shape;12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Expressing Contracts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Expressing Contracts</a:t>
            </a:r>
            <a:endParaRPr/>
          </a:p>
        </p:txBody>
      </p:sp>
      <p:sp>
        <p:nvSpPr>
          <p:cNvPr id="140" name="Google Shape;140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Preconditions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Postconditions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invariants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precondition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to be met for successful method entry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purpose is to guarantee a safe operating environment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violated, the method should not be executed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client must make sure preconditions are met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violation in the preconditions indicates a bug in the client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Preconditions are method-level components of a contract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Preconditions</a:t>
            </a:r>
            <a:endParaRPr/>
          </a:p>
        </p:txBody>
      </p:sp>
      <p:sp>
        <p:nvSpPr>
          <p:cNvPr id="148" name="Google Shape;148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Example</a:t>
            </a:r>
            <a:endParaRPr/>
          </a:p>
        </p:txBody>
      </p:sp>
      <p:sp>
        <p:nvSpPr>
          <p:cNvPr id="154" name="Google Shape;154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IllegalArgumentException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"../common/IllegalArgumentException"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Postconditions</a:t>
            </a:r>
            <a:endParaRPr/>
          </a:p>
        </p:txBody>
      </p:sp>
      <p:sp>
        <p:nvSpPr>
          <p:cNvPr id="161" name="Google Shape;161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postcondition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guaranteed after successful method exit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method must make sure postconditions are met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violation of a postcondition indicates a bug in the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Postconditions are method-level components of a contract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Postcondition Example</a:t>
            </a:r>
            <a:endParaRPr/>
          </a:p>
        </p:txBody>
      </p:sp>
      <p:sp>
        <p:nvSpPr>
          <p:cNvPr id="168" name="Google Shape;16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MethodFailedException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assertIsValidPhiAsPostcondition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POSTCONDITION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9" name="Google Shape;169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Class Invariants</a:t>
            </a:r>
            <a:endParaRPr/>
          </a:p>
        </p:txBody>
      </p:sp>
      <p:sp>
        <p:nvSpPr>
          <p:cNvPr id="175" name="Google Shape;175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class invariant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that is true for any valid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Permanent violation of the class invariant indicates a broken object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Temporary violation is possible during method execution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 invariants are constraints on the object’s state space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class (implementation) must make sure its invariants are maintained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 invariants are class-level components of a contract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assertIsValidPhiAsClassInvariant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assertIsValidPhiAsClassInvariant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CLASS_INVARIANT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2" name="Google Shape;18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Invariants Example</a:t>
            </a:r>
            <a:endParaRPr/>
          </a:p>
        </p:txBody>
      </p:sp>
      <p:sp>
        <p:nvSpPr>
          <p:cNvPr id="183" name="Google Shape;183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Implementing Contracts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Defining Contracts</a:t>
            </a:r>
            <a:endParaRPr/>
          </a:p>
        </p:txBody>
      </p:sp>
      <p:sp>
        <p:nvSpPr>
          <p:cNvPr id="194" name="Google Shape;194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to define a contract?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invariants in (class)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Pre- and postconditions in public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not for protected / private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to define a contract?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comments (documentation)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class or method annotations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asserts or assertion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Contracts are part of the public interface</a:t>
            </a:r>
            <a:endParaRPr/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Assertion Methods</a:t>
            </a:r>
            <a:endParaRPr/>
          </a:p>
        </p:txBody>
      </p:sp>
      <p:sp>
        <p:nvSpPr>
          <p:cNvPr id="201" name="Google Shape;201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Wrap assertions in assertion methods; they should be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Side-effect free (no call to any mutation method)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Throw an assertion-specific exception upon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Assertions can be programmed like any other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Reuse assertion code by parameterization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assertions into larger assertion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Inherit assertion methods along the class hierarchy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Preconditions With Assertion Methods </a:t>
            </a:r>
            <a:endParaRPr/>
          </a:p>
        </p:txBody>
      </p:sp>
      <p:sp>
        <p:nvSpPr>
          <p:cNvPr id="208" name="Google Shape;208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Preconditions guard the entry to a public client-facing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 the corresponding assertion methods before the main method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Precondition assertion methods are a form of before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a precondition must leave the object in a 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no mutation methods have been run yet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exception signals the client is at fault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Postconditions With Assertion Methods </a:t>
            </a:r>
            <a:endParaRPr/>
          </a:p>
        </p:txBody>
      </p:sp>
      <p:sp>
        <p:nvSpPr>
          <p:cNvPr id="215" name="Google Shape;215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Postconditions ensure valid exit of a public client-facing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 the corresponding assertion methods after the main method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Postcondition assertion methods are a form of after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the postcondition implies the service couldn’t be performed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method should return the object to its method-entry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exception signals contractor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Class Invariants With Assertion Methods </a:t>
            </a:r>
            <a:endParaRPr/>
          </a:p>
        </p:txBody>
      </p:sp>
      <p:sp>
        <p:nvSpPr>
          <p:cNvPr id="222" name="Google Shape;222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invariants ensure that the object is in a 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Express the valid state space as a set of assertions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all assertions into one assertion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the class invariant implies the object is in an invalid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how and why is probably unclear</a:t>
            </a:r>
            <a:endParaRPr/>
          </a:p>
        </p:txBody>
      </p:sp>
      <p:sp>
        <p:nvSpPr>
          <p:cNvPr id="223" name="Google Shape;223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Public Interface vs. Protected / Private Implementation</a:t>
            </a:r>
            <a:endParaRPr/>
          </a:p>
        </p:txBody>
      </p:sp>
      <p:sp>
        <p:nvSpPr>
          <p:cNvPr id="229" name="Google Shape;229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contract only applies to the public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assertions are run before and after any </a:t>
            </a:r>
            <a:r>
              <a:rPr lang="en"/>
              <a:t>implementation</a:t>
            </a:r>
            <a:r>
              <a:rPr lang="en"/>
              <a:t>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While inside the object’s code, the public contract does not apply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still use assertion methods for other purposes</a:t>
            </a:r>
            <a:endParaRPr/>
          </a:p>
        </p:txBody>
      </p:sp>
      <p:sp>
        <p:nvSpPr>
          <p:cNvPr id="230" name="Google Shape;230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Contract Violations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 Violations</a:t>
            </a:r>
            <a:endParaRPr/>
          </a:p>
        </p:txBody>
      </p:sp>
      <p:sp>
        <p:nvSpPr>
          <p:cNvPr id="241" name="Google Shape;241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client did not fulfill the contract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contractor could not provide the service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is wrong, really wrong</a:t>
            </a:r>
            <a:endParaRPr/>
          </a:p>
        </p:txBody>
      </p:sp>
      <p:sp>
        <p:nvSpPr>
          <p:cNvPr id="242" name="Google Shape;242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Recovery From Assertion Failure</a:t>
            </a:r>
            <a:endParaRPr/>
          </a:p>
        </p:txBody>
      </p:sp>
      <p:sp>
        <p:nvSpPr>
          <p:cNvPr id="248" name="Google Shape;24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Nothing to recover from; object remained in valid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Called method needs to return to initial valid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Onus is on client; needs to reset the object to a valid state</a:t>
            </a:r>
            <a:endParaRPr/>
          </a:p>
        </p:txBody>
      </p:sp>
      <p:sp>
        <p:nvSpPr>
          <p:cNvPr id="249" name="Google Shape;249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Exceptions to Use [1]</a:t>
            </a:r>
            <a:endParaRPr/>
          </a:p>
        </p:txBody>
      </p:sp>
      <p:sp>
        <p:nvSpPr>
          <p:cNvPr id="255" name="Google Shape;255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Precondition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IllegalArgumentException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MethodFailedException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InvalidStateException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57" name="Google Shape;257;p3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Javascript’s “Error” classes are a misnomer; exceptions are not errors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 and Control Flow</a:t>
            </a:r>
            <a:endParaRPr/>
          </a:p>
        </p:txBody>
      </p:sp>
      <p:sp>
        <p:nvSpPr>
          <p:cNvPr id="263" name="Google Shape;263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regular control flow (return) if nothing went wrong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</a:t>
            </a:r>
            <a:r>
              <a:rPr lang="en"/>
              <a:t>exception</a:t>
            </a:r>
            <a:r>
              <a:rPr lang="en"/>
              <a:t> to indicate contract violation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Client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Continue in regular control flow if nothing went wrong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Either resume operations or escalate 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More on this in lecture on error and exception handling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Contract Pragmatics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 Pragmatics</a:t>
            </a:r>
            <a:endParaRPr/>
          </a:p>
        </p:txBody>
      </p:sp>
      <p:sp>
        <p:nvSpPr>
          <p:cNvPr id="275" name="Google Shape;275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Focus on preconditions to guard execution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 and Subtyping</a:t>
            </a:r>
            <a:endParaRPr/>
          </a:p>
        </p:txBody>
      </p:sp>
      <p:sp>
        <p:nvSpPr>
          <p:cNvPr id="282" name="Google Shape;282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 methods may have less requirements (weaken preconditions)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Contravariant redefinition of argument types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Subclass methods may guarantee more (strengthen postconditions)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Covariant redefinition of return types</a:t>
            </a:r>
            <a:endParaRPr/>
          </a:p>
        </p:txBody>
      </p:sp>
      <p:sp>
        <p:nvSpPr>
          <p:cNvPr id="283" name="Google Shape;283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contract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Expressing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violations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pragmatics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96" name="Google Shape;296;p44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02" name="Google Shape;302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03" name="Google Shape;303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