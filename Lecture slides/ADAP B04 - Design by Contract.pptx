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54B5AFD-E617-4E7D-91CC-5EA4EEAF3619}">
  <a:tblStyle styleId="{654B5AFD-E617-4E7D-91CC-5EA4EEAF361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20" Type="http://schemas.openxmlformats.org/officeDocument/2006/relationships/slide" Target="slides/slide1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22" Type="http://schemas.openxmlformats.org/officeDocument/2006/relationships/slide" Target="slides/slide16.xml"/><Relationship Id="rId44" Type="http://schemas.openxmlformats.org/officeDocument/2006/relationships/slide" Target="slides/slide38.xml"/><Relationship Id="rId21" Type="http://schemas.openxmlformats.org/officeDocument/2006/relationships/slide" Target="slides/slide15.xml"/><Relationship Id="rId43" Type="http://schemas.openxmlformats.org/officeDocument/2006/relationships/slide" Target="slides/slide37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slide" Target="slides/slide31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39" Type="http://schemas.openxmlformats.org/officeDocument/2006/relationships/slide" Target="slides/slide33.xml"/><Relationship Id="rId16" Type="http://schemas.openxmlformats.org/officeDocument/2006/relationships/slide" Target="slides/slide10.xml"/><Relationship Id="rId38" Type="http://schemas.openxmlformats.org/officeDocument/2006/relationships/slide" Target="slides/slide32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2fe02fb283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2fe02fb283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2d39d6dfef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2d39d6dfef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043fbd30e8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043fbd30e8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1442cd504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1442cd504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043fbd30e8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043fbd30e8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043fbd30e8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043fbd30e8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043fbd30e8_0_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043fbd30e8_0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2d39c0dc8d4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2d39c0dc8d4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2d39c0dc8d4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2d39c0dc8d4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d39c0dc8d4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d39c0dc8d4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d39c0dc8d4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d39c0dc8d4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043fbd30e8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043fbd30e8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043fbd30e8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043fbd30e8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2d39c0dc8d4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2d39c0dc8d4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2d39c0dc8d4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2d39c0dc8d4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2d39c0dc8d4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2d39c0dc8d4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d39c0dc8d4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2d39c0dc8d4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d39c0dc8d4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2d39c0dc8d4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2d39c0dc8d4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2d39c0dc8d4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043fbd30e8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043fbd30e8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043fbd30e8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043fbd30e8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2d39d6dfe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2d39d6dfe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2d39d6dfef6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2d39d6dfef6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2d39d6dfef6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2d39d6dfef6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2d39d6dfef6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2d39d6dfef6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2d39d6dfef6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2d39d6dfef6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043fbd30e8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043fbd30e8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d39d6dfef6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d39d6dfef6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2d39d6dfef6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2d39d6dfef6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2d39d6dfef6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2d39d6dfef6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043fbd30e8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3043fbd30e8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043fbd30e8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3043fbd30e8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3043fbd30e8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3043fbd30e8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0ae6dadd80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30ae6dadd80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2fe02fb283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2fe02fb283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239609b2c0c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239609b2c0c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239609b2c0c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239609b2c0c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oss.cs.fau.d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oss.cs.fau.de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ss.cs.fau.de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ss.cs.fau.de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ss.cs.fau.de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oss.cs.fau.de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oss.cs.fau.de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oss.cs.fau.de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oss.cs.fau.de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ss.cs.fau.de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oss.cs.fau.de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oss.cs.fau.de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oss.cs.fau.de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oss.cs.fau.de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oss.cs.fau.de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oss.cs.fau.de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oss.cs.fau.de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oss.cs.fau.de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oss.cs.fau.de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oss.cs.fau.de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oss.cs.fau.de" TargetMode="Externa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oss.cs.fau.de" TargetMode="Externa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oss.cs.fau.de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oss.cs.fau.de" TargetMode="Externa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oss.cs.fau.de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oss.cs.fau.de" TargetMode="Externa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by Contract</a:t>
            </a:r>
            <a:endParaRPr/>
          </a:p>
        </p:txBody>
      </p:sp>
      <p:sp>
        <p:nvSpPr>
          <p:cNvPr id="52" name="Google Shape;52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ADAP B04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58" name="Google Shape;58;p9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Design by contract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Expressing contracts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Implementing contracts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Contract </a:t>
            </a:r>
            <a:r>
              <a:rPr lang="en"/>
              <a:t>violations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Contract pragmatics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 Terminology</a:t>
            </a:r>
            <a:endParaRPr/>
          </a:p>
        </p:txBody>
      </p:sp>
      <p:sp>
        <p:nvSpPr>
          <p:cNvPr id="65" name="Google Shape;65;p1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Given the file “/usr/bin/ls”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“ls” is called the </a:t>
            </a:r>
            <a:r>
              <a:rPr b="1" lang="en"/>
              <a:t>base name</a:t>
            </a:r>
            <a:endParaRPr b="1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“/usr/bin” is called the </a:t>
            </a:r>
            <a:r>
              <a:rPr b="1" lang="en"/>
              <a:t>dir(ectory) name</a:t>
            </a:r>
            <a:endParaRPr b="1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“/usr/bin/ls” is called the </a:t>
            </a:r>
            <a:r>
              <a:rPr b="1" lang="en"/>
              <a:t>full name</a:t>
            </a:r>
            <a:endParaRPr b="1"/>
          </a:p>
        </p:txBody>
      </p:sp>
      <p:sp>
        <p:nvSpPr>
          <p:cNvPr id="66" name="Google Shape;66;p1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Filesystem Example</a:t>
            </a:r>
            <a:endParaRPr/>
          </a:p>
        </p:txBody>
      </p:sp>
      <p:sp>
        <p:nvSpPr>
          <p:cNvPr id="72" name="Google Shape;72;p1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73" name="Google Shape;73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 vs. Instance in Filesystem Example</a:t>
            </a:r>
            <a:endParaRPr/>
          </a:p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80" name="Google Shape;80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Design by Contract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by Contract </a:t>
            </a:r>
            <a:r>
              <a:rPr lang="en"/>
              <a:t>[M91]</a:t>
            </a:r>
            <a:endParaRPr/>
          </a:p>
        </p:txBody>
      </p:sp>
      <p:sp>
        <p:nvSpPr>
          <p:cNvPr id="91" name="Google Shape;91;p1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by contract views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Software design as a succession of contracting decisions</a:t>
            </a:r>
            <a:endParaRPr/>
          </a:p>
        </p:txBody>
      </p:sp>
      <p:sp>
        <p:nvSpPr>
          <p:cNvPr id="92" name="Google Shape;92;p1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93" name="Google Shape;93;p14"/>
          <p:cNvSpPr txBox="1"/>
          <p:nvPr/>
        </p:nvSpPr>
        <p:spPr>
          <a:xfrm>
            <a:off x="0" y="4233675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[M91] Meyer, B. (1991). Design by Contract. Chapter 1 in Mandrioli, D., Meyer, B. (1991). Advances in Object-oriented Software Engineering. Prentice-Hall.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Contracts</a:t>
            </a:r>
            <a:endParaRPr/>
          </a:p>
        </p:txBody>
      </p:sp>
      <p:sp>
        <p:nvSpPr>
          <p:cNvPr id="99" name="Google Shape;99;p1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contract specifies rights (benefits) and obligations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Between a client (consumer) and contractor (supplier)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Contracts are (ideally) exhaustive; there are no hidden clauses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Rights and obligations are mutual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client obligation (precondition) is contractor’s right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contractor obligation (postcondition) is a client’s right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 contract protects both sides of the deal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client is guaranteed a result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contractor is guaranteed a specified operating environment</a:t>
            </a:r>
            <a:endParaRPr/>
          </a:p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Client-File Contract 1 / 2</a:t>
            </a:r>
            <a:endParaRPr/>
          </a:p>
        </p:txBody>
      </p:sp>
      <p:sp>
        <p:nvSpPr>
          <p:cNvPr id="106" name="Google Shape;106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pic>
        <p:nvPicPr>
          <p:cNvPr id="107" name="Google Shape;10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502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Where do you check that the obligations are met?</a:t>
            </a:r>
            <a:endParaRPr/>
          </a:p>
        </p:txBody>
      </p:sp>
      <p:sp>
        <p:nvSpPr>
          <p:cNvPr id="113" name="Google Shape;113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Client-File Contract 2 / 2</a:t>
            </a:r>
            <a:endParaRPr/>
          </a:p>
        </p:txBody>
      </p:sp>
      <p:sp>
        <p:nvSpPr>
          <p:cNvPr id="114" name="Google Shape;114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aphicFrame>
        <p:nvGraphicFramePr>
          <p:cNvPr id="115" name="Google Shape;115;p17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{654B5AFD-E617-4E7D-91CC-5EA4EEAF3619}</a:tableStyleId>
              </a:tblPr>
              <a:tblGrid>
                <a:gridCol w="1548300"/>
                <a:gridCol w="3523525"/>
                <a:gridCol w="3523525"/>
              </a:tblGrid>
              <a:tr h="100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Rights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Obligations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100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Client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See contractor obligations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Provide valid base name</a:t>
                      </a:r>
                      <a:endParaRPr/>
                    </a:p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Don’t open an open file</a:t>
                      </a:r>
                      <a:endParaRPr/>
                    </a:p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Don’t open a deleted file</a:t>
                      </a:r>
                      <a:endParaRPr/>
                    </a:p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Don’t close a closed file</a:t>
                      </a:r>
                      <a:endParaRPr/>
                    </a:p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Don’t close a deleted file</a:t>
                      </a:r>
                      <a:endParaRPr/>
                    </a:p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Don’t read from a closed file</a:t>
                      </a:r>
                      <a:endParaRPr/>
                    </a:p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Don’t read from a deleted file</a:t>
                      </a:r>
                      <a:endParaRPr/>
                    </a:p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Don’t write to a closed file</a:t>
                      </a:r>
                      <a:endParaRPr/>
                    </a:p>
                    <a:p>
                      <a:pPr indent="-31750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SzPts val="1400"/>
                        <a:buChar char="●"/>
                      </a:pPr>
                      <a:r>
                        <a:rPr lang="en"/>
                        <a:t>…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00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Contractor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See client obligations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Perform functions properly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Defensive Programming</a:t>
            </a:r>
            <a:endParaRPr/>
          </a:p>
        </p:txBody>
      </p:sp>
      <p:sp>
        <p:nvSpPr>
          <p:cNvPr id="121" name="Google Shape;121;p1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22" name="Google Shape;122;p1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Defensive programming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Wikipedia: “[...] the programmer never assumes a particular function call or library will work as advertised”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Meyer: “[...] protect every software module by as many checks as possible, even those which are redundant with checks made by the clients”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Problems with defensive programming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Multiplies the amount of checking code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Leads to bloated, hard-to-read, slow code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Redundant code is (mostly) a bad idea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Benefits of Design by Contract</a:t>
            </a:r>
            <a:endParaRPr/>
          </a:p>
        </p:txBody>
      </p:sp>
      <p:sp>
        <p:nvSpPr>
          <p:cNvPr id="128" name="Google Shape;128;p1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Leads to well-specified interfaces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Leads to clean separation of work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Makes software more reliable</a:t>
            </a:r>
            <a:endParaRPr/>
          </a:p>
        </p:txBody>
      </p:sp>
      <p:sp>
        <p:nvSpPr>
          <p:cNvPr id="129" name="Google Shape;129;p1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Expressing Contracts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Expressing Contracts</a:t>
            </a:r>
            <a:endParaRPr/>
          </a:p>
        </p:txBody>
      </p:sp>
      <p:sp>
        <p:nvSpPr>
          <p:cNvPr id="140" name="Google Shape;140;p2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Preconditions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Postconditions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Class invariants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precondition 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boolean condition to be met for successful method entry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purpose is to guarantee a safe operating environment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violated, the method should not be executed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client must make sure preconditions are met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violation in the preconditions indicates a bug in the client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Preconditions are method-level components of a contract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Preconditions</a:t>
            </a:r>
            <a:endParaRPr/>
          </a:p>
        </p:txBody>
      </p:sp>
      <p:sp>
        <p:nvSpPr>
          <p:cNvPr id="148" name="Google Shape;148;p2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Precondition Example</a:t>
            </a:r>
            <a:endParaRPr/>
          </a:p>
        </p:txBody>
      </p:sp>
      <p:sp>
        <p:nvSpPr>
          <p:cNvPr id="154" name="Google Shape;154;p2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import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IllegalArgumentException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} </a:t>
            </a: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"../common/IllegalArgumentException"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export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implements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Coordinate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assertIsValidPhiAsPrecondition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assertIsValidPhiAsPrecondition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ExceptionType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PRECONDITION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et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ExceptionType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condition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||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&gt;=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*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AssertionDispatcher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dispatch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condition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"invalid phi value"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>
              <a:solidFill>
                <a:srgbClr val="AF00D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Postconditions</a:t>
            </a:r>
            <a:endParaRPr/>
          </a:p>
        </p:txBody>
      </p:sp>
      <p:sp>
        <p:nvSpPr>
          <p:cNvPr id="161" name="Google Shape;161;p2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postcondition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boolean condition guaranteed after successful method exit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method must make sure postconditions are met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violation of a postcondition indicates a bug in the method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Postconditions are method-level components of a contract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2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Postcondition Example</a:t>
            </a:r>
            <a:endParaRPr/>
          </a:p>
        </p:txBody>
      </p:sp>
      <p:sp>
        <p:nvSpPr>
          <p:cNvPr id="168" name="Google Shape;168;p2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MethodFailedException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assertCondition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assertIsValidPhiAsPostcondition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ExceptionType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POSTCONDITION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et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ExceptionType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condition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||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&gt;=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*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AssertionDispatcher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dispatch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condition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"invalid phi value"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>
              <a:solidFill>
                <a:srgbClr val="0000FF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69" name="Google Shape;169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Class Invariants</a:t>
            </a:r>
            <a:endParaRPr/>
          </a:p>
        </p:txBody>
      </p:sp>
      <p:sp>
        <p:nvSpPr>
          <p:cNvPr id="175" name="Google Shape;175;p2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class invariant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boolean condition that is true for any valid object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Permanent violation of the class invariant indicates a broken object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Temporary violation is possible during method execution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Class invariants are constraints on the object’s state space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class (implementation) must make sure its invariants are maintained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Class invariants are class-level components of a contract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2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public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doGetPhi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():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assertIsValidPhiAsClassInvariant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newPhi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abstract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doSetPhi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assertIsValidPhiAsClassInvariant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ExceptionType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CLASS_INVARIANT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protected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assertIsValidPhi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number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et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ExceptionType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void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{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0000F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condition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boolean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||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phi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&gt;=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>
                <a:solidFill>
                  <a:srgbClr val="09865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2</a:t>
            </a:r>
            <a:r>
              <a:rPr lang="en" sz="1000"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*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Math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0070C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PI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AssertionDispatcher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000">
                <a:solidFill>
                  <a:srgbClr val="795E26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dispatch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et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00108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condition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>
                <a:solidFill>
                  <a:srgbClr val="A3151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"invalid phi value"</a:t>
            </a: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3B3B3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>
              <a:solidFill>
                <a:srgbClr val="3B3B3B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000">
              <a:solidFill>
                <a:srgbClr val="0000FF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82" name="Google Shape;182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Invariants Example</a:t>
            </a:r>
            <a:endParaRPr/>
          </a:p>
        </p:txBody>
      </p:sp>
      <p:sp>
        <p:nvSpPr>
          <p:cNvPr id="183" name="Google Shape;183;p2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8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Implementing Contracts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Defining Contracts</a:t>
            </a:r>
            <a:endParaRPr/>
          </a:p>
        </p:txBody>
      </p:sp>
      <p:sp>
        <p:nvSpPr>
          <p:cNvPr id="194" name="Google Shape;194;p2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Where to define a contract?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Class invariants in (class) interface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Pre- and postconditions in public methods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not for protected / private methods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How to define a contract?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Using comments (documentation)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Using class or method annotations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Using asserts or assertion methods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Contracts are part of the public interface</a:t>
            </a:r>
            <a:endParaRPr/>
          </a:p>
        </p:txBody>
      </p:sp>
      <p:sp>
        <p:nvSpPr>
          <p:cNvPr id="195" name="Google Shape;195;p2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Using Assertion Methods</a:t>
            </a:r>
            <a:endParaRPr/>
          </a:p>
        </p:txBody>
      </p:sp>
      <p:sp>
        <p:nvSpPr>
          <p:cNvPr id="201" name="Google Shape;201;p3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Wrap assertions in assertion methods; they should be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Side-effect free (no call to any mutation method)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Throw an assertion-specific exception upon failure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Assertions can be programmed like any other method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Reuse assertion code by parameterization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Group assertions into larger assertion methods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Inherit assertion methods along the class hierarchy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3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Implementing Preconditions With Assertion Methods </a:t>
            </a:r>
            <a:endParaRPr/>
          </a:p>
        </p:txBody>
      </p:sp>
      <p:sp>
        <p:nvSpPr>
          <p:cNvPr id="208" name="Google Shape;208;p3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Preconditions guard the entry to a public client-facing method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Call the corresponding assertion methods before the main method code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Precondition assertion methods are a form of before method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Failing a precondition must leave the object in a valid state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Because no mutation methods have been run yet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exception signals the client is at fault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3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Implementing Postconditions With Assertion Methods </a:t>
            </a:r>
            <a:endParaRPr/>
          </a:p>
        </p:txBody>
      </p:sp>
      <p:sp>
        <p:nvSpPr>
          <p:cNvPr id="215" name="Google Shape;215;p3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Postconditions ensure valid exit of a public client-facing method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Call the corresponding assertion methods after the main method code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Postcondition assertion methods are a form of after method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Failing the postcondition implies the service couldn’t be performed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method should return the object to its method-entry state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exception signals contractor failure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3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Implementing Class Invariants With Assertion Methods </a:t>
            </a:r>
            <a:endParaRPr/>
          </a:p>
        </p:txBody>
      </p:sp>
      <p:sp>
        <p:nvSpPr>
          <p:cNvPr id="222" name="Google Shape;222;p3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Class invariants ensure that the object is in a valid state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Express the valid state space as a set of assertions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Group all assertions into one assertion methods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Failing the class invariant implies the object is in an invalid state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how and why is probably unclear</a:t>
            </a:r>
            <a:endParaRPr/>
          </a:p>
        </p:txBody>
      </p:sp>
      <p:sp>
        <p:nvSpPr>
          <p:cNvPr id="223" name="Google Shape;223;p3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Public Interface vs. Protected / Private Implementation</a:t>
            </a:r>
            <a:endParaRPr/>
          </a:p>
        </p:txBody>
      </p:sp>
      <p:sp>
        <p:nvSpPr>
          <p:cNvPr id="229" name="Google Shape;229;p3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contract only applies to the public interface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All assertions are run before and after any </a:t>
            </a:r>
            <a:r>
              <a:rPr lang="en"/>
              <a:t>implementation</a:t>
            </a:r>
            <a:r>
              <a:rPr lang="en"/>
              <a:t> code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While inside the object’s code, the public contract does not apply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can still use assertion methods for other purposes</a:t>
            </a:r>
            <a:endParaRPr/>
          </a:p>
        </p:txBody>
      </p:sp>
      <p:sp>
        <p:nvSpPr>
          <p:cNvPr id="230" name="Google Shape;230;p3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5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Contract Violations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Contract Violations</a:t>
            </a:r>
            <a:endParaRPr/>
          </a:p>
        </p:txBody>
      </p:sp>
      <p:sp>
        <p:nvSpPr>
          <p:cNvPr id="241" name="Google Shape;241;p3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Precondition failure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client did not fulfill the contract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Postcondition failure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contractor could not provide the service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Class invariants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Something is wrong, really wrong</a:t>
            </a:r>
            <a:endParaRPr/>
          </a:p>
        </p:txBody>
      </p:sp>
      <p:sp>
        <p:nvSpPr>
          <p:cNvPr id="242" name="Google Shape;242;p3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Recovery From Assertion Failure</a:t>
            </a:r>
            <a:endParaRPr/>
          </a:p>
        </p:txBody>
      </p:sp>
      <p:sp>
        <p:nvSpPr>
          <p:cNvPr id="248" name="Google Shape;248;p3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Precondition failure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Nothing to recover from; object remained in valid state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Postcondition failure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Called method needs to return to initial valid state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Class invariant failure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Onus is on client; needs to reset the object to a valid state</a:t>
            </a:r>
            <a:endParaRPr/>
          </a:p>
        </p:txBody>
      </p:sp>
      <p:sp>
        <p:nvSpPr>
          <p:cNvPr id="249" name="Google Shape;249;p3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 Exceptions to Use [1]</a:t>
            </a:r>
            <a:endParaRPr/>
          </a:p>
        </p:txBody>
      </p:sp>
      <p:sp>
        <p:nvSpPr>
          <p:cNvPr id="255" name="Google Shape;255;p3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Precondition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IllegalArgumentException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Postcondition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MethodFailedException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Class invariants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InvalidStateException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3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57" name="Google Shape;257;p38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Javascript’s “Error” classes are a misnomer; exceptions are not errors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Contracts and Control Flow</a:t>
            </a:r>
            <a:endParaRPr/>
          </a:p>
        </p:txBody>
      </p:sp>
      <p:sp>
        <p:nvSpPr>
          <p:cNvPr id="263" name="Google Shape;263;p3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Contractor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regular control flow (return) if nothing went wrong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</a:t>
            </a:r>
            <a:r>
              <a:rPr lang="en"/>
              <a:t>exception</a:t>
            </a:r>
            <a:r>
              <a:rPr lang="en"/>
              <a:t> to indicate contract violation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Client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Continue in regular control flow if nothing went wrong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Either resume operations or escalate exception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More on this in lecture on error and exception handling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3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4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5. Contract Pragmatics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Contract Pragmatics</a:t>
            </a:r>
            <a:endParaRPr/>
          </a:p>
        </p:txBody>
      </p:sp>
      <p:sp>
        <p:nvSpPr>
          <p:cNvPr id="275" name="Google Shape;275;p4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Focus on preconditions to guard execution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4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4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Contracts and Subtyping</a:t>
            </a:r>
            <a:endParaRPr/>
          </a:p>
        </p:txBody>
      </p:sp>
      <p:sp>
        <p:nvSpPr>
          <p:cNvPr id="282" name="Google Shape;282;p4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Subclass methods may have less requirements (weaken preconditions)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Contravariant redefinition of argument types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Subclass methods may guarantee more (strengthen postconditions)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Covariant redefinition of return types</a:t>
            </a:r>
            <a:endParaRPr/>
          </a:p>
        </p:txBody>
      </p:sp>
      <p:sp>
        <p:nvSpPr>
          <p:cNvPr id="283" name="Google Shape;283;p4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289" name="Google Shape;289;p4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Design by contract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Expressing contracts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Implementing contracts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Contract violations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Contract pragmatics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4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4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296" name="Google Shape;296;p44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4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302" name="Google Shape;302;p4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03" name="Google Shape;303;p4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2012, 2018, 2024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