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F7C8C41-CDE2-4CE6-85F1-1E46D743F152}">
  <a:tblStyle styleId="{FF7C8C41-CDE2-4CE6-85F1-1E46D743F15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20" Type="http://schemas.openxmlformats.org/officeDocument/2006/relationships/slide" Target="slides/slide1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22" Type="http://schemas.openxmlformats.org/officeDocument/2006/relationships/slide" Target="slides/slide16.xml"/><Relationship Id="rId44" Type="http://schemas.openxmlformats.org/officeDocument/2006/relationships/slide" Target="slides/slide38.xml"/><Relationship Id="rId21" Type="http://schemas.openxmlformats.org/officeDocument/2006/relationships/slide" Target="slides/slide15.xml"/><Relationship Id="rId43" Type="http://schemas.openxmlformats.org/officeDocument/2006/relationships/slide" Target="slides/slide37.xml"/><Relationship Id="rId24" Type="http://schemas.openxmlformats.org/officeDocument/2006/relationships/slide" Target="slides/slide18.xml"/><Relationship Id="rId46" Type="http://schemas.openxmlformats.org/officeDocument/2006/relationships/slide" Target="slides/slide40.xml"/><Relationship Id="rId23" Type="http://schemas.openxmlformats.org/officeDocument/2006/relationships/slide" Target="slides/slide17.xml"/><Relationship Id="rId45" Type="http://schemas.openxmlformats.org/officeDocument/2006/relationships/slide" Target="slides/slide39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47" Type="http://schemas.openxmlformats.org/officeDocument/2006/relationships/slide" Target="slides/slide41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schemas.openxmlformats.org/officeDocument/2006/relationships/slide" Target="slides/slide31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39" Type="http://schemas.openxmlformats.org/officeDocument/2006/relationships/slide" Target="slides/slide33.xml"/><Relationship Id="rId16" Type="http://schemas.openxmlformats.org/officeDocument/2006/relationships/slide" Target="slides/slide10.xml"/><Relationship Id="rId38" Type="http://schemas.openxmlformats.org/officeDocument/2006/relationships/slide" Target="slides/slide32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2fe02fb2832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2fe02fb2832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2fe02fb283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2fe02fb283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1a46b91a3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1a46b91a3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1a46b91a33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1a46b91a33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1b51d91a3d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1b51d91a3d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1a46b91a33_0_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1a46b91a33_0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1a46b91a33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1a46b91a33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1a46b91a33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1a46b91a33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1a46b91a33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1a46b91a33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1a46b91a33_0_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1a46b91a33_0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1a46b91a33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1a46b91a33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1a858c3ec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1a858c3ec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1a46b91a33_0_1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1a46b91a33_0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1a858c3ec1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1a858c3ec1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1a858c3ec1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1a858c3ec1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1a46b91a33_0_1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1a46b91a33_0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1a858c3ec1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1a858c3ec1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1a858c3ec1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1a858c3ec1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1a858c3ec1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1a858c3ec1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1a46b91a33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1a46b91a33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1a46b91a33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1a46b91a33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1a858c3ec1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1a858c3ec1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1ab063035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1ab063035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1a858c3ec1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31a858c3ec1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1a858c3ec1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1a858c3ec1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1a858c3ec1_0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31a858c3ec1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1a858c3ec1_0_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1a858c3ec1_0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1a858c3ec1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31a858c3ec1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1a858c3ec1_0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31a858c3ec1_0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31a858c3ec1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4" name="Google Shape;254;g31a858c3ec1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1a858c3ec1_0_1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31a858c3ec1_0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1a46b91a33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1a46b91a33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31a858c3ec1_0_1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4" name="Google Shape;274;g31a858c3ec1_0_1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1a858c3ec1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31a858c3ec1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31a858c3ec1_0_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g31a858c3ec1_0_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1a858c3ec1_0_1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" name="Google Shape;296;g31a858c3ec1_0_1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31a46b91a33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5" name="Google Shape;305;g31a46b91a33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1a858c3ec1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31a858c3ec1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39609b2c0c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39609b2c0c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239609b2c0c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239609b2c0c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12" name="Google Shape;12;p2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13" name="Google Shape;13;p2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18" name="Google Shape;18;p3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19" name="Google Shape;19;p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26" name="Google Shape;26;p4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27" name="Google Shape;27;p4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35" name="Google Shape;35;p5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36" name="Google Shape;36;p5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5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42" name="Google Shape;42;p6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43" name="Google Shape;43;p6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s://oss.cs.fau.de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oss.cs.fau.de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oss.cs.fau.de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oss.cs.fau.de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oss.cs.fau.de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ss.cs.fau.de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s://dirkriehle.com/publications/1998-selected/values-in-object-systems/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oss.cs.fau.de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oss.cs.fau.de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s://docs.oracle.com/javase/8/docs/api/java/lang/Object.html#equals-java.lang.Object-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oss.cs.fau.de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ss.cs.fau.de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oss.cs.fau.de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oss.cs.fau.de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oss.cs.fau.de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oss.cs.fau.de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oss.cs.fau.de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oss.cs.fau.de" TargetMode="Externa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oss.cs.fau.de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oss.cs.fau.de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oss.cs.fau.de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3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oss.cs.fau.de" TargetMode="Externa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oss.cs.fau.de" TargetMode="Externa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oss.cs.fau.de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oss.cs.fau.de" TargetMode="Externa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oss.cs.fau.de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s://github.com/jvalue/value-objects" TargetMode="Externa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s://github.com/jvalue/value-objects" TargetMode="Externa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s://riehle.org/computer-science/research/1997/cacm-1997-frameworks.html" TargetMode="Externa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Relationship Id="rId3" Type="http://schemas.openxmlformats.org/officeDocument/2006/relationships/hyperlink" Target="https://oss.cs.fau.de" TargetMode="Externa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://creativecommons.org/licenses/by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Value Objects</a:t>
            </a:r>
            <a:endParaRPr/>
          </a:p>
        </p:txBody>
      </p:sp>
      <p:sp>
        <p:nvSpPr>
          <p:cNvPr id="52" name="Google Shape;52;p8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ADAP B06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58" name="Google Shape;58;p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Values vs. objects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Value equality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Immutable objects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Shared value objects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QuantityUnit type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Value type constructors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Value types in practice</a:t>
            </a:r>
            <a:endParaRPr/>
          </a:p>
        </p:txBody>
      </p:sp>
      <p:sp>
        <p:nvSpPr>
          <p:cNvPr id="59" name="Google Shape;59;p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Values vs. Objects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Values</a:t>
            </a:r>
            <a:endParaRPr/>
          </a:p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Values are timeless abstractions; they have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 life-cycle, no birth or death, and do not change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Unless you consider human invention of a value its birth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 identity, cannot be counted, there is only “one copy”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Values are instances of value types (a.k.a. data types)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Objects</a:t>
            </a:r>
            <a:endParaRPr/>
          </a:p>
        </p:txBody>
      </p:sp>
      <p:sp>
        <p:nvSpPr>
          <p:cNvPr id="77" name="Google Shape;77;p1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Objects are virtual physical </a:t>
            </a:r>
            <a:r>
              <a:rPr lang="en"/>
              <a:t>entities</a:t>
            </a:r>
            <a:r>
              <a:rPr lang="en"/>
              <a:t> in the real / modeled </a:t>
            </a:r>
            <a:r>
              <a:rPr lang="en"/>
              <a:t>world; they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Exist in time and have a life-cycle, i.e. they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Can be created, changed, shared, deleted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Have an identity independent of their attribute values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Objects are instances of object types (a.k.a. classes)</a:t>
            </a:r>
            <a:endParaRPr/>
          </a:p>
        </p:txBody>
      </p:sp>
      <p:sp>
        <p:nvSpPr>
          <p:cNvPr id="78" name="Google Shape;78;p1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Value vs. Object Semantics in Programming</a:t>
            </a:r>
            <a:endParaRPr/>
          </a:p>
        </p:txBody>
      </p:sp>
      <p:sp>
        <p:nvSpPr>
          <p:cNvPr id="84" name="Google Shape;84;p1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Value semantics implies that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Values are copied (unless made immutable)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Object semantics </a:t>
            </a:r>
            <a:r>
              <a:rPr lang="en"/>
              <a:t>implies</a:t>
            </a:r>
            <a:r>
              <a:rPr lang="en"/>
              <a:t> that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Objects are moved around by reference (a </a:t>
            </a:r>
            <a:r>
              <a:rPr lang="en"/>
              <a:t>value</a:t>
            </a:r>
            <a:r>
              <a:rPr lang="en"/>
              <a:t>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1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Examples of Value Types</a:t>
            </a:r>
            <a:endParaRPr/>
          </a:p>
        </p:txBody>
      </p:sp>
      <p:sp>
        <p:nvSpPr>
          <p:cNvPr id="91" name="Google Shape;91;p1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So-called primitive or built-in [1] or atomic value types include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boolean and bits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numbers (int, long, float)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characters and strings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object references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Domain-specific value types, include, but are not limited to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Coordinates and </a:t>
            </a:r>
            <a:r>
              <a:rPr lang="en"/>
              <a:t>homogeneous</a:t>
            </a:r>
            <a:r>
              <a:rPr lang="en"/>
              <a:t> names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SI units and their ranges and restrictions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Monetary </a:t>
            </a:r>
            <a:r>
              <a:rPr lang="en"/>
              <a:t>amount</a:t>
            </a:r>
            <a:r>
              <a:rPr lang="en"/>
              <a:t>, interest rate, stock symbol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URLs, http return codes</a:t>
            </a:r>
            <a:endParaRPr/>
          </a:p>
        </p:txBody>
      </p:sp>
      <p:sp>
        <p:nvSpPr>
          <p:cNvPr id="92" name="Google Shape;92;p1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93" name="Google Shape;93;p14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Rule of thumb: If it fits into a (8, 16, 32, …) register, it is a built-in value type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Occurrences and Representations of Objects and Values</a:t>
            </a:r>
            <a:endParaRPr/>
          </a:p>
        </p:txBody>
      </p:sp>
      <p:sp>
        <p:nvSpPr>
          <p:cNvPr id="99" name="Google Shape;99;p1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100" name="Google Shape;100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Values and Objects in Programming Languages</a:t>
            </a:r>
            <a:endParaRPr/>
          </a:p>
        </p:txBody>
      </p:sp>
      <p:sp>
        <p:nvSpPr>
          <p:cNvPr id="106" name="Google Shape;106;p1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There typically is no first-class concept of “value” [1]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Hence, values are often implemented as </a:t>
            </a:r>
            <a:r>
              <a:rPr b="1" lang="en"/>
              <a:t>immutable</a:t>
            </a:r>
            <a:r>
              <a:rPr lang="en"/>
              <a:t> objects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/>
              <a:t>M</a:t>
            </a:r>
            <a:r>
              <a:rPr b="1" lang="en"/>
              <a:t>utable</a:t>
            </a:r>
            <a:r>
              <a:rPr lang="en"/>
              <a:t> </a:t>
            </a:r>
            <a:r>
              <a:rPr b="1" lang="en"/>
              <a:t>objects</a:t>
            </a:r>
            <a:r>
              <a:rPr lang="en"/>
              <a:t> lead to side-effects, i.e. aliasing, a common source of bugs</a:t>
            </a:r>
            <a:endParaRPr/>
          </a:p>
        </p:txBody>
      </p:sp>
      <p:sp>
        <p:nvSpPr>
          <p:cNvPr id="107" name="Google Shape;107;p1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08" name="Google Shape;108;p16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https://dirkriehle.com/publications/1998-selected/values-in-object-systems/</a:t>
            </a:r>
            <a:r>
              <a:rPr lang="en"/>
              <a:t> </a:t>
            </a:r>
            <a:br>
              <a:rPr lang="en"/>
            </a:br>
            <a:r>
              <a:rPr lang="en"/>
              <a:t>for various techniques and approaches, some of which are discussed in this lecture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Advantages of Value Semantics</a:t>
            </a:r>
            <a:endParaRPr/>
          </a:p>
        </p:txBody>
      </p:sp>
      <p:sp>
        <p:nvSpPr>
          <p:cNvPr id="114" name="Google Shape;114;p1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Using domain-specific value types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Brings your programming closer to the problem domain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Removes or restrain a major source of bugs (aliasing)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May enhance system performance (shared, immutable)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Lack of </a:t>
            </a:r>
            <a:r>
              <a:rPr lang="en"/>
              <a:t>identity</a:t>
            </a:r>
            <a:r>
              <a:rPr lang="en"/>
              <a:t> allows for free copying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 need for a separate database table to store values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Value objects can be serialized in-line for network transfer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 need for cross-process references in distributed systems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1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References (Identifiers)</a:t>
            </a:r>
            <a:endParaRPr/>
          </a:p>
        </p:txBody>
      </p:sp>
      <p:sp>
        <p:nvSpPr>
          <p:cNvPr id="121" name="Google Shape;121;p1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identifiers are always values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In-memory object pointer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Handle (special type of pointer)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External object identifier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Primary keys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Object identifiers are not locations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locations are often (wrongly) used to identify objects</a:t>
            </a:r>
            <a:endParaRPr/>
          </a:p>
        </p:txBody>
      </p:sp>
      <p:sp>
        <p:nvSpPr>
          <p:cNvPr id="122" name="Google Shape;122;p1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9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Value Equality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Java equals() Contract for Any Object [1]</a:t>
            </a:r>
            <a:endParaRPr/>
          </a:p>
        </p:txBody>
      </p:sp>
      <p:sp>
        <p:nvSpPr>
          <p:cNvPr id="133" name="Google Shape;133;p2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Applies to any runtime object (whether a regular object or a value object)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Reflexive: For any non-null reference x, x.equals(x) should return true.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Symmetric: For any non-null references x and y, x.equals(y) should return true if and only if y.equals(x) returns true.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Transitive: For any non-null references x, y, and z, if x.equals(y) returns true and y.equals(z) returns true, then x.equals(z) should return true.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Consistent: For any non-null references x and y, multiple invocations of x.equals(y) consistently return true or consistently return false, provided no information used in equals() comparisons on the objects is modified.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Null-Object: For any reference x, x.equals(null) should return false.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2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35" name="Google Shape;135;p20"/>
          <p:cNvSpPr txBox="1"/>
          <p:nvPr/>
        </p:nvSpPr>
        <p:spPr>
          <a:xfrm>
            <a:off x="0" y="4233675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https://docs.oracle.com/javase/8/docs/api/java/lang/Object.html#equals-java.lang.Object-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Equality Contract for Value Objects</a:t>
            </a:r>
            <a:endParaRPr/>
          </a:p>
        </p:txBody>
      </p:sp>
      <p:sp>
        <p:nvSpPr>
          <p:cNvPr id="141" name="Google Shape;141;p2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Like the equality contract for any object plus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 interface represents the value type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implementation classes represent an equivalency set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2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143" name="Google Shape;143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2286000"/>
            <a:ext cx="8595359" cy="2072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AbstractCoordinate.isEqual() Implementation</a:t>
            </a:r>
            <a:endParaRPr/>
          </a:p>
        </p:txBody>
      </p:sp>
      <p:sp>
        <p:nvSpPr>
          <p:cNvPr id="149" name="Google Shape;149;p2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50" name="Google Shape;150;p22"/>
          <p:cNvSpPr txBox="1"/>
          <p:nvPr/>
        </p:nvSpPr>
        <p:spPr>
          <a:xfrm>
            <a:off x="274320" y="914400"/>
            <a:ext cx="85953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AbstractCoordinate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implements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Coordinate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isEqual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other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Coordinate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boolean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other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())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&amp;&amp;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doGetY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other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Immutable Objects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Immutable Objects</a:t>
            </a:r>
            <a:endParaRPr/>
          </a:p>
        </p:txBody>
      </p:sp>
      <p:sp>
        <p:nvSpPr>
          <p:cNvPr id="161" name="Google Shape;161;p2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Immutable objects are objects that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Have no mutation methods (never change their state)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2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Immutable Value Objects</a:t>
            </a:r>
            <a:endParaRPr/>
          </a:p>
        </p:txBody>
      </p:sp>
      <p:sp>
        <p:nvSpPr>
          <p:cNvPr id="168" name="Google Shape;168;p2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69" name="Google Shape;169;p25"/>
          <p:cNvSpPr txBox="1"/>
          <p:nvPr>
            <p:ph idx="1" type="body"/>
          </p:nvPr>
        </p:nvSpPr>
        <p:spPr>
          <a:xfrm>
            <a:off x="274325" y="914400"/>
            <a:ext cx="8595300" cy="1371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Value types are often implemented as immutable object classes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(Former) mutation methods return another value object with the desired state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The result object may or may not be a new value object</a:t>
            </a:r>
            <a:endParaRPr/>
          </a:p>
        </p:txBody>
      </p:sp>
      <p:sp>
        <p:nvSpPr>
          <p:cNvPr id="170" name="Google Shape;170;p25"/>
          <p:cNvSpPr txBox="1"/>
          <p:nvPr/>
        </p:nvSpPr>
        <p:spPr>
          <a:xfrm>
            <a:off x="274320" y="2286000"/>
            <a:ext cx="859530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CartesianCoordinate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extends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AbstractCoordinate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Coordinate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CartesianCoordinate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y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Coordinate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CartesianCoordinate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Advantages and Disadvantages of Immutable Objects</a:t>
            </a:r>
            <a:endParaRPr/>
          </a:p>
        </p:txBody>
      </p:sp>
      <p:sp>
        <p:nvSpPr>
          <p:cNvPr id="176" name="Google Shape;176;p2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Advantages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 side effects from aliasing!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Safe and perform well in concurrent programming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Disadvantages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Increased object creation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Your </a:t>
            </a:r>
            <a:r>
              <a:rPr lang="en"/>
              <a:t>garbage collector may run hot quickly</a:t>
            </a:r>
            <a:endParaRPr/>
          </a:p>
        </p:txBody>
      </p:sp>
      <p:sp>
        <p:nvSpPr>
          <p:cNvPr id="177" name="Google Shape;177;p2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by Contract and Immutable Value Objects</a:t>
            </a:r>
            <a:endParaRPr/>
          </a:p>
        </p:txBody>
      </p:sp>
      <p:sp>
        <p:nvSpPr>
          <p:cNvPr id="183" name="Google Shape;183;p2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Preconditions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Don’t change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Class invariants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Are always the same: S</a:t>
            </a:r>
            <a:r>
              <a:rPr lang="en"/>
              <a:t>tate did not change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Postconditions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Move to the result object</a:t>
            </a:r>
            <a:endParaRPr/>
          </a:p>
        </p:txBody>
      </p:sp>
      <p:sp>
        <p:nvSpPr>
          <p:cNvPr id="184" name="Google Shape;184;p2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8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 Shared Value Objects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Shared Value Objects</a:t>
            </a:r>
            <a:endParaRPr/>
          </a:p>
        </p:txBody>
      </p:sp>
      <p:sp>
        <p:nvSpPr>
          <p:cNvPr id="195" name="Google Shape;195;p2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 value → one object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2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Advantages and Disadvantages of Sharing Value Objects</a:t>
            </a:r>
            <a:endParaRPr/>
          </a:p>
        </p:txBody>
      </p:sp>
      <p:sp>
        <p:nvSpPr>
          <p:cNvPr id="202" name="Google Shape;202;p3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Advantages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Reduced (minimal!) memory consumption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(Parts of) equality test can be reduced to identity test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Hash code computation can be reduced to basic object hash code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Disadvantages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Added programming complexity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Performance penalty for organizing shared objects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Gets more difficult with more than one implementation class</a:t>
            </a:r>
            <a:endParaRPr/>
          </a:p>
        </p:txBody>
      </p:sp>
      <p:sp>
        <p:nvSpPr>
          <p:cNvPr id="203" name="Google Shape;203;p3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Handle / Body Idiom + Copy-on-Write [1]</a:t>
            </a:r>
            <a:endParaRPr/>
          </a:p>
        </p:txBody>
      </p:sp>
      <p:sp>
        <p:nvSpPr>
          <p:cNvPr id="209" name="Google Shape;209;p3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handle / body idiom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Separates handle (reference) from body (payload)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handle is copied as the object is passed around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Copy-on-write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Keeps the handle through which the write happens but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Copies the body before mutation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This is a technique better suited than immutable objects for heavyweight objects</a:t>
            </a:r>
            <a:endParaRPr/>
          </a:p>
        </p:txBody>
      </p:sp>
      <p:sp>
        <p:nvSpPr>
          <p:cNvPr id="210" name="Google Shape;210;p3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211" name="Google Shape;211;p31"/>
          <p:cNvSpPr txBox="1"/>
          <p:nvPr/>
        </p:nvSpPr>
        <p:spPr>
          <a:xfrm>
            <a:off x="0" y="4233672"/>
            <a:ext cx="7260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</a:t>
            </a:r>
            <a:r>
              <a:rPr lang="en"/>
              <a:t>Coplien, J. O. (1991). Advanced C++ programming styles and idioms. Addison-Wesley Longman.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2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5. The QuantityUnit Type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Exercise</a:t>
            </a:r>
            <a:endParaRPr/>
          </a:p>
        </p:txBody>
      </p:sp>
      <p:sp>
        <p:nvSpPr>
          <p:cNvPr id="222" name="Google Shape;222;p3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a function that accepts a distance and a speed as the input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Compute and </a:t>
            </a:r>
            <a:r>
              <a:rPr lang="en"/>
              <a:t>return</a:t>
            </a:r>
            <a:r>
              <a:rPr lang="en"/>
              <a:t> the time it takes to go that distance at that speed</a:t>
            </a:r>
            <a:endParaRPr/>
          </a:p>
        </p:txBody>
      </p:sp>
      <p:sp>
        <p:nvSpPr>
          <p:cNvPr id="223" name="Google Shape;223;p3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Short Interlude About Requirements</a:t>
            </a:r>
            <a:endParaRPr/>
          </a:p>
        </p:txBody>
      </p:sp>
      <p:sp>
        <p:nvSpPr>
          <p:cNvPr id="229" name="Google Shape;229;p3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Functional requirements missing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Precision of calculation?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What types of units?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…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Non-functional requirements missing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Speed of </a:t>
            </a:r>
            <a:r>
              <a:rPr lang="en"/>
              <a:t>calculation</a:t>
            </a:r>
            <a:r>
              <a:rPr lang="en"/>
              <a:t>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Concurrent computation?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…</a:t>
            </a:r>
            <a:endParaRPr/>
          </a:p>
        </p:txBody>
      </p:sp>
      <p:sp>
        <p:nvSpPr>
          <p:cNvPr id="230" name="Google Shape;230;p3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What’s Wrong With This Solution?</a:t>
            </a:r>
            <a:endParaRPr/>
          </a:p>
        </p:txBody>
      </p:sp>
      <p:sp>
        <p:nvSpPr>
          <p:cNvPr id="236" name="Google Shape;236;p3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237" name="Google Shape;237;p35"/>
          <p:cNvSpPr txBox="1"/>
          <p:nvPr/>
        </p:nvSpPr>
        <p:spPr>
          <a:xfrm>
            <a:off x="274320" y="914400"/>
            <a:ext cx="8595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function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calculateDuration1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distance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speed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distance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speed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Introducing QuantityUnit</a:t>
            </a:r>
            <a:endParaRPr/>
          </a:p>
        </p:txBody>
      </p:sp>
      <p:sp>
        <p:nvSpPr>
          <p:cNvPr id="243" name="Google Shape;243;p3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244" name="Google Shape;244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3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Base Units of the Metric System</a:t>
            </a:r>
            <a:endParaRPr/>
          </a:p>
        </p:txBody>
      </p:sp>
      <p:sp>
        <p:nvSpPr>
          <p:cNvPr id="250" name="Google Shape;250;p3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aphicFrame>
        <p:nvGraphicFramePr>
          <p:cNvPr id="251" name="Google Shape;251;p37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{FF7C8C41-CDE2-4CE6-85F1-1E46D743F152}</a:tableStyleId>
              </a:tblPr>
              <a:tblGrid>
                <a:gridCol w="2865125"/>
                <a:gridCol w="2865125"/>
                <a:gridCol w="2865125"/>
              </a:tblGrid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Quantity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Base Unit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Symbol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Length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meter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Mass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kilogram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kg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Time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second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Electric current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Ampere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Thermodynamic temperature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Kelvin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K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Luminous intensity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Candela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cd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Amount of substance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mole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mol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Implementing (SI) Units</a:t>
            </a:r>
            <a:endParaRPr/>
          </a:p>
        </p:txBody>
      </p:sp>
      <p:sp>
        <p:nvSpPr>
          <p:cNvPr id="257" name="Google Shape;257;p3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258" name="Google Shape;258;p38"/>
          <p:cNvSpPr txBox="1"/>
          <p:nvPr/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SIUnit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exponents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[]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[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];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constructor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exponents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[])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exponents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[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exponents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];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isEqual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other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SIUnit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boolean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exponents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every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=&gt;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===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other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exponents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]);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add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other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SIUnit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SIUnit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IllegalArgumentException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!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other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isEqual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SIUnit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exponents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rgbClr val="AF00D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multiply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other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SIUnit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SIUnit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result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[]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[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];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for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exponents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length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++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result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]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exponents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]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+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other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exponents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];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};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SIUnit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result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Better calculateDuration() Function</a:t>
            </a:r>
            <a:endParaRPr/>
          </a:p>
        </p:txBody>
      </p:sp>
      <p:sp>
        <p:nvSpPr>
          <p:cNvPr id="264" name="Google Shape;264;p3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265" name="Google Shape;265;p39"/>
          <p:cNvSpPr txBox="1"/>
          <p:nvPr>
            <p:ph idx="1" type="body"/>
          </p:nvPr>
        </p:nvSpPr>
        <p:spPr>
          <a:xfrm>
            <a:off x="274325" y="2011680"/>
            <a:ext cx="8595300" cy="2286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Possible improvements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Turn distance and speed into QuantityUnits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Have base units ready as Unit instances e.g. for seconds</a:t>
            </a:r>
            <a:endParaRPr/>
          </a:p>
        </p:txBody>
      </p:sp>
      <p:sp>
        <p:nvSpPr>
          <p:cNvPr id="266" name="Google Shape;266;p39"/>
          <p:cNvSpPr txBox="1"/>
          <p:nvPr/>
        </p:nvSpPr>
        <p:spPr>
          <a:xfrm>
            <a:off x="274320" y="914400"/>
            <a:ext cx="8595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function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calculateDuration2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distance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speed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QuantityUnit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IllegalArgumentException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assertCondition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speed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!=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QuantityUnit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distance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speed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SIUnit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([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]));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5. Value Type Constructors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4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Value Type Constructors</a:t>
            </a:r>
            <a:endParaRPr/>
          </a:p>
        </p:txBody>
      </p:sp>
      <p:sp>
        <p:nvSpPr>
          <p:cNvPr id="277" name="Google Shape;277;p4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Arrays, i.e. [ ]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Enumerations, i.e. enum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Parameterized types a.k.a. generics i.e. &lt;...&gt;</a:t>
            </a:r>
            <a:endParaRPr/>
          </a:p>
        </p:txBody>
      </p:sp>
      <p:sp>
        <p:nvSpPr>
          <p:cNvPr id="278" name="Google Shape;278;p4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Enumerations as Value Type Constructors</a:t>
            </a:r>
            <a:endParaRPr/>
          </a:p>
        </p:txBody>
      </p:sp>
      <p:sp>
        <p:nvSpPr>
          <p:cNvPr id="284" name="Google Shape;284;p4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Enums provide shared values out of the box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Immutability needs to be ensured by programming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Enums are great for documenting and type-checking codes!</a:t>
            </a:r>
            <a:endParaRPr/>
          </a:p>
        </p:txBody>
      </p:sp>
      <p:sp>
        <p:nvSpPr>
          <p:cNvPr id="285" name="Google Shape;285;p4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4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Parameterized Types as Value Type Constructors</a:t>
            </a:r>
            <a:endParaRPr/>
          </a:p>
        </p:txBody>
      </p:sp>
      <p:sp>
        <p:nvSpPr>
          <p:cNvPr id="291" name="Google Shape;291;p43"/>
          <p:cNvSpPr txBox="1"/>
          <p:nvPr>
            <p:ph idx="1" type="body"/>
          </p:nvPr>
        </p:nvSpPr>
        <p:spPr>
          <a:xfrm>
            <a:off x="274320" y="914400"/>
            <a:ext cx="8595300" cy="914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Common parameterized types are ranges and range restrictions [1]</a:t>
            </a:r>
            <a:endParaRPr/>
          </a:p>
        </p:txBody>
      </p:sp>
      <p:sp>
        <p:nvSpPr>
          <p:cNvPr id="292" name="Google Shape;292;p4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293" name="Google Shape;293;p43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https://github.com/jvalue/value-objects</a:t>
            </a:r>
            <a:r>
              <a:rPr lang="en"/>
              <a:t> for a decent Java implementation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4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Parameterized Types as Value Type Constructors [1]</a:t>
            </a:r>
            <a:endParaRPr/>
          </a:p>
        </p:txBody>
      </p:sp>
      <p:sp>
        <p:nvSpPr>
          <p:cNvPr id="299" name="Google Shape;299;p4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00" name="Google Shape;300;p44"/>
          <p:cNvSpPr txBox="1"/>
          <p:nvPr/>
        </p:nvSpPr>
        <p:spPr>
          <a:xfrm>
            <a:off x="274322" y="914400"/>
            <a:ext cx="39318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RangeBound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&gt;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value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inclusive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boolean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constructor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value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inclusive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boolean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value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value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inclusive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inclusive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getValue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value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isInclusive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boolean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inclusive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AF00D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01" name="Google Shape;301;p44"/>
          <p:cNvSpPr txBox="1"/>
          <p:nvPr/>
        </p:nvSpPr>
        <p:spPr>
          <a:xfrm>
            <a:off x="4480560" y="914400"/>
            <a:ext cx="43890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Range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&gt;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lowerBound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RangeBound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&gt;;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upperBound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RangeBound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&gt;;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constructor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lb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RangeBound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&gt;,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ub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RangeBound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&gt;)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lowerBound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lb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upperBound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ub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includes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value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boolean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lowerValue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lowerBound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getValue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upperValue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upperBound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getValue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getLowerBound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RangeBound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&gt;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lowerBound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02" name="Google Shape;302;p44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A simplified version of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https://github.com/jvalue/value-objects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4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Data From the GeBOS System [1]</a:t>
            </a:r>
            <a:endParaRPr/>
          </a:p>
        </p:txBody>
      </p:sp>
      <p:sp>
        <p:nvSpPr>
          <p:cNvPr id="308" name="Google Shape;308;p4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GeBOS was a large C++ software to operate cooperative banks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It had about 50 unique base domain-specific value </a:t>
            </a:r>
            <a:r>
              <a:rPr lang="en"/>
              <a:t>object classes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It had about 20 unique constructors, generating </a:t>
            </a:r>
            <a:r>
              <a:rPr lang="en"/>
              <a:t>hundreds of value types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It had more than 200 enums representing various domain-specific codes</a:t>
            </a:r>
            <a:endParaRPr/>
          </a:p>
        </p:txBody>
      </p:sp>
      <p:sp>
        <p:nvSpPr>
          <p:cNvPr id="309" name="Google Shape;309;p4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10" name="Google Shape;310;p45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</a:t>
            </a:r>
            <a:r>
              <a:rPr lang="en"/>
              <a:t>Bäumer, D., Gryzcan, G., Knoll, R., Lilienthal, C., Riehle, D. &amp; Züllighoven, H. (1997). </a:t>
            </a:r>
            <a:r>
              <a:rPr lang="en" u="sng">
                <a:solidFill>
                  <a:schemeClr val="hlink"/>
                </a:solidFill>
                <a:hlinkClick r:id="rId4"/>
              </a:rPr>
              <a:t>Framework Development for Large Systems.</a:t>
            </a:r>
            <a:r>
              <a:rPr lang="en"/>
              <a:t> Communications of the ACM, vol. 40, no. 10, pp. 52-59.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316" name="Google Shape;316;p4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Values vs. objects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Value equality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Immutable objects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Shared value objects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QuantityUnit type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Value type constructors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4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7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323" name="Google Shape;323;p47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329" name="Google Shape;329;p4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30" name="Google Shape;330;p4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2012, 2018, 2024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OS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