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comments+xml" PartName="/ppt/comments/comment1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6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slide+xml" PartName="/ppt/slides/slide40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commentAuthors+xml" PartName="/ppt/commentAuthors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 showSpecialPlsOnTitleSld="0">
  <p:sldMasterIdLst>
    <p:sldMasterId id="2147483654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Author clrIdx="0" id="0" initials="" lastIdx="1" name="Dirk RIEHLE"/>
</p:cmAuthorLst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F4AF1C8F-E501-4788-9710-25EA0DD50D42}">
  <a:tblStyle styleId="{F4AF1C8F-E501-4788-9710-25EA0DD50D42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3.xml"/><Relationship Id="rId20" Type="http://schemas.openxmlformats.org/officeDocument/2006/relationships/slide" Target="slides/slide13.xml"/><Relationship Id="rId42" Type="http://schemas.openxmlformats.org/officeDocument/2006/relationships/slide" Target="slides/slide35.xml"/><Relationship Id="rId41" Type="http://schemas.openxmlformats.org/officeDocument/2006/relationships/slide" Target="slides/slide34.xml"/><Relationship Id="rId22" Type="http://schemas.openxmlformats.org/officeDocument/2006/relationships/slide" Target="slides/slide15.xml"/><Relationship Id="rId44" Type="http://schemas.openxmlformats.org/officeDocument/2006/relationships/slide" Target="slides/slide37.xml"/><Relationship Id="rId21" Type="http://schemas.openxmlformats.org/officeDocument/2006/relationships/slide" Target="slides/slide14.xml"/><Relationship Id="rId43" Type="http://schemas.openxmlformats.org/officeDocument/2006/relationships/slide" Target="slides/slide36.xml"/><Relationship Id="rId24" Type="http://schemas.openxmlformats.org/officeDocument/2006/relationships/slide" Target="slides/slide17.xml"/><Relationship Id="rId46" Type="http://schemas.openxmlformats.org/officeDocument/2006/relationships/slide" Target="slides/slide39.xml"/><Relationship Id="rId23" Type="http://schemas.openxmlformats.org/officeDocument/2006/relationships/slide" Target="slides/slide16.xml"/><Relationship Id="rId45" Type="http://schemas.openxmlformats.org/officeDocument/2006/relationships/slide" Target="slides/slide38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2.xml"/><Relationship Id="rId26" Type="http://schemas.openxmlformats.org/officeDocument/2006/relationships/slide" Target="slides/slide19.xml"/><Relationship Id="rId48" Type="http://schemas.openxmlformats.org/officeDocument/2006/relationships/slide" Target="slides/slide41.xml"/><Relationship Id="rId25" Type="http://schemas.openxmlformats.org/officeDocument/2006/relationships/slide" Target="slides/slide18.xml"/><Relationship Id="rId47" Type="http://schemas.openxmlformats.org/officeDocument/2006/relationships/slide" Target="slides/slide40.xml"/><Relationship Id="rId28" Type="http://schemas.openxmlformats.org/officeDocument/2006/relationships/slide" Target="slides/slide21.xml"/><Relationship Id="rId27" Type="http://schemas.openxmlformats.org/officeDocument/2006/relationships/slide" Target="slides/slide20.xml"/><Relationship Id="rId5" Type="http://schemas.openxmlformats.org/officeDocument/2006/relationships/commentAuthors" Target="commentAuthors.xml"/><Relationship Id="rId6" Type="http://schemas.openxmlformats.org/officeDocument/2006/relationships/slideMaster" Target="slideMasters/slideMaster1.xml"/><Relationship Id="rId29" Type="http://schemas.openxmlformats.org/officeDocument/2006/relationships/slide" Target="slides/slide22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31" Type="http://schemas.openxmlformats.org/officeDocument/2006/relationships/slide" Target="slides/slide24.xml"/><Relationship Id="rId30" Type="http://schemas.openxmlformats.org/officeDocument/2006/relationships/slide" Target="slides/slide23.xml"/><Relationship Id="rId11" Type="http://schemas.openxmlformats.org/officeDocument/2006/relationships/slide" Target="slides/slide4.xml"/><Relationship Id="rId33" Type="http://schemas.openxmlformats.org/officeDocument/2006/relationships/slide" Target="slides/slide26.xml"/><Relationship Id="rId10" Type="http://schemas.openxmlformats.org/officeDocument/2006/relationships/slide" Target="slides/slide3.xml"/><Relationship Id="rId32" Type="http://schemas.openxmlformats.org/officeDocument/2006/relationships/slide" Target="slides/slide25.xml"/><Relationship Id="rId13" Type="http://schemas.openxmlformats.org/officeDocument/2006/relationships/slide" Target="slides/slide6.xml"/><Relationship Id="rId35" Type="http://schemas.openxmlformats.org/officeDocument/2006/relationships/slide" Target="slides/slide28.xml"/><Relationship Id="rId12" Type="http://schemas.openxmlformats.org/officeDocument/2006/relationships/slide" Target="slides/slide5.xml"/><Relationship Id="rId34" Type="http://schemas.openxmlformats.org/officeDocument/2006/relationships/slide" Target="slides/slide27.xml"/><Relationship Id="rId15" Type="http://schemas.openxmlformats.org/officeDocument/2006/relationships/slide" Target="slides/slide8.xml"/><Relationship Id="rId37" Type="http://schemas.openxmlformats.org/officeDocument/2006/relationships/slide" Target="slides/slide30.xml"/><Relationship Id="rId14" Type="http://schemas.openxmlformats.org/officeDocument/2006/relationships/slide" Target="slides/slide7.xml"/><Relationship Id="rId36" Type="http://schemas.openxmlformats.org/officeDocument/2006/relationships/slide" Target="slides/slide29.xml"/><Relationship Id="rId17" Type="http://schemas.openxmlformats.org/officeDocument/2006/relationships/slide" Target="slides/slide10.xml"/><Relationship Id="rId39" Type="http://schemas.openxmlformats.org/officeDocument/2006/relationships/slide" Target="slides/slide32.xml"/><Relationship Id="rId16" Type="http://schemas.openxmlformats.org/officeDocument/2006/relationships/slide" Target="slides/slide9.xml"/><Relationship Id="rId38" Type="http://schemas.openxmlformats.org/officeDocument/2006/relationships/slide" Target="slides/slide31.xml"/><Relationship Id="rId19" Type="http://schemas.openxmlformats.org/officeDocument/2006/relationships/slide" Target="slides/slide12.xml"/><Relationship Id="rId18" Type="http://schemas.openxmlformats.org/officeDocument/2006/relationships/slide" Target="slides/slide11.xml"/></Relationships>
</file>

<file path=ppt/comments/comment1.xml><?xml version="1.0" encoding="utf-8"?>
<p:cm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 authorId="0" idx="1" dt="2025-12-08T16:39:19.022">
    <p:pos x="172" y="1267"/>
    <p:text>fIX</p:text>
  </p:cm>
</p:cmLst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" name="Google Shape;49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g2fe02fb2832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" name="Google Shape;55;g2fe02fb2832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2fe02fb2832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" name="Google Shape;62;g2fe02fb2832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31a46b91a33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31a46b91a33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31a46b91a33_0_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" name="Google Shape;74;g31a46b91a33_0_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31b51d91a3d_0_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" name="Google Shape;81;g31b51d91a3d_0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31a46b91a33_0_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" name="Google Shape;88;g31a46b91a33_0_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31a46b91a33_0_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" name="Google Shape;96;g31a46b91a33_0_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31a46b91a33_0_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" name="Google Shape;103;g31a46b91a33_0_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31a46b91a33_0_8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" name="Google Shape;111;g31a46b91a33_0_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31a46b91a33_0_9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g31a46b91a33_0_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31a46b91a33_0_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" name="Google Shape;125;g31a46b91a33_0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31a858c3ec1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" name="Google Shape;130;g31a858c3ec1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1a46b91a33_0_1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31a46b91a33_0_1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31a858c3ec1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" name="Google Shape;146;g31a858c3ec1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31a858c3ec1_0_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3" name="Google Shape;153;g31a858c3ec1_0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31a46b91a33_0_1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8" name="Google Shape;158;g31a46b91a33_0_1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31a858c3ec1_0_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5" name="Google Shape;165;g31a858c3ec1_0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31a858c3ec1_0_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3" name="Google Shape;173;g31a858c3ec1_0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g31a858c3ec1_0_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0" name="Google Shape;180;g31a858c3ec1_0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31a46b91a33_0_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7" name="Google Shape;187;g31a46b91a33_0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31a46b91a33_0_1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2" name="Google Shape;192;g31a46b91a33_0_1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g31a858c3ec1_0_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9" name="Google Shape;199;g31a858c3ec1_0_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g31ab0630356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6" name="Google Shape;206;g31ab0630356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g31a858c3ec1_0_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4" name="Google Shape;214;g31a858c3ec1_0_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g31a858c3ec1_0_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9" name="Google Shape;219;g31a858c3ec1_0_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31a858c3ec1_0_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6" name="Google Shape;226;g31a858c3ec1_0_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g31a858c3ec1_0_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3" name="Google Shape;233;g31a858c3ec1_0_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g31a858c3ec1_0_9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0" name="Google Shape;240;g31a858c3ec1_0_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g31a858c3ec1_0_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7" name="Google Shape;247;g31a858c3ec1_0_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g31a858c3ec1_0_10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4" name="Google Shape;254;g31a858c3ec1_0_1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g31a858c3ec1_0_1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1" name="Google Shape;261;g31a858c3ec1_0_1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g31a46b91a33_0_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9" name="Google Shape;269;g31a46b91a33_0_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g31a858c3ec1_0_1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4" name="Google Shape;274;g31a858c3ec1_0_1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g31a858c3ec1_0_1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1" name="Google Shape;281;g31a858c3ec1_0_1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g31a858c3ec1_0_1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8" name="Google Shape;288;g31a858c3ec1_0_1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g31a858c3ec1_0_1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6" name="Google Shape;296;g31a858c3ec1_0_1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g31a46b91a33_0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5" name="Google Shape;305;g31a46b91a33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g31a858c3ec1_0_1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3" name="Google Shape;313;g31a858c3ec1_0_1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g239609b2c0c_0_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0" name="Google Shape;320;g239609b2c0c_0_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4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g239609b2c0c_0_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6" name="Google Shape;326;g239609b2c0c_0_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oss.cs.fau.de" TargetMode="Externa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oss.cs.fau.de" TargetMode="Externa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oss.cs.fau.de" TargetMode="Externa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0" y="0"/>
            <a:ext cx="9144000" cy="2388900"/>
          </a:xfrm>
          <a:prstGeom prst="rect">
            <a:avLst/>
          </a:prstGeom>
          <a:noFill/>
        </p:spPr>
        <p:txBody>
          <a:bodyPr anchorCtr="0" anchor="b" bIns="274300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None/>
              <a:defRPr sz="4200">
                <a:solidFill>
                  <a:schemeClr val="dk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0" y="2569475"/>
            <a:ext cx="9144000" cy="2574000"/>
          </a:xfrm>
          <a:prstGeom prst="rect">
            <a:avLst/>
          </a:prstGeom>
        </p:spPr>
        <p:txBody>
          <a:bodyPr anchorCtr="0" anchor="t" bIns="91425" lIns="91425" spcFirstLastPara="1" rIns="91425" wrap="square" tIns="274300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9pPr>
          </a:lstStyle>
          <a:p/>
        </p:txBody>
      </p:sp>
      <p:grpSp>
        <p:nvGrpSpPr>
          <p:cNvPr id="12" name="Google Shape;12;p2"/>
          <p:cNvGrpSpPr/>
          <p:nvPr/>
        </p:nvGrpSpPr>
        <p:grpSpPr>
          <a:xfrm>
            <a:off x="0" y="2388810"/>
            <a:ext cx="9144000" cy="183000"/>
            <a:chOff x="0" y="2388810"/>
            <a:chExt cx="9144000" cy="183000"/>
          </a:xfrm>
        </p:grpSpPr>
        <p:sp>
          <p:nvSpPr>
            <p:cNvPr id="13" name="Google Shape;13;p2"/>
            <p:cNvSpPr/>
            <p:nvPr/>
          </p:nvSpPr>
          <p:spPr>
            <a:xfrm>
              <a:off x="0" y="2388810"/>
              <a:ext cx="914400" cy="1830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>
              <a:off x="914400" y="2388810"/>
              <a:ext cx="1828800" cy="1830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>
              <a:off x="2743200" y="2388810"/>
              <a:ext cx="6400800" cy="1830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3"/>
          <p:cNvSpPr txBox="1"/>
          <p:nvPr>
            <p:ph type="title"/>
          </p:nvPr>
        </p:nvSpPr>
        <p:spPr>
          <a:xfrm>
            <a:off x="0" y="-7"/>
            <a:ext cx="9144000" cy="2386500"/>
          </a:xfrm>
          <a:prstGeom prst="rect">
            <a:avLst/>
          </a:prstGeom>
        </p:spPr>
        <p:txBody>
          <a:bodyPr anchorCtr="0" anchor="b" bIns="274300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grpSp>
        <p:nvGrpSpPr>
          <p:cNvPr id="18" name="Google Shape;18;p3"/>
          <p:cNvGrpSpPr/>
          <p:nvPr/>
        </p:nvGrpSpPr>
        <p:grpSpPr>
          <a:xfrm>
            <a:off x="0" y="2432304"/>
            <a:ext cx="9144000" cy="91500"/>
            <a:chOff x="0" y="2386584"/>
            <a:chExt cx="9144000" cy="91500"/>
          </a:xfrm>
        </p:grpSpPr>
        <p:sp>
          <p:nvSpPr>
            <p:cNvPr id="19" name="Google Shape;19;p3"/>
            <p:cNvSpPr/>
            <p:nvPr/>
          </p:nvSpPr>
          <p:spPr>
            <a:xfrm>
              <a:off x="0" y="2386584"/>
              <a:ext cx="914400" cy="915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" name="Google Shape;20;p3"/>
            <p:cNvSpPr/>
            <p:nvPr/>
          </p:nvSpPr>
          <p:spPr>
            <a:xfrm>
              <a:off x="914400" y="2386584"/>
              <a:ext cx="1828800" cy="915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" name="Google Shape;21;p3"/>
            <p:cNvSpPr/>
            <p:nvPr/>
          </p:nvSpPr>
          <p:spPr>
            <a:xfrm>
              <a:off x="2743200" y="2386584"/>
              <a:ext cx="6400800" cy="915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4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" type="body"/>
          </p:nvPr>
        </p:nvSpPr>
        <p:spPr>
          <a:xfrm>
            <a:off x="274320" y="914400"/>
            <a:ext cx="8595300" cy="411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2" type="sldNum"/>
          </p:nvPr>
        </p:nvSpPr>
        <p:spPr>
          <a:xfrm>
            <a:off x="7315202" y="4416550"/>
            <a:ext cx="1828800" cy="731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buNone/>
              <a:defRPr>
                <a:solidFill>
                  <a:schemeClr val="dk1"/>
                </a:solidFill>
              </a:defRPr>
            </a:lvl1pPr>
            <a:lvl2pPr lvl="1" rtl="0">
              <a:buNone/>
              <a:defRPr>
                <a:solidFill>
                  <a:schemeClr val="dk1"/>
                </a:solidFill>
              </a:defRPr>
            </a:lvl2pPr>
            <a:lvl3pPr lvl="2" rtl="0">
              <a:buNone/>
              <a:defRPr>
                <a:solidFill>
                  <a:schemeClr val="dk1"/>
                </a:solidFill>
              </a:defRPr>
            </a:lvl3pPr>
            <a:lvl4pPr lvl="3" rtl="0">
              <a:buNone/>
              <a:defRPr>
                <a:solidFill>
                  <a:schemeClr val="dk1"/>
                </a:solidFill>
              </a:defRPr>
            </a:lvl4pPr>
            <a:lvl5pPr lvl="4" rtl="0">
              <a:buNone/>
              <a:defRPr>
                <a:solidFill>
                  <a:schemeClr val="dk1"/>
                </a:solidFill>
              </a:defRPr>
            </a:lvl5pPr>
            <a:lvl6pPr lvl="5" rtl="0">
              <a:buNone/>
              <a:defRPr>
                <a:solidFill>
                  <a:schemeClr val="dk1"/>
                </a:solidFill>
              </a:defRPr>
            </a:lvl6pPr>
            <a:lvl7pPr lvl="6" rtl="0">
              <a:buNone/>
              <a:defRPr>
                <a:solidFill>
                  <a:schemeClr val="dk1"/>
                </a:solidFill>
              </a:defRPr>
            </a:lvl7pPr>
            <a:lvl8pPr lvl="7" rtl="0">
              <a:buNone/>
              <a:defRPr>
                <a:solidFill>
                  <a:schemeClr val="dk1"/>
                </a:solidFill>
              </a:defRPr>
            </a:lvl8pPr>
            <a:lvl9pPr lvl="8" rtl="0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900" u="sng">
                <a:solidFill>
                  <a:schemeClr val="hlink"/>
                </a:solidFill>
                <a:hlinkClick r:id="rId2"/>
              </a:rPr>
              <a:t>https://oss.cs.fau.de</a:t>
            </a:r>
            <a:r>
              <a:rPr b="0" lang="en" sz="900">
                <a:solidFill>
                  <a:schemeClr val="dk2"/>
                </a:solidFill>
              </a:rPr>
              <a:t> </a:t>
            </a:r>
            <a:endParaRPr b="0" sz="900">
              <a:solidFill>
                <a:schemeClr val="dk2"/>
              </a:solidFill>
            </a:endParaRPr>
          </a:p>
        </p:txBody>
      </p:sp>
      <p:grpSp>
        <p:nvGrpSpPr>
          <p:cNvPr id="26" name="Google Shape;26;p4"/>
          <p:cNvGrpSpPr/>
          <p:nvPr/>
        </p:nvGrpSpPr>
        <p:grpSpPr>
          <a:xfrm>
            <a:off x="0" y="685800"/>
            <a:ext cx="9144000" cy="91500"/>
            <a:chOff x="0" y="2386584"/>
            <a:chExt cx="9144000" cy="91500"/>
          </a:xfrm>
        </p:grpSpPr>
        <p:sp>
          <p:nvSpPr>
            <p:cNvPr id="27" name="Google Shape;27;p4"/>
            <p:cNvSpPr/>
            <p:nvPr/>
          </p:nvSpPr>
          <p:spPr>
            <a:xfrm>
              <a:off x="0" y="2386584"/>
              <a:ext cx="914400" cy="915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" name="Google Shape;28;p4"/>
            <p:cNvSpPr/>
            <p:nvPr/>
          </p:nvSpPr>
          <p:spPr>
            <a:xfrm>
              <a:off x="914400" y="2386584"/>
              <a:ext cx="1828800" cy="915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" name="Google Shape;29;p4"/>
            <p:cNvSpPr/>
            <p:nvPr/>
          </p:nvSpPr>
          <p:spPr>
            <a:xfrm>
              <a:off x="2743200" y="2386584"/>
              <a:ext cx="6400800" cy="915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5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  <a:ln>
            <a:noFill/>
          </a:ln>
        </p:spPr>
        <p:txBody>
          <a:bodyPr anchorCtr="0" anchor="ctr" bIns="0" lIns="27430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" type="body"/>
          </p:nvPr>
        </p:nvSpPr>
        <p:spPr>
          <a:xfrm>
            <a:off x="274320" y="914400"/>
            <a:ext cx="4114800" cy="41148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3" name="Google Shape;33;p5"/>
          <p:cNvSpPr txBox="1"/>
          <p:nvPr>
            <p:ph idx="2" type="body"/>
          </p:nvPr>
        </p:nvSpPr>
        <p:spPr>
          <a:xfrm>
            <a:off x="4846320" y="914400"/>
            <a:ext cx="4114800" cy="411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4" name="Google Shape;34;p5"/>
          <p:cNvSpPr txBox="1"/>
          <p:nvPr>
            <p:ph idx="12" type="sldNum"/>
          </p:nvPr>
        </p:nvSpPr>
        <p:spPr>
          <a:xfrm>
            <a:off x="7315202" y="4416550"/>
            <a:ext cx="1828800" cy="731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dk1"/>
                </a:solidFill>
              </a:defRPr>
            </a:lvl1pPr>
            <a:lvl2pPr lvl="1">
              <a:buNone/>
              <a:defRPr>
                <a:solidFill>
                  <a:schemeClr val="dk1"/>
                </a:solidFill>
              </a:defRPr>
            </a:lvl2pPr>
            <a:lvl3pPr lvl="2">
              <a:buNone/>
              <a:defRPr>
                <a:solidFill>
                  <a:schemeClr val="dk1"/>
                </a:solidFill>
              </a:defRPr>
            </a:lvl3pPr>
            <a:lvl4pPr lvl="3">
              <a:buNone/>
              <a:defRPr>
                <a:solidFill>
                  <a:schemeClr val="dk1"/>
                </a:solidFill>
              </a:defRPr>
            </a:lvl4pPr>
            <a:lvl5pPr lvl="4">
              <a:buNone/>
              <a:defRPr>
                <a:solidFill>
                  <a:schemeClr val="dk1"/>
                </a:solidFill>
              </a:defRPr>
            </a:lvl5pPr>
            <a:lvl6pPr lvl="5">
              <a:buNone/>
              <a:defRPr>
                <a:solidFill>
                  <a:schemeClr val="dk1"/>
                </a:solidFill>
              </a:defRPr>
            </a:lvl6pPr>
            <a:lvl7pPr lvl="6">
              <a:buNone/>
              <a:defRPr>
                <a:solidFill>
                  <a:schemeClr val="dk1"/>
                </a:solidFill>
              </a:defRPr>
            </a:lvl7pPr>
            <a:lvl8pPr lvl="7">
              <a:buNone/>
              <a:defRPr>
                <a:solidFill>
                  <a:schemeClr val="dk1"/>
                </a:solidFill>
              </a:defRPr>
            </a:lvl8pPr>
            <a:lvl9pPr lvl="8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lang="en" sz="900" u="sng">
                <a:solidFill>
                  <a:schemeClr val="hlink"/>
                </a:solidFill>
                <a:hlinkClick r:id="rId2"/>
              </a:rPr>
              <a:t>https://oss.cs.fau.de</a:t>
            </a:r>
            <a:endParaRPr>
              <a:solidFill>
                <a:schemeClr val="dk2"/>
              </a:solidFill>
            </a:endParaRPr>
          </a:p>
        </p:txBody>
      </p:sp>
      <p:grpSp>
        <p:nvGrpSpPr>
          <p:cNvPr id="35" name="Google Shape;35;p5"/>
          <p:cNvGrpSpPr/>
          <p:nvPr/>
        </p:nvGrpSpPr>
        <p:grpSpPr>
          <a:xfrm>
            <a:off x="0" y="685800"/>
            <a:ext cx="9144000" cy="91500"/>
            <a:chOff x="0" y="2386584"/>
            <a:chExt cx="9144000" cy="91500"/>
          </a:xfrm>
        </p:grpSpPr>
        <p:sp>
          <p:nvSpPr>
            <p:cNvPr id="36" name="Google Shape;36;p5"/>
            <p:cNvSpPr/>
            <p:nvPr/>
          </p:nvSpPr>
          <p:spPr>
            <a:xfrm>
              <a:off x="0" y="2386584"/>
              <a:ext cx="914400" cy="915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" name="Google Shape;37;p5"/>
            <p:cNvSpPr/>
            <p:nvPr/>
          </p:nvSpPr>
          <p:spPr>
            <a:xfrm>
              <a:off x="914400" y="2386584"/>
              <a:ext cx="1828800" cy="915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" name="Google Shape;38;p5"/>
            <p:cNvSpPr/>
            <p:nvPr/>
          </p:nvSpPr>
          <p:spPr>
            <a:xfrm>
              <a:off x="2743200" y="2386584"/>
              <a:ext cx="6400800" cy="915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6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 anchorCtr="0" anchor="ctr" bIns="0" lIns="27430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1" name="Google Shape;41;p6"/>
          <p:cNvSpPr txBox="1"/>
          <p:nvPr>
            <p:ph idx="12" type="sldNum"/>
          </p:nvPr>
        </p:nvSpPr>
        <p:spPr>
          <a:xfrm>
            <a:off x="7315202" y="4416550"/>
            <a:ext cx="1828800" cy="731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dk1"/>
                </a:solidFill>
              </a:defRPr>
            </a:lvl1pPr>
            <a:lvl2pPr lvl="1">
              <a:buNone/>
              <a:defRPr>
                <a:solidFill>
                  <a:schemeClr val="dk1"/>
                </a:solidFill>
              </a:defRPr>
            </a:lvl2pPr>
            <a:lvl3pPr lvl="2">
              <a:buNone/>
              <a:defRPr>
                <a:solidFill>
                  <a:schemeClr val="dk1"/>
                </a:solidFill>
              </a:defRPr>
            </a:lvl3pPr>
            <a:lvl4pPr lvl="3">
              <a:buNone/>
              <a:defRPr>
                <a:solidFill>
                  <a:schemeClr val="dk1"/>
                </a:solidFill>
              </a:defRPr>
            </a:lvl4pPr>
            <a:lvl5pPr lvl="4">
              <a:buNone/>
              <a:defRPr>
                <a:solidFill>
                  <a:schemeClr val="dk1"/>
                </a:solidFill>
              </a:defRPr>
            </a:lvl5pPr>
            <a:lvl6pPr lvl="5">
              <a:buNone/>
              <a:defRPr>
                <a:solidFill>
                  <a:schemeClr val="dk1"/>
                </a:solidFill>
              </a:defRPr>
            </a:lvl6pPr>
            <a:lvl7pPr lvl="6">
              <a:buNone/>
              <a:defRPr>
                <a:solidFill>
                  <a:schemeClr val="dk1"/>
                </a:solidFill>
              </a:defRPr>
            </a:lvl7pPr>
            <a:lvl8pPr lvl="7">
              <a:buNone/>
              <a:defRPr>
                <a:solidFill>
                  <a:schemeClr val="dk1"/>
                </a:solidFill>
              </a:defRPr>
            </a:lvl8pPr>
            <a:lvl9pPr lvl="8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900" u="sng">
                <a:solidFill>
                  <a:schemeClr val="hlink"/>
                </a:solidFill>
                <a:hlinkClick r:id="rId2"/>
              </a:rPr>
              <a:t>https://oss.cs.fau.de</a:t>
            </a:r>
            <a:r>
              <a:rPr b="0" lang="en" sz="900">
                <a:solidFill>
                  <a:schemeClr val="dk2"/>
                </a:solidFill>
              </a:rPr>
              <a:t> </a:t>
            </a:r>
            <a:endParaRPr>
              <a:solidFill>
                <a:schemeClr val="dk2"/>
              </a:solidFill>
            </a:endParaRPr>
          </a:p>
        </p:txBody>
      </p:sp>
      <p:grpSp>
        <p:nvGrpSpPr>
          <p:cNvPr id="42" name="Google Shape;42;p6"/>
          <p:cNvGrpSpPr/>
          <p:nvPr/>
        </p:nvGrpSpPr>
        <p:grpSpPr>
          <a:xfrm>
            <a:off x="0" y="685800"/>
            <a:ext cx="9144000" cy="91500"/>
            <a:chOff x="0" y="2386584"/>
            <a:chExt cx="9144000" cy="91500"/>
          </a:xfrm>
        </p:grpSpPr>
        <p:sp>
          <p:nvSpPr>
            <p:cNvPr id="43" name="Google Shape;43;p6"/>
            <p:cNvSpPr/>
            <p:nvPr/>
          </p:nvSpPr>
          <p:spPr>
            <a:xfrm>
              <a:off x="0" y="2386584"/>
              <a:ext cx="914400" cy="915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p6"/>
            <p:cNvSpPr/>
            <p:nvPr/>
          </p:nvSpPr>
          <p:spPr>
            <a:xfrm>
              <a:off x="914400" y="2386584"/>
              <a:ext cx="1828800" cy="915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" name="Google Shape;45;p6"/>
            <p:cNvSpPr/>
            <p:nvPr/>
          </p:nvSpPr>
          <p:spPr>
            <a:xfrm>
              <a:off x="2743200" y="2386584"/>
              <a:ext cx="6400800" cy="915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hyperlink" Target="https://oss.cs.fau.de" TargetMode="Externa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27430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274320" y="914400"/>
            <a:ext cx="85953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 sz="1800">
                <a:solidFill>
                  <a:schemeClr val="dk1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7315202" y="4416550"/>
            <a:ext cx="1828800" cy="731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r">
              <a:buNone/>
              <a:defRPr b="1" sz="2400">
                <a:solidFill>
                  <a:schemeClr val="dk2"/>
                </a:solidFill>
              </a:defRPr>
            </a:lvl1pPr>
            <a:lvl2pPr lvl="1" rtl="0" algn="r">
              <a:buNone/>
              <a:defRPr b="1" sz="2400">
                <a:solidFill>
                  <a:schemeClr val="dk2"/>
                </a:solidFill>
              </a:defRPr>
            </a:lvl2pPr>
            <a:lvl3pPr lvl="2" rtl="0" algn="r">
              <a:buNone/>
              <a:defRPr b="1" sz="2400">
                <a:solidFill>
                  <a:schemeClr val="dk2"/>
                </a:solidFill>
              </a:defRPr>
            </a:lvl3pPr>
            <a:lvl4pPr lvl="3" rtl="0" algn="r">
              <a:buNone/>
              <a:defRPr b="1" sz="2400">
                <a:solidFill>
                  <a:schemeClr val="dk2"/>
                </a:solidFill>
              </a:defRPr>
            </a:lvl4pPr>
            <a:lvl5pPr lvl="4" rtl="0" algn="r">
              <a:buNone/>
              <a:defRPr b="1" sz="2400">
                <a:solidFill>
                  <a:schemeClr val="dk2"/>
                </a:solidFill>
              </a:defRPr>
            </a:lvl5pPr>
            <a:lvl6pPr lvl="5" rtl="0" algn="r">
              <a:buNone/>
              <a:defRPr b="1" sz="2400">
                <a:solidFill>
                  <a:schemeClr val="dk2"/>
                </a:solidFill>
              </a:defRPr>
            </a:lvl6pPr>
            <a:lvl7pPr lvl="6" rtl="0" algn="r">
              <a:buNone/>
              <a:defRPr b="1" sz="2400">
                <a:solidFill>
                  <a:schemeClr val="dk2"/>
                </a:solidFill>
              </a:defRPr>
            </a:lvl7pPr>
            <a:lvl8pPr lvl="7" rtl="0" algn="r">
              <a:buNone/>
              <a:defRPr b="1" sz="2400">
                <a:solidFill>
                  <a:schemeClr val="dk2"/>
                </a:solidFill>
              </a:defRPr>
            </a:lvl8pPr>
            <a:lvl9pPr lvl="8" rtl="0" algn="r">
              <a:buNone/>
              <a:defRPr b="1" sz="24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900" u="sng">
                <a:solidFill>
                  <a:schemeClr val="hlink"/>
                </a:solidFill>
                <a:hlinkClick r:id="rId1"/>
              </a:rPr>
              <a:t>https://oss.cs.fau.de</a:t>
            </a:r>
            <a:r>
              <a:rPr b="0" lang="en" sz="900"/>
              <a:t> </a:t>
            </a:r>
            <a:endParaRPr b="0" sz="900"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hyperlink" Target="http://creativecommons.org/licenses/by/4.0/" TargetMode="Externa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hyperlink" Target="https://oss.cs.fau.de" TargetMode="Externa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hyperlink" Target="https://oss.cs.fau.de" TargetMode="Externa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hyperlink" Target="https://oss.cs.fau.de" TargetMode="Externa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hyperlink" Target="https://oss.cs.fau.de" TargetMode="Externa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hyperlink" Target="https://oss.cs.fau.de" TargetMode="Externa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hyperlink" Target="https://oss.cs.fau.de" TargetMode="External"/><Relationship Id="rId4" Type="http://schemas.openxmlformats.org/officeDocument/2006/relationships/image" Target="../media/image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hyperlink" Target="https://oss.cs.fau.de" TargetMode="External"/><Relationship Id="rId4" Type="http://schemas.openxmlformats.org/officeDocument/2006/relationships/hyperlink" Target="https://dirkriehle.com/publications/1998-selected/values-in-object-systems/" TargetMode="Externa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hyperlink" Target="https://oss.cs.fau.de" TargetMode="Externa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hyperlink" Target="https://oss.cs.fau.de" TargetMode="Externa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hyperlink" Target="https://oss.cs.fau.de" TargetMode="External"/><Relationship Id="rId4" Type="http://schemas.openxmlformats.org/officeDocument/2006/relationships/hyperlink" Target="https://docs.oracle.com/javase/8/docs/api/java/lang/Object.html#equals-java.lang.Object-" TargetMode="Externa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hyperlink" Target="https://oss.cs.fau.de" TargetMode="External"/><Relationship Id="rId4" Type="http://schemas.openxmlformats.org/officeDocument/2006/relationships/image" Target="../media/image2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hyperlink" Target="https://oss.cs.fau.de" TargetMode="Externa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hyperlink" Target="https://oss.cs.fau.de" TargetMode="Externa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hyperlink" Target="https://oss.cs.fau.de" TargetMode="Externa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hyperlink" Target="https://oss.cs.fau.de" TargetMode="Externa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hyperlink" Target="https://oss.cs.fau.de" TargetMode="Externa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Relationship Id="rId3" Type="http://schemas.openxmlformats.org/officeDocument/2006/relationships/hyperlink" Target="https://oss.cs.fau.de" TargetMode="Externa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Relationship Id="rId3" Type="http://schemas.openxmlformats.org/officeDocument/2006/relationships/hyperlink" Target="https://oss.cs.fau.de" TargetMode="Externa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Relationship Id="rId3" Type="http://schemas.openxmlformats.org/officeDocument/2006/relationships/hyperlink" Target="https://oss.cs.fau.de" TargetMode="Externa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Relationship Id="rId3" Type="http://schemas.openxmlformats.org/officeDocument/2006/relationships/hyperlink" Target="https://oss.cs.fau.de" TargetMode="Externa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Relationship Id="rId3" Type="http://schemas.openxmlformats.org/officeDocument/2006/relationships/hyperlink" Target="https://oss.cs.fau.de" TargetMode="Externa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Relationship Id="rId3" Type="http://schemas.openxmlformats.org/officeDocument/2006/relationships/hyperlink" Target="https://oss.cs.fau.de" TargetMode="Externa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Relationship Id="rId3" Type="http://schemas.openxmlformats.org/officeDocument/2006/relationships/hyperlink" Target="https://oss.cs.fau.de" TargetMode="Externa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0.xml"/><Relationship Id="rId3" Type="http://schemas.openxmlformats.org/officeDocument/2006/relationships/hyperlink" Target="https://oss.cs.fau.de" TargetMode="External"/><Relationship Id="rId4" Type="http://schemas.openxmlformats.org/officeDocument/2006/relationships/image" Target="../media/image3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1.xml"/><Relationship Id="rId3" Type="http://schemas.openxmlformats.org/officeDocument/2006/relationships/hyperlink" Target="https://oss.cs.fau.de" TargetMode="Externa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2.xml"/><Relationship Id="rId3" Type="http://schemas.openxmlformats.org/officeDocument/2006/relationships/comments" Target="../comments/comment1.xml"/><Relationship Id="rId4" Type="http://schemas.openxmlformats.org/officeDocument/2006/relationships/hyperlink" Target="https://oss.cs.fau.de" TargetMode="Externa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4.xml"/><Relationship Id="rId3" Type="http://schemas.openxmlformats.org/officeDocument/2006/relationships/hyperlink" Target="https://oss.cs.fau.de" TargetMode="Externa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5.xml"/><Relationship Id="rId3" Type="http://schemas.openxmlformats.org/officeDocument/2006/relationships/hyperlink" Target="https://oss.cs.fau.de" TargetMode="Externa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6.xml"/><Relationship Id="rId3" Type="http://schemas.openxmlformats.org/officeDocument/2006/relationships/hyperlink" Target="https://oss.cs.fau.de" TargetMode="External"/><Relationship Id="rId4" Type="http://schemas.openxmlformats.org/officeDocument/2006/relationships/hyperlink" Target="https://github.com/jvalue/value-objects" TargetMode="Externa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7.xml"/><Relationship Id="rId3" Type="http://schemas.openxmlformats.org/officeDocument/2006/relationships/hyperlink" Target="https://oss.cs.fau.de" TargetMode="External"/><Relationship Id="rId4" Type="http://schemas.openxmlformats.org/officeDocument/2006/relationships/hyperlink" Target="https://github.com/jvalue/value-objects" TargetMode="Externa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8.xml"/><Relationship Id="rId3" Type="http://schemas.openxmlformats.org/officeDocument/2006/relationships/hyperlink" Target="https://oss.cs.fau.de" TargetMode="External"/><Relationship Id="rId4" Type="http://schemas.openxmlformats.org/officeDocument/2006/relationships/hyperlink" Target="https://riehle.org/computer-science/research/1997/cacm-1997-frameworks.html" TargetMode="External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9.xml"/><Relationship Id="rId3" Type="http://schemas.openxmlformats.org/officeDocument/2006/relationships/hyperlink" Target="https://oss.cs.fau.de" TargetMode="External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Relationship Id="rId3" Type="http://schemas.openxmlformats.org/officeDocument/2006/relationships/hyperlink" Target="mailto:dirk.riehle@fau.de" TargetMode="External"/><Relationship Id="rId4" Type="http://schemas.openxmlformats.org/officeDocument/2006/relationships/hyperlink" Target="https://oss.cs.fau.de" TargetMode="External"/><Relationship Id="rId5" Type="http://schemas.openxmlformats.org/officeDocument/2006/relationships/hyperlink" Target="mailto:dirk@riehle.org" TargetMode="External"/><Relationship Id="rId6" Type="http://schemas.openxmlformats.org/officeDocument/2006/relationships/hyperlink" Target="https://dirkriehle.com" TargetMode="External"/><Relationship Id="rId7" Type="http://schemas.openxmlformats.org/officeDocument/2006/relationships/hyperlink" Target="https://twitter.com/dirkriehle" TargetMode="External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1.xml"/><Relationship Id="rId3" Type="http://schemas.openxmlformats.org/officeDocument/2006/relationships/hyperlink" Target="https://oss.cs.fau.de" TargetMode="External"/><Relationship Id="rId4" Type="http://schemas.openxmlformats.org/officeDocument/2006/relationships/hyperlink" Target="http://creativecommons.org/licenses/by/4.0/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8"/>
          <p:cNvSpPr txBox="1"/>
          <p:nvPr>
            <p:ph type="ctrTitle"/>
          </p:nvPr>
        </p:nvSpPr>
        <p:spPr>
          <a:xfrm>
            <a:off x="0" y="0"/>
            <a:ext cx="9144000" cy="2388900"/>
          </a:xfrm>
          <a:prstGeom prst="rect">
            <a:avLst/>
          </a:prstGeom>
        </p:spPr>
        <p:txBody>
          <a:bodyPr anchorCtr="0" anchor="b" bIns="274300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Value Objects</a:t>
            </a:r>
            <a:endParaRPr/>
          </a:p>
        </p:txBody>
      </p:sp>
      <p:sp>
        <p:nvSpPr>
          <p:cNvPr id="52" name="Google Shape;52;p8"/>
          <p:cNvSpPr txBox="1"/>
          <p:nvPr>
            <p:ph idx="1" type="subTitle"/>
          </p:nvPr>
        </p:nvSpPr>
        <p:spPr>
          <a:xfrm>
            <a:off x="0" y="2569475"/>
            <a:ext cx="9144000" cy="2574000"/>
          </a:xfrm>
          <a:prstGeom prst="rect">
            <a:avLst/>
          </a:prstGeom>
        </p:spPr>
        <p:txBody>
          <a:bodyPr anchorCtr="0" anchor="t" bIns="91425" lIns="91425" spcFirstLastPara="1" rIns="91425" wrap="square" tIns="2743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Dirk Riehle, FAU Erlangen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ADAP B06</a:t>
            </a:r>
            <a:endParaRPr b="1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Licensed under </a:t>
            </a:r>
            <a:r>
              <a:rPr lang="en" sz="1800" u="sng">
                <a:solidFill>
                  <a:schemeClr val="hlink"/>
                </a:solidFill>
                <a:hlinkClick r:id="rId3"/>
              </a:rPr>
              <a:t>CC BY 4.0 International</a:t>
            </a:r>
            <a:endParaRPr sz="18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9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Agenda</a:t>
            </a:r>
            <a:endParaRPr/>
          </a:p>
        </p:txBody>
      </p:sp>
      <p:sp>
        <p:nvSpPr>
          <p:cNvPr id="58" name="Google Shape;58;p9"/>
          <p:cNvSpPr txBox="1"/>
          <p:nvPr>
            <p:ph idx="1" type="body"/>
          </p:nvPr>
        </p:nvSpPr>
        <p:spPr>
          <a:xfrm>
            <a:off x="274320" y="914400"/>
            <a:ext cx="8595300" cy="411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Values vs. objects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Value equality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Immutable objects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Shared value objects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The QuantityUnit type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Value type constructors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Value types in practice</a:t>
            </a:r>
            <a:endParaRPr/>
          </a:p>
        </p:txBody>
      </p:sp>
      <p:sp>
        <p:nvSpPr>
          <p:cNvPr id="59" name="Google Shape;59;p9"/>
          <p:cNvSpPr txBox="1"/>
          <p:nvPr>
            <p:ph idx="12" type="sldNum"/>
          </p:nvPr>
        </p:nvSpPr>
        <p:spPr>
          <a:xfrm>
            <a:off x="7315202" y="4416550"/>
            <a:ext cx="1828800" cy="731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900" u="sng">
                <a:solidFill>
                  <a:schemeClr val="hlink"/>
                </a:solidFill>
                <a:hlinkClick r:id="rId3"/>
              </a:rPr>
              <a:t>https://oss.cs.fau.de</a:t>
            </a:r>
            <a:r>
              <a:rPr b="0" lang="en" sz="900">
                <a:solidFill>
                  <a:schemeClr val="dk2"/>
                </a:solidFill>
              </a:rPr>
              <a:t> </a:t>
            </a:r>
            <a:endParaRPr b="0" sz="9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0"/>
          <p:cNvSpPr txBox="1"/>
          <p:nvPr>
            <p:ph type="title"/>
          </p:nvPr>
        </p:nvSpPr>
        <p:spPr>
          <a:xfrm>
            <a:off x="0" y="-7"/>
            <a:ext cx="9144000" cy="2386500"/>
          </a:xfrm>
          <a:prstGeom prst="rect">
            <a:avLst/>
          </a:prstGeom>
        </p:spPr>
        <p:txBody>
          <a:bodyPr anchorCtr="0" anchor="b" bIns="274300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1. Values vs. Objects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Values</a:t>
            </a:r>
            <a:endParaRPr/>
          </a:p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>
            <a:off x="274320" y="914400"/>
            <a:ext cx="8595300" cy="411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Values are timeless abstractions; they have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No life-cycle, no birth or death, and do not change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Unless you consider human invention of a value its birth</a:t>
            </a:r>
            <a:endParaRPr/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No identity, cannot be counted, there is only “one copy”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Values are instances of value types (a.k.a. data types)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p11"/>
          <p:cNvSpPr txBox="1"/>
          <p:nvPr>
            <p:ph idx="12" type="sldNum"/>
          </p:nvPr>
        </p:nvSpPr>
        <p:spPr>
          <a:xfrm>
            <a:off x="7315202" y="4416550"/>
            <a:ext cx="1828800" cy="731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900" u="sng">
                <a:solidFill>
                  <a:schemeClr val="hlink"/>
                </a:solidFill>
                <a:hlinkClick r:id="rId3"/>
              </a:rPr>
              <a:t>https://oss.cs.fau.de</a:t>
            </a:r>
            <a:r>
              <a:rPr b="0" lang="en" sz="900">
                <a:solidFill>
                  <a:schemeClr val="dk2"/>
                </a:solidFill>
              </a:rPr>
              <a:t> </a:t>
            </a:r>
            <a:endParaRPr b="0" sz="9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2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Objects</a:t>
            </a:r>
            <a:endParaRPr/>
          </a:p>
        </p:txBody>
      </p:sp>
      <p:sp>
        <p:nvSpPr>
          <p:cNvPr id="77" name="Google Shape;77;p12"/>
          <p:cNvSpPr txBox="1"/>
          <p:nvPr>
            <p:ph idx="1" type="body"/>
          </p:nvPr>
        </p:nvSpPr>
        <p:spPr>
          <a:xfrm>
            <a:off x="274320" y="914400"/>
            <a:ext cx="8595300" cy="411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Objects are virtual physical </a:t>
            </a:r>
            <a:r>
              <a:rPr lang="en"/>
              <a:t>entities</a:t>
            </a:r>
            <a:r>
              <a:rPr lang="en"/>
              <a:t> in the real / modeled </a:t>
            </a:r>
            <a:r>
              <a:rPr lang="en"/>
              <a:t>world; they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Exist in time and have a life-cycle, i.e. they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Can be created, changed, shared, deleted</a:t>
            </a:r>
            <a:endParaRPr/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Have an identity independent of their attribute values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Objects are instances of object types (a.k.a. classes)</a:t>
            </a:r>
            <a:endParaRPr/>
          </a:p>
        </p:txBody>
      </p:sp>
      <p:sp>
        <p:nvSpPr>
          <p:cNvPr id="78" name="Google Shape;78;p12"/>
          <p:cNvSpPr txBox="1"/>
          <p:nvPr>
            <p:ph idx="12" type="sldNum"/>
          </p:nvPr>
        </p:nvSpPr>
        <p:spPr>
          <a:xfrm>
            <a:off x="7315202" y="4416550"/>
            <a:ext cx="1828800" cy="731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900" u="sng">
                <a:solidFill>
                  <a:schemeClr val="hlink"/>
                </a:solidFill>
                <a:hlinkClick r:id="rId3"/>
              </a:rPr>
              <a:t>https://oss.cs.fau.de</a:t>
            </a:r>
            <a:r>
              <a:rPr b="0" lang="en" sz="900">
                <a:solidFill>
                  <a:schemeClr val="dk2"/>
                </a:solidFill>
              </a:rPr>
              <a:t> </a:t>
            </a:r>
            <a:endParaRPr b="0" sz="9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3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Value vs. Object Semantics in Programming</a:t>
            </a:r>
            <a:endParaRPr/>
          </a:p>
        </p:txBody>
      </p:sp>
      <p:sp>
        <p:nvSpPr>
          <p:cNvPr id="84" name="Google Shape;84;p13"/>
          <p:cNvSpPr txBox="1"/>
          <p:nvPr>
            <p:ph idx="1" type="body"/>
          </p:nvPr>
        </p:nvSpPr>
        <p:spPr>
          <a:xfrm>
            <a:off x="274320" y="914400"/>
            <a:ext cx="8595300" cy="411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Value semantics implies that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Values are copied (unless made immutable)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Object semantics </a:t>
            </a:r>
            <a:r>
              <a:rPr lang="en"/>
              <a:t>implies</a:t>
            </a:r>
            <a:r>
              <a:rPr lang="en"/>
              <a:t> that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Objects are moved around by reference (a </a:t>
            </a:r>
            <a:r>
              <a:rPr lang="en"/>
              <a:t>value</a:t>
            </a:r>
            <a:r>
              <a:rPr lang="en"/>
              <a:t>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85" name="Google Shape;85;p13"/>
          <p:cNvSpPr txBox="1"/>
          <p:nvPr>
            <p:ph idx="12" type="sldNum"/>
          </p:nvPr>
        </p:nvSpPr>
        <p:spPr>
          <a:xfrm>
            <a:off x="7315202" y="4416550"/>
            <a:ext cx="1828800" cy="731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900" u="sng">
                <a:solidFill>
                  <a:schemeClr val="hlink"/>
                </a:solidFill>
                <a:hlinkClick r:id="rId3"/>
              </a:rPr>
              <a:t>https://oss.cs.fau.de</a:t>
            </a:r>
            <a:r>
              <a:rPr b="0" lang="en" sz="900">
                <a:solidFill>
                  <a:schemeClr val="dk2"/>
                </a:solidFill>
              </a:rPr>
              <a:t> </a:t>
            </a:r>
            <a:endParaRPr b="0" sz="9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4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Examples of Value Types</a:t>
            </a:r>
            <a:endParaRPr/>
          </a:p>
        </p:txBody>
      </p:sp>
      <p:sp>
        <p:nvSpPr>
          <p:cNvPr id="91" name="Google Shape;91;p14"/>
          <p:cNvSpPr txBox="1"/>
          <p:nvPr>
            <p:ph idx="1" type="body"/>
          </p:nvPr>
        </p:nvSpPr>
        <p:spPr>
          <a:xfrm>
            <a:off x="274320" y="914400"/>
            <a:ext cx="8595300" cy="411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So-called primitive or built-in [1] or atomic value types include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boolean and bits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numbers (int, long, float)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characters and strings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object references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Domain-specific value types, include, but are not limited to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Coordinates and </a:t>
            </a:r>
            <a:r>
              <a:rPr lang="en"/>
              <a:t>homogeneous</a:t>
            </a:r>
            <a:r>
              <a:rPr lang="en"/>
              <a:t> names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SI units and their ranges and restrictions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Monetary </a:t>
            </a:r>
            <a:r>
              <a:rPr lang="en"/>
              <a:t>amount</a:t>
            </a:r>
            <a:r>
              <a:rPr lang="en"/>
              <a:t>, interest rate, stock symbol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URLs, http return codes</a:t>
            </a:r>
            <a:endParaRPr/>
          </a:p>
        </p:txBody>
      </p:sp>
      <p:sp>
        <p:nvSpPr>
          <p:cNvPr id="92" name="Google Shape;92;p14"/>
          <p:cNvSpPr txBox="1"/>
          <p:nvPr>
            <p:ph idx="12" type="sldNum"/>
          </p:nvPr>
        </p:nvSpPr>
        <p:spPr>
          <a:xfrm>
            <a:off x="7315202" y="4416550"/>
            <a:ext cx="1828800" cy="731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900" u="sng">
                <a:solidFill>
                  <a:schemeClr val="hlink"/>
                </a:solidFill>
                <a:hlinkClick r:id="rId3"/>
              </a:rPr>
              <a:t>https://oss.cs.fau.de</a:t>
            </a:r>
            <a:r>
              <a:rPr b="0" lang="en" sz="900">
                <a:solidFill>
                  <a:schemeClr val="dk2"/>
                </a:solidFill>
              </a:rPr>
              <a:t> </a:t>
            </a:r>
            <a:endParaRPr b="0" sz="900">
              <a:solidFill>
                <a:schemeClr val="dk2"/>
              </a:solidFill>
            </a:endParaRPr>
          </a:p>
        </p:txBody>
      </p:sp>
      <p:sp>
        <p:nvSpPr>
          <p:cNvPr id="93" name="Google Shape;93;p14"/>
          <p:cNvSpPr txBox="1"/>
          <p:nvPr/>
        </p:nvSpPr>
        <p:spPr>
          <a:xfrm>
            <a:off x="0" y="4233672"/>
            <a:ext cx="73152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[1] Rule of thumb: If it fits into a (8, 16, 32, …) register, it is a built-in value type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5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Occurrences and Representations of Objects and Values</a:t>
            </a:r>
            <a:endParaRPr/>
          </a:p>
        </p:txBody>
      </p:sp>
      <p:sp>
        <p:nvSpPr>
          <p:cNvPr id="99" name="Google Shape;99;p15"/>
          <p:cNvSpPr txBox="1"/>
          <p:nvPr>
            <p:ph idx="12" type="sldNum"/>
          </p:nvPr>
        </p:nvSpPr>
        <p:spPr>
          <a:xfrm>
            <a:off x="7315202" y="4416550"/>
            <a:ext cx="1828800" cy="731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900" u="sng">
                <a:solidFill>
                  <a:schemeClr val="hlink"/>
                </a:solidFill>
                <a:hlinkClick r:id="rId3"/>
              </a:rPr>
              <a:t>https://oss.cs.fau.de</a:t>
            </a:r>
            <a:r>
              <a:rPr b="0" lang="en" sz="900">
                <a:solidFill>
                  <a:schemeClr val="dk2"/>
                </a:solidFill>
              </a:rPr>
              <a:t> </a:t>
            </a:r>
            <a:endParaRPr b="0" sz="900">
              <a:solidFill>
                <a:schemeClr val="dk2"/>
              </a:solidFill>
            </a:endParaRPr>
          </a:p>
        </p:txBody>
      </p:sp>
      <p:pic>
        <p:nvPicPr>
          <p:cNvPr id="100" name="Google Shape;100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74320" y="914400"/>
            <a:ext cx="8595360" cy="35028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6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Values and Objects in Programming Languages</a:t>
            </a:r>
            <a:endParaRPr/>
          </a:p>
        </p:txBody>
      </p:sp>
      <p:sp>
        <p:nvSpPr>
          <p:cNvPr id="106" name="Google Shape;106;p16"/>
          <p:cNvSpPr txBox="1"/>
          <p:nvPr>
            <p:ph idx="1" type="body"/>
          </p:nvPr>
        </p:nvSpPr>
        <p:spPr>
          <a:xfrm>
            <a:off x="274320" y="914400"/>
            <a:ext cx="8595300" cy="411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There typically is no first-class concept of “value type” [1]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Hence, values are often implemented as </a:t>
            </a:r>
            <a:r>
              <a:rPr b="1" lang="en"/>
              <a:t>immutable</a:t>
            </a:r>
            <a:r>
              <a:rPr lang="en"/>
              <a:t> objects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"/>
              <a:t>M</a:t>
            </a:r>
            <a:r>
              <a:rPr b="1" lang="en"/>
              <a:t>utable</a:t>
            </a:r>
            <a:r>
              <a:rPr lang="en"/>
              <a:t> </a:t>
            </a:r>
            <a:r>
              <a:rPr b="1" lang="en"/>
              <a:t>objects</a:t>
            </a:r>
            <a:r>
              <a:rPr lang="en"/>
              <a:t> lead to side-effects, i.e. aliasing, a common source of bugs</a:t>
            </a:r>
            <a:endParaRPr/>
          </a:p>
        </p:txBody>
      </p:sp>
      <p:sp>
        <p:nvSpPr>
          <p:cNvPr id="107" name="Google Shape;107;p16"/>
          <p:cNvSpPr txBox="1"/>
          <p:nvPr>
            <p:ph idx="12" type="sldNum"/>
          </p:nvPr>
        </p:nvSpPr>
        <p:spPr>
          <a:xfrm>
            <a:off x="7315202" y="4416550"/>
            <a:ext cx="1828800" cy="731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900" u="sng">
                <a:solidFill>
                  <a:schemeClr val="hlink"/>
                </a:solidFill>
                <a:hlinkClick r:id="rId3"/>
              </a:rPr>
              <a:t>https://oss.cs.fau.de</a:t>
            </a:r>
            <a:r>
              <a:rPr b="0" lang="en" sz="900">
                <a:solidFill>
                  <a:schemeClr val="dk2"/>
                </a:solidFill>
              </a:rPr>
              <a:t> </a:t>
            </a:r>
            <a:endParaRPr b="0" sz="900">
              <a:solidFill>
                <a:schemeClr val="dk2"/>
              </a:solidFill>
            </a:endParaRPr>
          </a:p>
        </p:txBody>
      </p:sp>
      <p:sp>
        <p:nvSpPr>
          <p:cNvPr id="108" name="Google Shape;108;p16"/>
          <p:cNvSpPr txBox="1"/>
          <p:nvPr/>
        </p:nvSpPr>
        <p:spPr>
          <a:xfrm>
            <a:off x="0" y="4233672"/>
            <a:ext cx="73152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[1] See </a:t>
            </a:r>
            <a:r>
              <a:rPr lang="en" u="sng">
                <a:solidFill>
                  <a:schemeClr val="hlink"/>
                </a:solidFill>
                <a:hlinkClick r:id="rId4"/>
              </a:rPr>
              <a:t>https://dirkriehle.com/publications/1998-selected/values-in-object-systems/</a:t>
            </a:r>
            <a:r>
              <a:rPr lang="en"/>
              <a:t> </a:t>
            </a:r>
            <a:br>
              <a:rPr lang="en"/>
            </a:br>
            <a:r>
              <a:rPr lang="en"/>
              <a:t>for various techniques and approaches, some of which are discussed in this lecture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17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Advantages of Value Semantics</a:t>
            </a:r>
            <a:endParaRPr/>
          </a:p>
        </p:txBody>
      </p:sp>
      <p:sp>
        <p:nvSpPr>
          <p:cNvPr id="114" name="Google Shape;114;p17"/>
          <p:cNvSpPr txBox="1"/>
          <p:nvPr>
            <p:ph idx="1" type="body"/>
          </p:nvPr>
        </p:nvSpPr>
        <p:spPr>
          <a:xfrm>
            <a:off x="274320" y="914400"/>
            <a:ext cx="8595300" cy="411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Using domain-specific value types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Brings your programming closer to the problem domain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Removes or restrain a major source of bugs (aliasing)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May enhance system performance (shared, immutable)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Lack of </a:t>
            </a:r>
            <a:r>
              <a:rPr lang="en"/>
              <a:t>identity</a:t>
            </a:r>
            <a:r>
              <a:rPr lang="en"/>
              <a:t> allows for free copying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No need for a separate database table to store values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Value objects can be serialized in-line for network transfer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No need for cross-process references in distributed systems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17"/>
          <p:cNvSpPr txBox="1"/>
          <p:nvPr>
            <p:ph idx="12" type="sldNum"/>
          </p:nvPr>
        </p:nvSpPr>
        <p:spPr>
          <a:xfrm>
            <a:off x="7315202" y="4416550"/>
            <a:ext cx="1828800" cy="731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900" u="sng">
                <a:solidFill>
                  <a:schemeClr val="hlink"/>
                </a:solidFill>
                <a:hlinkClick r:id="rId3"/>
              </a:rPr>
              <a:t>https://oss.cs.fau.de</a:t>
            </a:r>
            <a:r>
              <a:rPr b="0" lang="en" sz="900">
                <a:solidFill>
                  <a:schemeClr val="dk2"/>
                </a:solidFill>
              </a:rPr>
              <a:t> </a:t>
            </a:r>
            <a:endParaRPr b="0" sz="9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18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Object References (Identifiers)</a:t>
            </a:r>
            <a:endParaRPr/>
          </a:p>
        </p:txBody>
      </p:sp>
      <p:sp>
        <p:nvSpPr>
          <p:cNvPr id="121" name="Google Shape;121;p18"/>
          <p:cNvSpPr txBox="1"/>
          <p:nvPr>
            <p:ph idx="1" type="body"/>
          </p:nvPr>
        </p:nvSpPr>
        <p:spPr>
          <a:xfrm>
            <a:off x="274320" y="914400"/>
            <a:ext cx="8595300" cy="411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Object identifiers are always values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In-memory object pointer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Handle (special type of pointer)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External object identifier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Primary keys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Object identifiers are not locations 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But locations are often (wrongly) used to identify objects</a:t>
            </a:r>
            <a:endParaRPr/>
          </a:p>
        </p:txBody>
      </p:sp>
      <p:sp>
        <p:nvSpPr>
          <p:cNvPr id="122" name="Google Shape;122;p18"/>
          <p:cNvSpPr txBox="1"/>
          <p:nvPr>
            <p:ph idx="12" type="sldNum"/>
          </p:nvPr>
        </p:nvSpPr>
        <p:spPr>
          <a:xfrm>
            <a:off x="7315202" y="4416550"/>
            <a:ext cx="1828800" cy="731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900" u="sng">
                <a:solidFill>
                  <a:schemeClr val="hlink"/>
                </a:solidFill>
                <a:hlinkClick r:id="rId3"/>
              </a:rPr>
              <a:t>https://oss.cs.fau.de</a:t>
            </a:r>
            <a:r>
              <a:rPr b="0" lang="en" sz="900">
                <a:solidFill>
                  <a:schemeClr val="dk2"/>
                </a:solidFill>
              </a:rPr>
              <a:t> </a:t>
            </a:r>
            <a:endParaRPr b="0" sz="9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19"/>
          <p:cNvSpPr txBox="1"/>
          <p:nvPr>
            <p:ph type="title"/>
          </p:nvPr>
        </p:nvSpPr>
        <p:spPr>
          <a:xfrm>
            <a:off x="0" y="-7"/>
            <a:ext cx="9144000" cy="2386500"/>
          </a:xfrm>
          <a:prstGeom prst="rect">
            <a:avLst/>
          </a:prstGeom>
        </p:spPr>
        <p:txBody>
          <a:bodyPr anchorCtr="0" anchor="b" bIns="274300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2. Value Equality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20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Java equals() Contract for Any Object [1]</a:t>
            </a:r>
            <a:endParaRPr/>
          </a:p>
        </p:txBody>
      </p:sp>
      <p:sp>
        <p:nvSpPr>
          <p:cNvPr id="133" name="Google Shape;133;p20"/>
          <p:cNvSpPr txBox="1"/>
          <p:nvPr>
            <p:ph idx="1" type="body"/>
          </p:nvPr>
        </p:nvSpPr>
        <p:spPr>
          <a:xfrm>
            <a:off x="274320" y="914400"/>
            <a:ext cx="8595300" cy="411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Applies to any runtime object (whether a regular object or a value object)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Reflexive: For any non-null reference x, x.equals(x) should return true.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Symmetric: For any non-null references x and y, x.equals(y) should return true if and only if y.equals(x) returns true.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Transitive: For any non-null references x, y, and z, if x.equals(y) returns true and y.equals(z) returns true, then x.equals(z) should return true.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Consistent: For any non-null references x and y, multiple invocations of x.equals(y) consistently return true or consistently return false, provided no information used in equals() comparisons on the objects is modified.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Null-Object: For any reference x, x.equals(null) should return false.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20"/>
          <p:cNvSpPr txBox="1"/>
          <p:nvPr>
            <p:ph idx="12" type="sldNum"/>
          </p:nvPr>
        </p:nvSpPr>
        <p:spPr>
          <a:xfrm>
            <a:off x="7315202" y="4416550"/>
            <a:ext cx="1828800" cy="731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900" u="sng">
                <a:solidFill>
                  <a:schemeClr val="hlink"/>
                </a:solidFill>
                <a:hlinkClick r:id="rId3"/>
              </a:rPr>
              <a:t>https://oss.cs.fau.de</a:t>
            </a:r>
            <a:r>
              <a:rPr b="0" lang="en" sz="900">
                <a:solidFill>
                  <a:schemeClr val="dk2"/>
                </a:solidFill>
              </a:rPr>
              <a:t> </a:t>
            </a:r>
            <a:endParaRPr b="0" sz="900">
              <a:solidFill>
                <a:schemeClr val="dk2"/>
              </a:solidFill>
            </a:endParaRPr>
          </a:p>
        </p:txBody>
      </p:sp>
      <p:sp>
        <p:nvSpPr>
          <p:cNvPr id="135" name="Google Shape;135;p20"/>
          <p:cNvSpPr txBox="1"/>
          <p:nvPr/>
        </p:nvSpPr>
        <p:spPr>
          <a:xfrm>
            <a:off x="0" y="4233675"/>
            <a:ext cx="91440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[1] See </a:t>
            </a:r>
            <a:r>
              <a:rPr lang="en" u="sng">
                <a:solidFill>
                  <a:schemeClr val="hlink"/>
                </a:solidFill>
                <a:hlinkClick r:id="rId4"/>
              </a:rPr>
              <a:t>https://docs.oracle.com/javase/8/docs/api/java/lang/Object.html#equals-java.lang.Object-</a:t>
            </a:r>
            <a:r>
              <a:rPr lang="en"/>
              <a:t> 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21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Equality Contract for Value Objects</a:t>
            </a:r>
            <a:endParaRPr/>
          </a:p>
        </p:txBody>
      </p:sp>
      <p:sp>
        <p:nvSpPr>
          <p:cNvPr id="141" name="Google Shape;141;p21"/>
          <p:cNvSpPr txBox="1"/>
          <p:nvPr>
            <p:ph idx="1" type="body"/>
          </p:nvPr>
        </p:nvSpPr>
        <p:spPr>
          <a:xfrm>
            <a:off x="274320" y="914400"/>
            <a:ext cx="8595300" cy="411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Like the equality contract for any object plus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An interface represents the value type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implementation classes represent an equivalency set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21"/>
          <p:cNvSpPr txBox="1"/>
          <p:nvPr>
            <p:ph idx="12" type="sldNum"/>
          </p:nvPr>
        </p:nvSpPr>
        <p:spPr>
          <a:xfrm>
            <a:off x="7315202" y="4416550"/>
            <a:ext cx="1828800" cy="731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900" u="sng">
                <a:solidFill>
                  <a:schemeClr val="hlink"/>
                </a:solidFill>
                <a:hlinkClick r:id="rId3"/>
              </a:rPr>
              <a:t>https://oss.cs.fau.de</a:t>
            </a:r>
            <a:r>
              <a:rPr b="0" lang="en" sz="900">
                <a:solidFill>
                  <a:schemeClr val="dk2"/>
                </a:solidFill>
              </a:rPr>
              <a:t> </a:t>
            </a:r>
            <a:endParaRPr b="0" sz="900">
              <a:solidFill>
                <a:schemeClr val="dk2"/>
              </a:solidFill>
            </a:endParaRPr>
          </a:p>
        </p:txBody>
      </p:sp>
      <p:pic>
        <p:nvPicPr>
          <p:cNvPr id="143" name="Google Shape;143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74320" y="2286000"/>
            <a:ext cx="8595359" cy="207243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22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AbstractCoordinate.isEqual() Implementation</a:t>
            </a:r>
            <a:endParaRPr/>
          </a:p>
        </p:txBody>
      </p:sp>
      <p:sp>
        <p:nvSpPr>
          <p:cNvPr id="149" name="Google Shape;149;p22"/>
          <p:cNvSpPr txBox="1"/>
          <p:nvPr>
            <p:ph idx="12" type="sldNum"/>
          </p:nvPr>
        </p:nvSpPr>
        <p:spPr>
          <a:xfrm>
            <a:off x="7315202" y="4416550"/>
            <a:ext cx="1828800" cy="731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900" u="sng">
                <a:solidFill>
                  <a:schemeClr val="hlink"/>
                </a:solidFill>
                <a:hlinkClick r:id="rId3"/>
              </a:rPr>
              <a:t>https://oss.cs.fau.de</a:t>
            </a:r>
            <a:r>
              <a:rPr b="0" lang="en" sz="900">
                <a:solidFill>
                  <a:schemeClr val="dk2"/>
                </a:solidFill>
              </a:rPr>
              <a:t> </a:t>
            </a:r>
            <a:endParaRPr b="0" sz="900">
              <a:solidFill>
                <a:schemeClr val="dk2"/>
              </a:solidFill>
            </a:endParaRPr>
          </a:p>
        </p:txBody>
      </p:sp>
      <p:sp>
        <p:nvSpPr>
          <p:cNvPr id="150" name="Google Shape;150;p22"/>
          <p:cNvSpPr txBox="1"/>
          <p:nvPr/>
        </p:nvSpPr>
        <p:spPr>
          <a:xfrm>
            <a:off x="274320" y="914400"/>
            <a:ext cx="859530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AF00D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export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0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abstract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0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class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00">
                <a:solidFill>
                  <a:srgbClr val="267F99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AbstractCoordinate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0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implements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00">
                <a:solidFill>
                  <a:srgbClr val="267F99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Coordinate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{</a:t>
            </a:r>
            <a:endParaRPr sz="1000">
              <a:solidFill>
                <a:srgbClr val="3B3B3B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3B3B3B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public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00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isEqual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" sz="100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other</a:t>
            </a: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: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00">
                <a:solidFill>
                  <a:srgbClr val="267F99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Coordinate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)</a:t>
            </a: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: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00">
                <a:solidFill>
                  <a:srgbClr val="267F99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boolean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{</a:t>
            </a:r>
            <a:endParaRPr sz="1000">
              <a:solidFill>
                <a:srgbClr val="3B3B3B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    </a:t>
            </a:r>
            <a:r>
              <a:rPr lang="en" sz="1000">
                <a:solidFill>
                  <a:srgbClr val="AF00D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return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(</a:t>
            </a:r>
            <a:r>
              <a:rPr lang="en" sz="100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this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en" sz="1000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doGetX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() </a:t>
            </a: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==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0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other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en" sz="1000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getX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()) </a:t>
            </a: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&amp;&amp;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(</a:t>
            </a:r>
            <a:r>
              <a:rPr lang="en" sz="100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this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en" sz="1000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doGetY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() </a:t>
            </a: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==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0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other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en" sz="1000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getY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());</a:t>
            </a:r>
            <a:endParaRPr sz="1000">
              <a:solidFill>
                <a:srgbClr val="3B3B3B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}</a:t>
            </a:r>
            <a:endParaRPr sz="1000">
              <a:solidFill>
                <a:srgbClr val="3B3B3B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3B3B3B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...</a:t>
            </a:r>
            <a:endParaRPr sz="1000">
              <a:solidFill>
                <a:srgbClr val="3B3B3B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3B3B3B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1000">
              <a:solidFill>
                <a:srgbClr val="3B3B3B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3B3B3B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23"/>
          <p:cNvSpPr txBox="1"/>
          <p:nvPr>
            <p:ph type="title"/>
          </p:nvPr>
        </p:nvSpPr>
        <p:spPr>
          <a:xfrm>
            <a:off x="0" y="-7"/>
            <a:ext cx="9144000" cy="2386500"/>
          </a:xfrm>
          <a:prstGeom prst="rect">
            <a:avLst/>
          </a:prstGeom>
        </p:spPr>
        <p:txBody>
          <a:bodyPr anchorCtr="0" anchor="b" bIns="274300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3. Immutable Objects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24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Immutable Objects</a:t>
            </a:r>
            <a:endParaRPr/>
          </a:p>
        </p:txBody>
      </p:sp>
      <p:sp>
        <p:nvSpPr>
          <p:cNvPr id="161" name="Google Shape;161;p24"/>
          <p:cNvSpPr txBox="1"/>
          <p:nvPr>
            <p:ph idx="1" type="body"/>
          </p:nvPr>
        </p:nvSpPr>
        <p:spPr>
          <a:xfrm>
            <a:off x="274320" y="914400"/>
            <a:ext cx="8595300" cy="411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Immutable objects are objects that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Have no mutation methods (never change their state)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24"/>
          <p:cNvSpPr txBox="1"/>
          <p:nvPr>
            <p:ph idx="12" type="sldNum"/>
          </p:nvPr>
        </p:nvSpPr>
        <p:spPr>
          <a:xfrm>
            <a:off x="7315202" y="4416550"/>
            <a:ext cx="1828800" cy="731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900" u="sng">
                <a:solidFill>
                  <a:schemeClr val="hlink"/>
                </a:solidFill>
                <a:hlinkClick r:id="rId3"/>
              </a:rPr>
              <a:t>https://oss.cs.fau.de</a:t>
            </a:r>
            <a:r>
              <a:rPr b="0" lang="en" sz="900">
                <a:solidFill>
                  <a:schemeClr val="dk2"/>
                </a:solidFill>
              </a:rPr>
              <a:t> </a:t>
            </a:r>
            <a:endParaRPr b="0" sz="9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25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Immutable Value Objects</a:t>
            </a:r>
            <a:endParaRPr/>
          </a:p>
        </p:txBody>
      </p:sp>
      <p:sp>
        <p:nvSpPr>
          <p:cNvPr id="168" name="Google Shape;168;p25"/>
          <p:cNvSpPr txBox="1"/>
          <p:nvPr>
            <p:ph idx="12" type="sldNum"/>
          </p:nvPr>
        </p:nvSpPr>
        <p:spPr>
          <a:xfrm>
            <a:off x="7315202" y="4416550"/>
            <a:ext cx="1828800" cy="731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900" u="sng">
                <a:solidFill>
                  <a:schemeClr val="hlink"/>
                </a:solidFill>
                <a:hlinkClick r:id="rId3"/>
              </a:rPr>
              <a:t>https://oss.cs.fau.de</a:t>
            </a:r>
            <a:r>
              <a:rPr b="0" lang="en" sz="900">
                <a:solidFill>
                  <a:schemeClr val="dk2"/>
                </a:solidFill>
              </a:rPr>
              <a:t> </a:t>
            </a:r>
            <a:endParaRPr b="0" sz="900">
              <a:solidFill>
                <a:schemeClr val="dk2"/>
              </a:solidFill>
            </a:endParaRPr>
          </a:p>
        </p:txBody>
      </p:sp>
      <p:sp>
        <p:nvSpPr>
          <p:cNvPr id="169" name="Google Shape;169;p25"/>
          <p:cNvSpPr txBox="1"/>
          <p:nvPr>
            <p:ph idx="1" type="body"/>
          </p:nvPr>
        </p:nvSpPr>
        <p:spPr>
          <a:xfrm>
            <a:off x="274325" y="914400"/>
            <a:ext cx="8595300" cy="1371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Value types are often implemented as immutable object classes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(Former) mutation methods return another value object with the desired state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The result object may or may not be a new value object</a:t>
            </a:r>
            <a:endParaRPr/>
          </a:p>
        </p:txBody>
      </p:sp>
      <p:sp>
        <p:nvSpPr>
          <p:cNvPr id="170" name="Google Shape;170;p25"/>
          <p:cNvSpPr txBox="1"/>
          <p:nvPr/>
        </p:nvSpPr>
        <p:spPr>
          <a:xfrm>
            <a:off x="274320" y="2286000"/>
            <a:ext cx="8595300" cy="274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AF00D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export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0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class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00">
                <a:solidFill>
                  <a:srgbClr val="267F99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CartesianCoordinate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0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extends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00">
                <a:solidFill>
                  <a:srgbClr val="267F99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AbstractCoordinate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{</a:t>
            </a:r>
            <a:endParaRPr sz="1000">
              <a:solidFill>
                <a:srgbClr val="3B3B3B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3B3B3B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...</a:t>
            </a:r>
            <a:endParaRPr sz="1000">
              <a:solidFill>
                <a:srgbClr val="3B3B3B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3B3B3B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en" sz="100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protected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00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doSetX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" sz="100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x</a:t>
            </a: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: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00">
                <a:solidFill>
                  <a:srgbClr val="267F99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number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)</a:t>
            </a: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: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00">
                <a:solidFill>
                  <a:srgbClr val="267F99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Coordinate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{</a:t>
            </a:r>
            <a:endParaRPr sz="1000">
              <a:solidFill>
                <a:srgbClr val="3B3B3B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    </a:t>
            </a:r>
            <a:r>
              <a:rPr lang="en" sz="1000">
                <a:solidFill>
                  <a:srgbClr val="AF00D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return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0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new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00">
                <a:solidFill>
                  <a:srgbClr val="267F99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CartesianCoordinate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" sz="100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x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en" sz="100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this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en" sz="100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y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);</a:t>
            </a:r>
            <a:endParaRPr sz="1000">
              <a:solidFill>
                <a:srgbClr val="3B3B3B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}</a:t>
            </a:r>
            <a:endParaRPr sz="1000">
              <a:solidFill>
                <a:srgbClr val="3B3B3B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</a:t>
            </a:r>
            <a:endParaRPr sz="1000">
              <a:solidFill>
                <a:srgbClr val="3B3B3B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en" sz="100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protected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00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doSetY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" sz="100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y</a:t>
            </a: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: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00">
                <a:solidFill>
                  <a:srgbClr val="267F99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number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)</a:t>
            </a: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: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00">
                <a:solidFill>
                  <a:srgbClr val="267F99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Coordinate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{</a:t>
            </a:r>
            <a:endParaRPr sz="1000">
              <a:solidFill>
                <a:srgbClr val="3B3B3B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    </a:t>
            </a:r>
            <a:r>
              <a:rPr lang="en" sz="1000">
                <a:solidFill>
                  <a:srgbClr val="AF00D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return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0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new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00">
                <a:solidFill>
                  <a:srgbClr val="267F99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CartesianCoordinate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" sz="100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this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en" sz="100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x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en" sz="100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y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);</a:t>
            </a:r>
            <a:endParaRPr sz="1000">
              <a:solidFill>
                <a:srgbClr val="3B3B3B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}</a:t>
            </a:r>
            <a:endParaRPr sz="1000">
              <a:solidFill>
                <a:srgbClr val="3B3B3B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3B3B3B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...</a:t>
            </a:r>
            <a:endParaRPr sz="1000">
              <a:solidFill>
                <a:srgbClr val="3B3B3B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3B3B3B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1000">
              <a:solidFill>
                <a:srgbClr val="3B3B3B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3B3B3B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3B3B3B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26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Advantages and Disadvantages of Immutable Objects</a:t>
            </a:r>
            <a:endParaRPr/>
          </a:p>
        </p:txBody>
      </p:sp>
      <p:sp>
        <p:nvSpPr>
          <p:cNvPr id="176" name="Google Shape;176;p26"/>
          <p:cNvSpPr txBox="1"/>
          <p:nvPr>
            <p:ph idx="1" type="body"/>
          </p:nvPr>
        </p:nvSpPr>
        <p:spPr>
          <a:xfrm>
            <a:off x="274320" y="914400"/>
            <a:ext cx="8595300" cy="411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Advantages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No side effects from aliasing!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Safe and perform well in concurrent programming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Disadvantages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Increased object creation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Your </a:t>
            </a:r>
            <a:r>
              <a:rPr lang="en"/>
              <a:t>garbage collector may run hot quickly</a:t>
            </a:r>
            <a:endParaRPr/>
          </a:p>
        </p:txBody>
      </p:sp>
      <p:sp>
        <p:nvSpPr>
          <p:cNvPr id="177" name="Google Shape;177;p26"/>
          <p:cNvSpPr txBox="1"/>
          <p:nvPr>
            <p:ph idx="12" type="sldNum"/>
          </p:nvPr>
        </p:nvSpPr>
        <p:spPr>
          <a:xfrm>
            <a:off x="7315202" y="4416550"/>
            <a:ext cx="1828800" cy="731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900" u="sng">
                <a:solidFill>
                  <a:schemeClr val="hlink"/>
                </a:solidFill>
                <a:hlinkClick r:id="rId3"/>
              </a:rPr>
              <a:t>https://oss.cs.fau.de</a:t>
            </a:r>
            <a:r>
              <a:rPr b="0" lang="en" sz="900">
                <a:solidFill>
                  <a:schemeClr val="dk2"/>
                </a:solidFill>
              </a:rPr>
              <a:t> </a:t>
            </a:r>
            <a:endParaRPr b="0" sz="9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27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Design by Contract and Immutable Value Objects</a:t>
            </a:r>
            <a:endParaRPr/>
          </a:p>
        </p:txBody>
      </p:sp>
      <p:sp>
        <p:nvSpPr>
          <p:cNvPr id="183" name="Google Shape;183;p27"/>
          <p:cNvSpPr txBox="1"/>
          <p:nvPr>
            <p:ph idx="1" type="body"/>
          </p:nvPr>
        </p:nvSpPr>
        <p:spPr>
          <a:xfrm>
            <a:off x="274320" y="914400"/>
            <a:ext cx="8595300" cy="411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Preconditions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Don’t change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Class invariants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Are always the same: S</a:t>
            </a:r>
            <a:r>
              <a:rPr lang="en"/>
              <a:t>tate did not change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Postconditions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Move to the result object</a:t>
            </a:r>
            <a:endParaRPr/>
          </a:p>
        </p:txBody>
      </p:sp>
      <p:sp>
        <p:nvSpPr>
          <p:cNvPr id="184" name="Google Shape;184;p27"/>
          <p:cNvSpPr txBox="1"/>
          <p:nvPr>
            <p:ph idx="12" type="sldNum"/>
          </p:nvPr>
        </p:nvSpPr>
        <p:spPr>
          <a:xfrm>
            <a:off x="7315202" y="4416550"/>
            <a:ext cx="1828800" cy="731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900" u="sng">
                <a:solidFill>
                  <a:schemeClr val="hlink"/>
                </a:solidFill>
                <a:hlinkClick r:id="rId3"/>
              </a:rPr>
              <a:t>https://oss.cs.fau.de</a:t>
            </a:r>
            <a:r>
              <a:rPr b="0" lang="en" sz="900">
                <a:solidFill>
                  <a:schemeClr val="dk2"/>
                </a:solidFill>
              </a:rPr>
              <a:t> </a:t>
            </a:r>
            <a:endParaRPr b="0" sz="9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28"/>
          <p:cNvSpPr txBox="1"/>
          <p:nvPr>
            <p:ph type="title"/>
          </p:nvPr>
        </p:nvSpPr>
        <p:spPr>
          <a:xfrm>
            <a:off x="0" y="-7"/>
            <a:ext cx="9144000" cy="2386500"/>
          </a:xfrm>
          <a:prstGeom prst="rect">
            <a:avLst/>
          </a:prstGeom>
        </p:spPr>
        <p:txBody>
          <a:bodyPr anchorCtr="0" anchor="b" bIns="274300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4. Shared Value Objects</a:t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29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Shared Value Objects</a:t>
            </a:r>
            <a:endParaRPr/>
          </a:p>
        </p:txBody>
      </p:sp>
      <p:sp>
        <p:nvSpPr>
          <p:cNvPr id="195" name="Google Shape;195;p29"/>
          <p:cNvSpPr txBox="1"/>
          <p:nvPr>
            <p:ph idx="1" type="body"/>
          </p:nvPr>
        </p:nvSpPr>
        <p:spPr>
          <a:xfrm>
            <a:off x="274320" y="914400"/>
            <a:ext cx="8595300" cy="411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One value → one object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196" name="Google Shape;196;p29"/>
          <p:cNvSpPr txBox="1"/>
          <p:nvPr>
            <p:ph idx="12" type="sldNum"/>
          </p:nvPr>
        </p:nvSpPr>
        <p:spPr>
          <a:xfrm>
            <a:off x="7315202" y="4416550"/>
            <a:ext cx="1828800" cy="731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900" u="sng">
                <a:solidFill>
                  <a:schemeClr val="hlink"/>
                </a:solidFill>
                <a:hlinkClick r:id="rId3"/>
              </a:rPr>
              <a:t>https://oss.cs.fau.de</a:t>
            </a:r>
            <a:r>
              <a:rPr b="0" lang="en" sz="900">
                <a:solidFill>
                  <a:schemeClr val="dk2"/>
                </a:solidFill>
              </a:rPr>
              <a:t> </a:t>
            </a:r>
            <a:endParaRPr b="0" sz="9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30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Advantages and Disadvantages of Sharing Value Objects</a:t>
            </a:r>
            <a:endParaRPr/>
          </a:p>
        </p:txBody>
      </p:sp>
      <p:sp>
        <p:nvSpPr>
          <p:cNvPr id="202" name="Google Shape;202;p30"/>
          <p:cNvSpPr txBox="1"/>
          <p:nvPr>
            <p:ph idx="1" type="body"/>
          </p:nvPr>
        </p:nvSpPr>
        <p:spPr>
          <a:xfrm>
            <a:off x="274320" y="914400"/>
            <a:ext cx="8595300" cy="411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Advantages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Reduced (minimal!) memory consumption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(Parts of) equality test can be reduced to identity test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Hash code computation can be reduced to basic object hash code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Disadvantages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Added programming complexity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Performance penalty for organizing shared objects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Gets more difficult with more than one implementation class</a:t>
            </a:r>
            <a:endParaRPr/>
          </a:p>
        </p:txBody>
      </p:sp>
      <p:sp>
        <p:nvSpPr>
          <p:cNvPr id="203" name="Google Shape;203;p30"/>
          <p:cNvSpPr txBox="1"/>
          <p:nvPr>
            <p:ph idx="12" type="sldNum"/>
          </p:nvPr>
        </p:nvSpPr>
        <p:spPr>
          <a:xfrm>
            <a:off x="7315202" y="4416550"/>
            <a:ext cx="1828800" cy="731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900" u="sng">
                <a:solidFill>
                  <a:schemeClr val="hlink"/>
                </a:solidFill>
                <a:hlinkClick r:id="rId3"/>
              </a:rPr>
              <a:t>https://oss.cs.fau.de</a:t>
            </a:r>
            <a:r>
              <a:rPr b="0" lang="en" sz="900">
                <a:solidFill>
                  <a:schemeClr val="dk2"/>
                </a:solidFill>
              </a:rPr>
              <a:t> </a:t>
            </a:r>
            <a:endParaRPr b="0" sz="9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31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Handle / Body Idiom + Copy-on-Write [1]</a:t>
            </a:r>
            <a:endParaRPr/>
          </a:p>
        </p:txBody>
      </p:sp>
      <p:sp>
        <p:nvSpPr>
          <p:cNvPr id="209" name="Google Shape;209;p31"/>
          <p:cNvSpPr txBox="1"/>
          <p:nvPr>
            <p:ph idx="1" type="body"/>
          </p:nvPr>
        </p:nvSpPr>
        <p:spPr>
          <a:xfrm>
            <a:off x="274320" y="914400"/>
            <a:ext cx="8595300" cy="411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handle / body idiom 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Separates handle (reference) from body (payload)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handle is copied as the object is passed around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Copy-on-write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Keeps the handle through which the write happens but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Copies the body before mutation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This is a technique better suited than immutable objects for heavyweight objects</a:t>
            </a:r>
            <a:endParaRPr/>
          </a:p>
        </p:txBody>
      </p:sp>
      <p:sp>
        <p:nvSpPr>
          <p:cNvPr id="210" name="Google Shape;210;p31"/>
          <p:cNvSpPr txBox="1"/>
          <p:nvPr>
            <p:ph idx="12" type="sldNum"/>
          </p:nvPr>
        </p:nvSpPr>
        <p:spPr>
          <a:xfrm>
            <a:off x="7315202" y="4416550"/>
            <a:ext cx="1828800" cy="731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900" u="sng">
                <a:solidFill>
                  <a:schemeClr val="hlink"/>
                </a:solidFill>
                <a:hlinkClick r:id="rId3"/>
              </a:rPr>
              <a:t>https://oss.cs.fau.de</a:t>
            </a:r>
            <a:r>
              <a:rPr b="0" lang="en" sz="900">
                <a:solidFill>
                  <a:schemeClr val="dk2"/>
                </a:solidFill>
              </a:rPr>
              <a:t> </a:t>
            </a:r>
            <a:endParaRPr b="0" sz="900">
              <a:solidFill>
                <a:schemeClr val="dk2"/>
              </a:solidFill>
            </a:endParaRPr>
          </a:p>
        </p:txBody>
      </p:sp>
      <p:sp>
        <p:nvSpPr>
          <p:cNvPr id="211" name="Google Shape;211;p31"/>
          <p:cNvSpPr txBox="1"/>
          <p:nvPr/>
        </p:nvSpPr>
        <p:spPr>
          <a:xfrm>
            <a:off x="0" y="4233672"/>
            <a:ext cx="72600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[1] </a:t>
            </a:r>
            <a:r>
              <a:rPr lang="en"/>
              <a:t>Coplien, J. O. (1991). Advanced C++ programming styles and idioms. Addison-Wesley Longman.</a:t>
            </a:r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32"/>
          <p:cNvSpPr txBox="1"/>
          <p:nvPr>
            <p:ph type="title"/>
          </p:nvPr>
        </p:nvSpPr>
        <p:spPr>
          <a:xfrm>
            <a:off x="0" y="-7"/>
            <a:ext cx="9144000" cy="2386500"/>
          </a:xfrm>
          <a:prstGeom prst="rect">
            <a:avLst/>
          </a:prstGeom>
        </p:spPr>
        <p:txBody>
          <a:bodyPr anchorCtr="0" anchor="b" bIns="274300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5. The QuantityUnit Type</a:t>
            </a:r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33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Design Exercise</a:t>
            </a:r>
            <a:endParaRPr/>
          </a:p>
        </p:txBody>
      </p:sp>
      <p:sp>
        <p:nvSpPr>
          <p:cNvPr id="222" name="Google Shape;222;p33"/>
          <p:cNvSpPr txBox="1"/>
          <p:nvPr>
            <p:ph idx="1" type="body"/>
          </p:nvPr>
        </p:nvSpPr>
        <p:spPr>
          <a:xfrm>
            <a:off x="274320" y="914400"/>
            <a:ext cx="8595300" cy="411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Design a function that accepts a distance and a speed as the input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Compute and </a:t>
            </a:r>
            <a:r>
              <a:rPr lang="en"/>
              <a:t>return</a:t>
            </a:r>
            <a:r>
              <a:rPr lang="en"/>
              <a:t> the time it takes to go that distance at that speed</a:t>
            </a:r>
            <a:endParaRPr/>
          </a:p>
        </p:txBody>
      </p:sp>
      <p:sp>
        <p:nvSpPr>
          <p:cNvPr id="223" name="Google Shape;223;p33"/>
          <p:cNvSpPr txBox="1"/>
          <p:nvPr>
            <p:ph idx="12" type="sldNum"/>
          </p:nvPr>
        </p:nvSpPr>
        <p:spPr>
          <a:xfrm>
            <a:off x="7315202" y="4416550"/>
            <a:ext cx="1828800" cy="731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900" u="sng">
                <a:solidFill>
                  <a:schemeClr val="hlink"/>
                </a:solidFill>
                <a:hlinkClick r:id="rId3"/>
              </a:rPr>
              <a:t>https://oss.cs.fau.de</a:t>
            </a:r>
            <a:r>
              <a:rPr b="0" lang="en" sz="900">
                <a:solidFill>
                  <a:schemeClr val="dk2"/>
                </a:solidFill>
              </a:rPr>
              <a:t> </a:t>
            </a:r>
            <a:endParaRPr b="0" sz="9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34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 Short Interlude About Requirements</a:t>
            </a:r>
            <a:endParaRPr/>
          </a:p>
        </p:txBody>
      </p:sp>
      <p:sp>
        <p:nvSpPr>
          <p:cNvPr id="229" name="Google Shape;229;p34"/>
          <p:cNvSpPr txBox="1"/>
          <p:nvPr>
            <p:ph idx="1" type="body"/>
          </p:nvPr>
        </p:nvSpPr>
        <p:spPr>
          <a:xfrm>
            <a:off x="274320" y="914400"/>
            <a:ext cx="8595300" cy="411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Functional requirements missing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Precision of calculation?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What types of units?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…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Non-functional requirements missing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Speed of </a:t>
            </a:r>
            <a:r>
              <a:rPr lang="en"/>
              <a:t>calculation</a:t>
            </a:r>
            <a:r>
              <a:rPr lang="en"/>
              <a:t>?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Concurrent computation?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…</a:t>
            </a:r>
            <a:endParaRPr/>
          </a:p>
        </p:txBody>
      </p:sp>
      <p:sp>
        <p:nvSpPr>
          <p:cNvPr id="230" name="Google Shape;230;p34"/>
          <p:cNvSpPr txBox="1"/>
          <p:nvPr>
            <p:ph idx="12" type="sldNum"/>
          </p:nvPr>
        </p:nvSpPr>
        <p:spPr>
          <a:xfrm>
            <a:off x="7315202" y="4416550"/>
            <a:ext cx="1828800" cy="731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900" u="sng">
                <a:solidFill>
                  <a:schemeClr val="hlink"/>
                </a:solidFill>
                <a:hlinkClick r:id="rId3"/>
              </a:rPr>
              <a:t>https://oss.cs.fau.de</a:t>
            </a:r>
            <a:r>
              <a:rPr b="0" lang="en" sz="900">
                <a:solidFill>
                  <a:schemeClr val="dk2"/>
                </a:solidFill>
              </a:rPr>
              <a:t> </a:t>
            </a:r>
            <a:endParaRPr b="0" sz="9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35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What’s Wrong With This Solution?</a:t>
            </a:r>
            <a:endParaRPr/>
          </a:p>
        </p:txBody>
      </p:sp>
      <p:sp>
        <p:nvSpPr>
          <p:cNvPr id="236" name="Google Shape;236;p35"/>
          <p:cNvSpPr txBox="1"/>
          <p:nvPr>
            <p:ph idx="12" type="sldNum"/>
          </p:nvPr>
        </p:nvSpPr>
        <p:spPr>
          <a:xfrm>
            <a:off x="7315202" y="4416550"/>
            <a:ext cx="1828800" cy="731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900" u="sng">
                <a:solidFill>
                  <a:schemeClr val="hlink"/>
                </a:solidFill>
                <a:hlinkClick r:id="rId3"/>
              </a:rPr>
              <a:t>https://oss.cs.fau.de</a:t>
            </a:r>
            <a:r>
              <a:rPr b="0" lang="en" sz="900">
                <a:solidFill>
                  <a:schemeClr val="dk2"/>
                </a:solidFill>
              </a:rPr>
              <a:t> </a:t>
            </a:r>
            <a:endParaRPr b="0" sz="900">
              <a:solidFill>
                <a:schemeClr val="dk2"/>
              </a:solidFill>
            </a:endParaRPr>
          </a:p>
        </p:txBody>
      </p:sp>
      <p:sp>
        <p:nvSpPr>
          <p:cNvPr id="237" name="Google Shape;237;p35"/>
          <p:cNvSpPr txBox="1"/>
          <p:nvPr/>
        </p:nvSpPr>
        <p:spPr>
          <a:xfrm>
            <a:off x="274320" y="914400"/>
            <a:ext cx="85953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AF00D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export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0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function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00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calculateDuration1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" sz="100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distance</a:t>
            </a: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: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00">
                <a:solidFill>
                  <a:srgbClr val="267F99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number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en" sz="100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speed</a:t>
            </a: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: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00">
                <a:solidFill>
                  <a:srgbClr val="267F99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number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)</a:t>
            </a: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: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00">
                <a:solidFill>
                  <a:srgbClr val="267F99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number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{</a:t>
            </a:r>
            <a:endParaRPr sz="1000">
              <a:solidFill>
                <a:srgbClr val="3B3B3B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en" sz="1000">
                <a:solidFill>
                  <a:srgbClr val="AF00D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return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0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distance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/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0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speed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1000">
              <a:solidFill>
                <a:srgbClr val="3B3B3B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1000">
              <a:solidFill>
                <a:srgbClr val="3B3B3B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36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Base Units of the Metric System</a:t>
            </a:r>
            <a:endParaRPr/>
          </a:p>
        </p:txBody>
      </p:sp>
      <p:sp>
        <p:nvSpPr>
          <p:cNvPr id="243" name="Google Shape;243;p36"/>
          <p:cNvSpPr txBox="1"/>
          <p:nvPr>
            <p:ph idx="12" type="sldNum"/>
          </p:nvPr>
        </p:nvSpPr>
        <p:spPr>
          <a:xfrm>
            <a:off x="7315202" y="4416550"/>
            <a:ext cx="1828800" cy="731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900" u="sng">
                <a:solidFill>
                  <a:schemeClr val="hlink"/>
                </a:solidFill>
                <a:hlinkClick r:id="rId3"/>
              </a:rPr>
              <a:t>https://oss.cs.fau.de</a:t>
            </a:r>
            <a:r>
              <a:rPr b="0" lang="en" sz="900">
                <a:solidFill>
                  <a:schemeClr val="dk2"/>
                </a:solidFill>
              </a:rPr>
              <a:t> </a:t>
            </a:r>
            <a:endParaRPr b="0" sz="900">
              <a:solidFill>
                <a:schemeClr val="dk2"/>
              </a:solidFill>
            </a:endParaRPr>
          </a:p>
        </p:txBody>
      </p:sp>
      <p:graphicFrame>
        <p:nvGraphicFramePr>
          <p:cNvPr id="244" name="Google Shape;244;p36"/>
          <p:cNvGraphicFramePr/>
          <p:nvPr/>
        </p:nvGraphicFramePr>
        <p:xfrm>
          <a:off x="274320" y="9144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{F4AF1C8F-E501-4788-9710-25EA0DD50D42}</a:tableStyleId>
              </a:tblPr>
              <a:tblGrid>
                <a:gridCol w="2865125"/>
                <a:gridCol w="2865125"/>
                <a:gridCol w="2865125"/>
              </a:tblGrid>
              <a:tr h="457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lt1"/>
                          </a:solidFill>
                        </a:rPr>
                        <a:t>Quantity</a:t>
                      </a:r>
                      <a:endParaRPr b="1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lt1"/>
                          </a:solidFill>
                        </a:rPr>
                        <a:t>Base Unit</a:t>
                      </a:r>
                      <a:endParaRPr b="1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lt1"/>
                          </a:solidFill>
                        </a:rPr>
                        <a:t>Symbol</a:t>
                      </a:r>
                      <a:endParaRPr b="1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Length</a:t>
                      </a:r>
                      <a:endParaRPr/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meter</a:t>
                      </a:r>
                      <a:endParaRPr/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m</a:t>
                      </a:r>
                      <a:endParaRPr/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Mass</a:t>
                      </a:r>
                      <a:endParaRPr/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kilogram</a:t>
                      </a:r>
                      <a:endParaRPr/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kg</a:t>
                      </a:r>
                      <a:endParaRPr/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Time</a:t>
                      </a:r>
                      <a:endParaRPr/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second</a:t>
                      </a:r>
                      <a:endParaRPr/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s</a:t>
                      </a:r>
                      <a:endParaRPr/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Electric current</a:t>
                      </a:r>
                      <a:endParaRPr/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Ampere</a:t>
                      </a:r>
                      <a:endParaRPr/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</a:t>
                      </a:r>
                      <a:endParaRPr/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Thermodynamic temperature</a:t>
                      </a:r>
                      <a:endParaRPr/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Kelvin</a:t>
                      </a:r>
                      <a:endParaRPr/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K</a:t>
                      </a:r>
                      <a:endParaRPr/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Luminous intensity</a:t>
                      </a:r>
                      <a:endParaRPr/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Candela</a:t>
                      </a:r>
                      <a:endParaRPr/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cd</a:t>
                      </a:r>
                      <a:endParaRPr/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Amount of substance</a:t>
                      </a:r>
                      <a:endParaRPr/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mole</a:t>
                      </a:r>
                      <a:endParaRPr/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mol</a:t>
                      </a:r>
                      <a:endParaRPr/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37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Introducing QuantityUnit</a:t>
            </a:r>
            <a:endParaRPr/>
          </a:p>
        </p:txBody>
      </p:sp>
      <p:sp>
        <p:nvSpPr>
          <p:cNvPr id="250" name="Google Shape;250;p37"/>
          <p:cNvSpPr txBox="1"/>
          <p:nvPr>
            <p:ph idx="12" type="sldNum"/>
          </p:nvPr>
        </p:nvSpPr>
        <p:spPr>
          <a:xfrm>
            <a:off x="7315202" y="4416550"/>
            <a:ext cx="1828800" cy="731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900" u="sng">
                <a:solidFill>
                  <a:schemeClr val="hlink"/>
                </a:solidFill>
                <a:hlinkClick r:id="rId3"/>
              </a:rPr>
              <a:t>https://oss.cs.fau.de</a:t>
            </a:r>
            <a:r>
              <a:rPr b="0" lang="en" sz="900">
                <a:solidFill>
                  <a:schemeClr val="dk2"/>
                </a:solidFill>
              </a:rPr>
              <a:t> </a:t>
            </a:r>
            <a:endParaRPr b="0" sz="900">
              <a:solidFill>
                <a:schemeClr val="dk2"/>
              </a:solidFill>
            </a:endParaRPr>
          </a:p>
        </p:txBody>
      </p:sp>
      <p:pic>
        <p:nvPicPr>
          <p:cNvPr id="251" name="Google Shape;251;p3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74320" y="914400"/>
            <a:ext cx="8595360" cy="35028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38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Implementing (SI) Units</a:t>
            </a:r>
            <a:endParaRPr/>
          </a:p>
        </p:txBody>
      </p:sp>
      <p:sp>
        <p:nvSpPr>
          <p:cNvPr id="257" name="Google Shape;257;p38"/>
          <p:cNvSpPr txBox="1"/>
          <p:nvPr>
            <p:ph idx="12" type="sldNum"/>
          </p:nvPr>
        </p:nvSpPr>
        <p:spPr>
          <a:xfrm>
            <a:off x="7315202" y="4416550"/>
            <a:ext cx="1828800" cy="731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900" u="sng">
                <a:solidFill>
                  <a:schemeClr val="hlink"/>
                </a:solidFill>
                <a:hlinkClick r:id="rId3"/>
              </a:rPr>
              <a:t>https://oss.cs.fau.de</a:t>
            </a:r>
            <a:r>
              <a:rPr b="0" lang="en" sz="900">
                <a:solidFill>
                  <a:schemeClr val="dk2"/>
                </a:solidFill>
              </a:rPr>
              <a:t> </a:t>
            </a:r>
            <a:endParaRPr b="0" sz="900">
              <a:solidFill>
                <a:schemeClr val="dk2"/>
              </a:solidFill>
            </a:endParaRPr>
          </a:p>
        </p:txBody>
      </p:sp>
      <p:sp>
        <p:nvSpPr>
          <p:cNvPr id="258" name="Google Shape;258;p38"/>
          <p:cNvSpPr txBox="1"/>
          <p:nvPr/>
        </p:nvSpPr>
        <p:spPr>
          <a:xfrm>
            <a:off x="274320" y="914400"/>
            <a:ext cx="85953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rgbClr val="AF00D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export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0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class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00">
                <a:solidFill>
                  <a:srgbClr val="267F99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SIUnit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{</a:t>
            </a:r>
            <a:endParaRPr sz="1000">
              <a:solidFill>
                <a:srgbClr val="3B3B3B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en" sz="100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protected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0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exponents</a:t>
            </a: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: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00">
                <a:solidFill>
                  <a:srgbClr val="267F99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number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[] </a:t>
            </a: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[</a:t>
            </a:r>
            <a:r>
              <a:rPr lang="en" sz="1000">
                <a:solidFill>
                  <a:srgbClr val="09865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0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en" sz="1000">
                <a:solidFill>
                  <a:srgbClr val="09865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0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en" sz="1000">
                <a:solidFill>
                  <a:srgbClr val="09865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0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en" sz="1000">
                <a:solidFill>
                  <a:srgbClr val="09865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0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en" sz="1000">
                <a:solidFill>
                  <a:srgbClr val="09865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0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en" sz="1000">
                <a:solidFill>
                  <a:srgbClr val="09865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0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en" sz="1000">
                <a:solidFill>
                  <a:srgbClr val="09865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0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];</a:t>
            </a:r>
            <a:endParaRPr sz="1000">
              <a:solidFill>
                <a:srgbClr val="3B3B3B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000">
              <a:solidFill>
                <a:srgbClr val="3B3B3B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en" sz="100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constructor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" sz="100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exponents</a:t>
            </a: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: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00">
                <a:solidFill>
                  <a:srgbClr val="267F99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number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[]) {</a:t>
            </a:r>
            <a:endParaRPr sz="1000">
              <a:solidFill>
                <a:srgbClr val="3B3B3B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    </a:t>
            </a:r>
            <a:r>
              <a:rPr lang="en" sz="100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this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en" sz="100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exponents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[</a:t>
            </a: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...</a:t>
            </a:r>
            <a:r>
              <a:rPr lang="en" sz="100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exponents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];</a:t>
            </a:r>
            <a:endParaRPr sz="1000">
              <a:solidFill>
                <a:srgbClr val="3B3B3B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}</a:t>
            </a:r>
            <a:endParaRPr sz="1000">
              <a:solidFill>
                <a:srgbClr val="3B3B3B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000">
              <a:solidFill>
                <a:srgbClr val="3B3B3B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en" sz="100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public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00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isEqual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" sz="100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other</a:t>
            </a: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: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00">
                <a:solidFill>
                  <a:srgbClr val="267F99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SIUnit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)</a:t>
            </a: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: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00">
                <a:solidFill>
                  <a:srgbClr val="267F99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boolean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{</a:t>
            </a:r>
            <a:endParaRPr sz="1000">
              <a:solidFill>
                <a:srgbClr val="3B3B3B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   </a:t>
            </a:r>
            <a:r>
              <a:rPr lang="en" sz="1000">
                <a:solidFill>
                  <a:srgbClr val="AF00D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return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0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this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en" sz="100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exponents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en" sz="1000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every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((</a:t>
            </a:r>
            <a:r>
              <a:rPr lang="en" sz="100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v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en" sz="100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i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) </a:t>
            </a:r>
            <a:r>
              <a:rPr lang="en" sz="100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=&gt;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0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v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===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0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other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en" sz="100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exponents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[</a:t>
            </a:r>
            <a:r>
              <a:rPr lang="en" sz="100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i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]);</a:t>
            </a:r>
            <a:endParaRPr sz="1000">
              <a:solidFill>
                <a:srgbClr val="3B3B3B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}</a:t>
            </a:r>
            <a:endParaRPr sz="1000">
              <a:solidFill>
                <a:srgbClr val="3B3B3B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000">
              <a:solidFill>
                <a:srgbClr val="3B3B3B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en" sz="100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public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00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add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" sz="100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other</a:t>
            </a: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: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00">
                <a:solidFill>
                  <a:srgbClr val="267F99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SIUnit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)</a:t>
            </a: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: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00">
                <a:solidFill>
                  <a:srgbClr val="267F99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SIUnit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{</a:t>
            </a:r>
            <a:endParaRPr sz="1000">
              <a:solidFill>
                <a:srgbClr val="3B3B3B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    </a:t>
            </a:r>
            <a:r>
              <a:rPr lang="en" sz="1000">
                <a:solidFill>
                  <a:srgbClr val="267F99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IllegalArgumentException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en" sz="1000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assert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!</a:t>
            </a:r>
            <a:r>
              <a:rPr lang="en" sz="100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other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en" sz="1000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isEqual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" sz="100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this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));</a:t>
            </a:r>
            <a:endParaRPr sz="1000">
              <a:solidFill>
                <a:srgbClr val="3B3B3B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    </a:t>
            </a:r>
            <a:r>
              <a:rPr lang="en" sz="1000">
                <a:solidFill>
                  <a:srgbClr val="AF00D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return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0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new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00">
                <a:solidFill>
                  <a:srgbClr val="267F99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SIUnit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" sz="100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this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en" sz="100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exponents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);</a:t>
            </a:r>
            <a:endParaRPr sz="1000">
              <a:solidFill>
                <a:srgbClr val="3B3B3B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}</a:t>
            </a:r>
            <a:endParaRPr sz="1000">
              <a:solidFill>
                <a:srgbClr val="AF00DB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...</a:t>
            </a:r>
            <a:endParaRPr sz="1000">
              <a:solidFill>
                <a:srgbClr val="3B3B3B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3B3B3B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en" sz="100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public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00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multiply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" sz="100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other</a:t>
            </a: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: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00">
                <a:solidFill>
                  <a:srgbClr val="267F99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SIUnit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)</a:t>
            </a: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: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00">
                <a:solidFill>
                  <a:srgbClr val="267F99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SIUnit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{</a:t>
            </a:r>
            <a:endParaRPr sz="1000">
              <a:solidFill>
                <a:srgbClr val="3B3B3B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    </a:t>
            </a:r>
            <a:r>
              <a:rPr lang="en" sz="100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let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0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result</a:t>
            </a: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: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00">
                <a:solidFill>
                  <a:srgbClr val="267F99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number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[] </a:t>
            </a: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[</a:t>
            </a:r>
            <a:r>
              <a:rPr lang="en" sz="1000">
                <a:solidFill>
                  <a:srgbClr val="09865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0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en" sz="1000">
                <a:solidFill>
                  <a:srgbClr val="09865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0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en" sz="1000">
                <a:solidFill>
                  <a:srgbClr val="09865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0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en" sz="1000">
                <a:solidFill>
                  <a:srgbClr val="09865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0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en" sz="1000">
                <a:solidFill>
                  <a:srgbClr val="09865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0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en" sz="1000">
                <a:solidFill>
                  <a:srgbClr val="09865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0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en" sz="1000">
                <a:solidFill>
                  <a:srgbClr val="09865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0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];</a:t>
            </a:r>
            <a:endParaRPr sz="1000">
              <a:solidFill>
                <a:srgbClr val="3B3B3B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    </a:t>
            </a:r>
            <a:r>
              <a:rPr lang="en" sz="1000">
                <a:solidFill>
                  <a:srgbClr val="AF00D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for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(</a:t>
            </a:r>
            <a:r>
              <a:rPr lang="en" sz="100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let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0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i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00">
                <a:solidFill>
                  <a:srgbClr val="09865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0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; </a:t>
            </a:r>
            <a:r>
              <a:rPr lang="en" sz="100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i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&lt;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0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this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en" sz="100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exponents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en" sz="100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length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; </a:t>
            </a:r>
            <a:r>
              <a:rPr lang="en" sz="100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i</a:t>
            </a: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++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) {</a:t>
            </a:r>
            <a:endParaRPr sz="1000">
              <a:solidFill>
                <a:srgbClr val="3B3B3B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        </a:t>
            </a:r>
            <a:r>
              <a:rPr lang="en" sz="100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result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[</a:t>
            </a:r>
            <a:r>
              <a:rPr lang="en" sz="1000">
                <a:solidFill>
                  <a:srgbClr val="09865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1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] </a:t>
            </a: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0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this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en" sz="100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exponents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[</a:t>
            </a:r>
            <a:r>
              <a:rPr lang="en" sz="100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i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] </a:t>
            </a: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+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0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other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en" sz="100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exponents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[</a:t>
            </a:r>
            <a:r>
              <a:rPr lang="en" sz="100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i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];</a:t>
            </a:r>
            <a:endParaRPr sz="1000">
              <a:solidFill>
                <a:srgbClr val="3B3B3B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    };</a:t>
            </a:r>
            <a:endParaRPr sz="1000">
              <a:solidFill>
                <a:srgbClr val="3B3B3B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    </a:t>
            </a:r>
            <a:r>
              <a:rPr lang="en" sz="1000">
                <a:solidFill>
                  <a:srgbClr val="AF00D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return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0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new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00">
                <a:solidFill>
                  <a:srgbClr val="267F99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SIUnit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" sz="100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result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);</a:t>
            </a:r>
            <a:endParaRPr sz="1000">
              <a:solidFill>
                <a:srgbClr val="3B3B3B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}</a:t>
            </a:r>
            <a:endParaRPr sz="1000">
              <a:solidFill>
                <a:srgbClr val="3B3B3B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...</a:t>
            </a:r>
            <a:endParaRPr sz="1000">
              <a:solidFill>
                <a:srgbClr val="3B3B3B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1000">
              <a:solidFill>
                <a:srgbClr val="3B3B3B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39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 Better calculateDuration() Function</a:t>
            </a:r>
            <a:endParaRPr/>
          </a:p>
        </p:txBody>
      </p:sp>
      <p:sp>
        <p:nvSpPr>
          <p:cNvPr id="264" name="Google Shape;264;p39"/>
          <p:cNvSpPr txBox="1"/>
          <p:nvPr>
            <p:ph idx="12" type="sldNum"/>
          </p:nvPr>
        </p:nvSpPr>
        <p:spPr>
          <a:xfrm>
            <a:off x="7315202" y="4416550"/>
            <a:ext cx="1828800" cy="731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900" u="sng">
                <a:solidFill>
                  <a:schemeClr val="hlink"/>
                </a:solidFill>
                <a:hlinkClick r:id="rId4"/>
              </a:rPr>
              <a:t>https://oss.cs.fau.de</a:t>
            </a:r>
            <a:r>
              <a:rPr b="0" lang="en" sz="900">
                <a:solidFill>
                  <a:schemeClr val="dk2"/>
                </a:solidFill>
              </a:rPr>
              <a:t> </a:t>
            </a:r>
            <a:endParaRPr b="0" sz="900">
              <a:solidFill>
                <a:schemeClr val="dk2"/>
              </a:solidFill>
            </a:endParaRPr>
          </a:p>
        </p:txBody>
      </p:sp>
      <p:sp>
        <p:nvSpPr>
          <p:cNvPr id="265" name="Google Shape;265;p39"/>
          <p:cNvSpPr txBox="1"/>
          <p:nvPr>
            <p:ph idx="1" type="body"/>
          </p:nvPr>
        </p:nvSpPr>
        <p:spPr>
          <a:xfrm>
            <a:off x="274325" y="2011680"/>
            <a:ext cx="8595300" cy="2286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Possible improvements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Turn distance and speed into QuantityUnits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Have base units ready as Unit instances e.g. for seconds</a:t>
            </a:r>
            <a:endParaRPr/>
          </a:p>
        </p:txBody>
      </p:sp>
      <p:sp>
        <p:nvSpPr>
          <p:cNvPr id="266" name="Google Shape;266;p39"/>
          <p:cNvSpPr txBox="1"/>
          <p:nvPr/>
        </p:nvSpPr>
        <p:spPr>
          <a:xfrm>
            <a:off x="274320" y="914400"/>
            <a:ext cx="85953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AF00D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export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0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function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00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calculateDuration2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" sz="100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distance</a:t>
            </a: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: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00">
                <a:solidFill>
                  <a:srgbClr val="267F99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number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en" sz="100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speed</a:t>
            </a: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: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00">
                <a:solidFill>
                  <a:srgbClr val="267F99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number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)</a:t>
            </a: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: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00">
                <a:solidFill>
                  <a:srgbClr val="267F99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QuantityUnit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{</a:t>
            </a:r>
            <a:endParaRPr sz="1000">
              <a:solidFill>
                <a:srgbClr val="3B3B3B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en" sz="1000">
                <a:solidFill>
                  <a:srgbClr val="267F99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IllegalArgumentException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en" sz="1000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assertCondition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" sz="100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speed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!=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00">
                <a:solidFill>
                  <a:srgbClr val="09865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0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);</a:t>
            </a:r>
            <a:endParaRPr sz="1000">
              <a:solidFill>
                <a:srgbClr val="3B3B3B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en" sz="1000">
                <a:solidFill>
                  <a:srgbClr val="AF00D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return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0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new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00">
                <a:solidFill>
                  <a:srgbClr val="267F99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QuantityUnit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" sz="100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distance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/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0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speed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en" sz="100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new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00">
                <a:solidFill>
                  <a:srgbClr val="267F99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SIUnit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([</a:t>
            </a:r>
            <a:r>
              <a:rPr lang="en" sz="1000">
                <a:solidFill>
                  <a:srgbClr val="09865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0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en" sz="1000">
                <a:solidFill>
                  <a:srgbClr val="09865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0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en" sz="1000">
                <a:solidFill>
                  <a:srgbClr val="09865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1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en" sz="1000">
                <a:solidFill>
                  <a:srgbClr val="09865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0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en" sz="1000">
                <a:solidFill>
                  <a:srgbClr val="09865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0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en" sz="1000">
                <a:solidFill>
                  <a:srgbClr val="09865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0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en" sz="1000">
                <a:solidFill>
                  <a:srgbClr val="098658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0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]));</a:t>
            </a:r>
            <a:endParaRPr sz="1000">
              <a:solidFill>
                <a:srgbClr val="3B3B3B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1000">
              <a:solidFill>
                <a:srgbClr val="3B3B3B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40"/>
          <p:cNvSpPr txBox="1"/>
          <p:nvPr>
            <p:ph type="title"/>
          </p:nvPr>
        </p:nvSpPr>
        <p:spPr>
          <a:xfrm>
            <a:off x="0" y="-7"/>
            <a:ext cx="9144000" cy="2386500"/>
          </a:xfrm>
          <a:prstGeom prst="rect">
            <a:avLst/>
          </a:prstGeom>
        </p:spPr>
        <p:txBody>
          <a:bodyPr anchorCtr="0" anchor="b" bIns="274300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5. Value Type Constructors</a:t>
            </a:r>
            <a:endParaRPr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41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Value Type Constructors</a:t>
            </a:r>
            <a:endParaRPr/>
          </a:p>
        </p:txBody>
      </p:sp>
      <p:sp>
        <p:nvSpPr>
          <p:cNvPr id="277" name="Google Shape;277;p41"/>
          <p:cNvSpPr txBox="1"/>
          <p:nvPr>
            <p:ph idx="1" type="body"/>
          </p:nvPr>
        </p:nvSpPr>
        <p:spPr>
          <a:xfrm>
            <a:off x="274320" y="914400"/>
            <a:ext cx="8595300" cy="411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Arrays, i.e. [ ]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Enumerations, i.e. enum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Parameterized types a.k.a. generics i.e. &lt;...&gt;</a:t>
            </a:r>
            <a:endParaRPr/>
          </a:p>
        </p:txBody>
      </p:sp>
      <p:sp>
        <p:nvSpPr>
          <p:cNvPr id="278" name="Google Shape;278;p41"/>
          <p:cNvSpPr txBox="1"/>
          <p:nvPr>
            <p:ph idx="12" type="sldNum"/>
          </p:nvPr>
        </p:nvSpPr>
        <p:spPr>
          <a:xfrm>
            <a:off x="7315202" y="4416550"/>
            <a:ext cx="1828800" cy="731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900" u="sng">
                <a:solidFill>
                  <a:schemeClr val="hlink"/>
                </a:solidFill>
                <a:hlinkClick r:id="rId3"/>
              </a:rPr>
              <a:t>https://oss.cs.fau.de</a:t>
            </a:r>
            <a:r>
              <a:rPr b="0" lang="en" sz="900">
                <a:solidFill>
                  <a:schemeClr val="dk2"/>
                </a:solidFill>
              </a:rPr>
              <a:t> </a:t>
            </a:r>
            <a:endParaRPr b="0" sz="9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42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Enumerations as Value Type Constructors</a:t>
            </a:r>
            <a:endParaRPr/>
          </a:p>
        </p:txBody>
      </p:sp>
      <p:sp>
        <p:nvSpPr>
          <p:cNvPr id="284" name="Google Shape;284;p42"/>
          <p:cNvSpPr txBox="1"/>
          <p:nvPr>
            <p:ph idx="1" type="body"/>
          </p:nvPr>
        </p:nvSpPr>
        <p:spPr>
          <a:xfrm>
            <a:off x="274320" y="914400"/>
            <a:ext cx="8595300" cy="411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Enums provide shared values out of the box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Immutability needs to be ensured by programming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Enums are great for documenting and type-checking codes!</a:t>
            </a:r>
            <a:endParaRPr/>
          </a:p>
        </p:txBody>
      </p:sp>
      <p:sp>
        <p:nvSpPr>
          <p:cNvPr id="285" name="Google Shape;285;p42"/>
          <p:cNvSpPr txBox="1"/>
          <p:nvPr>
            <p:ph idx="12" type="sldNum"/>
          </p:nvPr>
        </p:nvSpPr>
        <p:spPr>
          <a:xfrm>
            <a:off x="7315202" y="4416550"/>
            <a:ext cx="1828800" cy="731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900" u="sng">
                <a:solidFill>
                  <a:schemeClr val="hlink"/>
                </a:solidFill>
                <a:hlinkClick r:id="rId3"/>
              </a:rPr>
              <a:t>https://oss.cs.fau.de</a:t>
            </a:r>
            <a:r>
              <a:rPr b="0" lang="en" sz="900">
                <a:solidFill>
                  <a:schemeClr val="dk2"/>
                </a:solidFill>
              </a:rPr>
              <a:t> </a:t>
            </a:r>
            <a:endParaRPr b="0" sz="9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43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Parameterized Types as Value Type Constructors</a:t>
            </a:r>
            <a:endParaRPr/>
          </a:p>
        </p:txBody>
      </p:sp>
      <p:sp>
        <p:nvSpPr>
          <p:cNvPr id="291" name="Google Shape;291;p43"/>
          <p:cNvSpPr txBox="1"/>
          <p:nvPr>
            <p:ph idx="1" type="body"/>
          </p:nvPr>
        </p:nvSpPr>
        <p:spPr>
          <a:xfrm>
            <a:off x="274320" y="914400"/>
            <a:ext cx="8595300" cy="914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Common parameterized types are ranges and range restrictions [1]</a:t>
            </a:r>
            <a:endParaRPr/>
          </a:p>
        </p:txBody>
      </p:sp>
      <p:sp>
        <p:nvSpPr>
          <p:cNvPr id="292" name="Google Shape;292;p43"/>
          <p:cNvSpPr txBox="1"/>
          <p:nvPr>
            <p:ph idx="12" type="sldNum"/>
          </p:nvPr>
        </p:nvSpPr>
        <p:spPr>
          <a:xfrm>
            <a:off x="7315202" y="4416550"/>
            <a:ext cx="1828800" cy="731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900" u="sng">
                <a:solidFill>
                  <a:schemeClr val="hlink"/>
                </a:solidFill>
                <a:hlinkClick r:id="rId3"/>
              </a:rPr>
              <a:t>https://oss.cs.fau.de</a:t>
            </a:r>
            <a:r>
              <a:rPr b="0" lang="en" sz="900">
                <a:solidFill>
                  <a:schemeClr val="dk2"/>
                </a:solidFill>
              </a:rPr>
              <a:t> </a:t>
            </a:r>
            <a:endParaRPr b="0" sz="900">
              <a:solidFill>
                <a:schemeClr val="dk2"/>
              </a:solidFill>
            </a:endParaRPr>
          </a:p>
        </p:txBody>
      </p:sp>
      <p:sp>
        <p:nvSpPr>
          <p:cNvPr id="293" name="Google Shape;293;p43"/>
          <p:cNvSpPr txBox="1"/>
          <p:nvPr/>
        </p:nvSpPr>
        <p:spPr>
          <a:xfrm>
            <a:off x="0" y="4233672"/>
            <a:ext cx="73152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[1] See </a:t>
            </a:r>
            <a:r>
              <a:rPr lang="en" u="sng">
                <a:solidFill>
                  <a:schemeClr val="hlink"/>
                </a:solidFill>
                <a:hlinkClick r:id="rId4"/>
              </a:rPr>
              <a:t>https://github.com/jvalue/value-objects</a:t>
            </a:r>
            <a:r>
              <a:rPr lang="en"/>
              <a:t> for a decent Java implementation</a:t>
            </a:r>
            <a:endParaRPr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44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Parameterized Types as Value Type Constructors [1]</a:t>
            </a:r>
            <a:endParaRPr/>
          </a:p>
        </p:txBody>
      </p:sp>
      <p:sp>
        <p:nvSpPr>
          <p:cNvPr id="299" name="Google Shape;299;p44"/>
          <p:cNvSpPr txBox="1"/>
          <p:nvPr>
            <p:ph idx="12" type="sldNum"/>
          </p:nvPr>
        </p:nvSpPr>
        <p:spPr>
          <a:xfrm>
            <a:off x="7315202" y="4416550"/>
            <a:ext cx="1828800" cy="731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900" u="sng">
                <a:solidFill>
                  <a:schemeClr val="hlink"/>
                </a:solidFill>
                <a:hlinkClick r:id="rId3"/>
              </a:rPr>
              <a:t>https://oss.cs.fau.de</a:t>
            </a:r>
            <a:r>
              <a:rPr b="0" lang="en" sz="900">
                <a:solidFill>
                  <a:schemeClr val="dk2"/>
                </a:solidFill>
              </a:rPr>
              <a:t> </a:t>
            </a:r>
            <a:endParaRPr b="0" sz="900">
              <a:solidFill>
                <a:schemeClr val="dk2"/>
              </a:solidFill>
            </a:endParaRPr>
          </a:p>
        </p:txBody>
      </p:sp>
      <p:sp>
        <p:nvSpPr>
          <p:cNvPr id="300" name="Google Shape;300;p44"/>
          <p:cNvSpPr txBox="1"/>
          <p:nvPr/>
        </p:nvSpPr>
        <p:spPr>
          <a:xfrm>
            <a:off x="274322" y="914400"/>
            <a:ext cx="3931800" cy="365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rgbClr val="AF00D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export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0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class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00">
                <a:solidFill>
                  <a:srgbClr val="267F99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RangeBound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&lt;</a:t>
            </a:r>
            <a:r>
              <a:rPr lang="en" sz="1000">
                <a:solidFill>
                  <a:srgbClr val="267F99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T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&gt; {</a:t>
            </a:r>
            <a:endParaRPr sz="1000">
              <a:solidFill>
                <a:srgbClr val="3B3B3B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000">
              <a:solidFill>
                <a:srgbClr val="3B3B3B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en" sz="100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protected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0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value</a:t>
            </a: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: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00">
                <a:solidFill>
                  <a:srgbClr val="267F99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T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1000">
              <a:solidFill>
                <a:srgbClr val="3B3B3B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en" sz="100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protected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0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inclusive</a:t>
            </a: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: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00">
                <a:solidFill>
                  <a:srgbClr val="267F99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boolean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1000">
              <a:solidFill>
                <a:srgbClr val="3B3B3B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000">
              <a:solidFill>
                <a:srgbClr val="3B3B3B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en" sz="100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constructor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" sz="100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value</a:t>
            </a: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: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00">
                <a:solidFill>
                  <a:srgbClr val="267F99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T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en" sz="100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inclusive</a:t>
            </a: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: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00">
                <a:solidFill>
                  <a:srgbClr val="267F99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boolean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) {</a:t>
            </a:r>
            <a:endParaRPr sz="1000">
              <a:solidFill>
                <a:srgbClr val="3B3B3B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   </a:t>
            </a:r>
            <a:r>
              <a:rPr lang="en" sz="100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this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en" sz="100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value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0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value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1000">
              <a:solidFill>
                <a:srgbClr val="3B3B3B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   </a:t>
            </a:r>
            <a:r>
              <a:rPr lang="en" sz="100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this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en" sz="100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inclusive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0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inclusive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1000">
              <a:solidFill>
                <a:srgbClr val="3B3B3B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}</a:t>
            </a:r>
            <a:endParaRPr sz="1000">
              <a:solidFill>
                <a:srgbClr val="3B3B3B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000">
              <a:solidFill>
                <a:srgbClr val="3B3B3B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en" sz="100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public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00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getValue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()</a:t>
            </a: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: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00">
                <a:solidFill>
                  <a:srgbClr val="267F99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T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{</a:t>
            </a:r>
            <a:endParaRPr sz="1000">
              <a:solidFill>
                <a:srgbClr val="3B3B3B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   </a:t>
            </a:r>
            <a:r>
              <a:rPr lang="en" sz="1000">
                <a:solidFill>
                  <a:srgbClr val="AF00D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return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0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this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en" sz="100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value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1000">
              <a:solidFill>
                <a:srgbClr val="3B3B3B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}</a:t>
            </a:r>
            <a:endParaRPr sz="1000">
              <a:solidFill>
                <a:srgbClr val="3B3B3B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000">
              <a:solidFill>
                <a:srgbClr val="3B3B3B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en" sz="100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public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00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isInclusive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()</a:t>
            </a: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: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00">
                <a:solidFill>
                  <a:srgbClr val="267F99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boolean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{</a:t>
            </a:r>
            <a:endParaRPr sz="1000">
              <a:solidFill>
                <a:srgbClr val="3B3B3B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   </a:t>
            </a:r>
            <a:r>
              <a:rPr lang="en" sz="1000">
                <a:solidFill>
                  <a:srgbClr val="AF00D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return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0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this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en" sz="100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inclusive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1000">
              <a:solidFill>
                <a:srgbClr val="3B3B3B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}</a:t>
            </a:r>
            <a:endParaRPr sz="1000">
              <a:solidFill>
                <a:srgbClr val="3B3B3B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000">
              <a:solidFill>
                <a:srgbClr val="3B3B3B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1000">
              <a:solidFill>
                <a:srgbClr val="AF00DB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301" name="Google Shape;301;p44"/>
          <p:cNvSpPr txBox="1"/>
          <p:nvPr/>
        </p:nvSpPr>
        <p:spPr>
          <a:xfrm>
            <a:off x="4480560" y="914400"/>
            <a:ext cx="4389000" cy="365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AF00D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export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0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class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00">
                <a:solidFill>
                  <a:srgbClr val="267F99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Range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&lt;</a:t>
            </a:r>
            <a:r>
              <a:rPr lang="en" sz="1000">
                <a:solidFill>
                  <a:srgbClr val="267F99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T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&gt; {</a:t>
            </a:r>
            <a:endParaRPr sz="1000">
              <a:solidFill>
                <a:srgbClr val="3B3B3B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3B3B3B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en" sz="100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protected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0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lowerBound</a:t>
            </a: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: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00">
                <a:solidFill>
                  <a:srgbClr val="267F99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RangeBound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&lt;</a:t>
            </a:r>
            <a:r>
              <a:rPr lang="en" sz="1000">
                <a:solidFill>
                  <a:srgbClr val="267F99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T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&gt;;</a:t>
            </a:r>
            <a:endParaRPr sz="1000">
              <a:solidFill>
                <a:srgbClr val="3B3B3B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en" sz="100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protected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0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upperBound</a:t>
            </a: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: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00">
                <a:solidFill>
                  <a:srgbClr val="267F99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RangeBound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&lt;</a:t>
            </a:r>
            <a:r>
              <a:rPr lang="en" sz="1000">
                <a:solidFill>
                  <a:srgbClr val="267F99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T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&gt;;</a:t>
            </a:r>
            <a:endParaRPr sz="1000">
              <a:solidFill>
                <a:srgbClr val="3B3B3B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3B3B3B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en" sz="100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constructor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" sz="100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lb</a:t>
            </a: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: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00">
                <a:solidFill>
                  <a:srgbClr val="267F99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RangeBound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&lt;</a:t>
            </a:r>
            <a:r>
              <a:rPr lang="en" sz="1000">
                <a:solidFill>
                  <a:srgbClr val="267F99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T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&gt;, </a:t>
            </a:r>
            <a:r>
              <a:rPr lang="en" sz="100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ub</a:t>
            </a: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: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00">
                <a:solidFill>
                  <a:srgbClr val="267F99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RangeBound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&lt;</a:t>
            </a:r>
            <a:r>
              <a:rPr lang="en" sz="1000">
                <a:solidFill>
                  <a:srgbClr val="267F99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T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&gt;) {</a:t>
            </a:r>
            <a:endParaRPr sz="1000">
              <a:solidFill>
                <a:srgbClr val="3B3B3B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    </a:t>
            </a:r>
            <a:r>
              <a:rPr lang="en" sz="100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this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en" sz="100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lowerBound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0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lb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1000">
              <a:solidFill>
                <a:srgbClr val="3B3B3B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    </a:t>
            </a:r>
            <a:r>
              <a:rPr lang="en" sz="100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this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en" sz="100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upperBound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0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ub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1000">
              <a:solidFill>
                <a:srgbClr val="3B3B3B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}</a:t>
            </a:r>
            <a:endParaRPr sz="1000">
              <a:solidFill>
                <a:srgbClr val="3B3B3B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3B3B3B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en" sz="100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public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00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includes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" sz="100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value</a:t>
            </a: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: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00">
                <a:solidFill>
                  <a:srgbClr val="267F99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T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)</a:t>
            </a: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: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00">
                <a:solidFill>
                  <a:srgbClr val="267F99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boolean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{</a:t>
            </a:r>
            <a:endParaRPr sz="1000">
              <a:solidFill>
                <a:srgbClr val="3B3B3B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    </a:t>
            </a:r>
            <a:r>
              <a:rPr lang="en" sz="100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let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0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lowerValue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0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this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en" sz="100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lowerBound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en" sz="1000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getValue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();</a:t>
            </a:r>
            <a:endParaRPr sz="1000">
              <a:solidFill>
                <a:srgbClr val="3B3B3B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    </a:t>
            </a:r>
            <a:r>
              <a:rPr lang="en" sz="100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let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0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upperValue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0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this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en" sz="100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upperBound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en" sz="1000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getValue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();</a:t>
            </a:r>
            <a:endParaRPr sz="1000">
              <a:solidFill>
                <a:srgbClr val="3B3B3B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    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...</a:t>
            </a:r>
            <a:endParaRPr sz="1000">
              <a:solidFill>
                <a:srgbClr val="3B3B3B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}</a:t>
            </a:r>
            <a:endParaRPr sz="1000">
              <a:solidFill>
                <a:srgbClr val="3B3B3B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3B3B3B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en" sz="100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public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00">
                <a:solidFill>
                  <a:srgbClr val="795E26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getLowerBound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()</a:t>
            </a: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: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00">
                <a:solidFill>
                  <a:srgbClr val="267F99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RangeBound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&lt;</a:t>
            </a:r>
            <a:r>
              <a:rPr lang="en" sz="1000">
                <a:solidFill>
                  <a:srgbClr val="267F99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T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&gt; {</a:t>
            </a:r>
            <a:endParaRPr sz="1000">
              <a:solidFill>
                <a:srgbClr val="3B3B3B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    </a:t>
            </a:r>
            <a:r>
              <a:rPr lang="en" sz="1000">
                <a:solidFill>
                  <a:srgbClr val="AF00D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return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0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this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lang="en" sz="1000">
                <a:solidFill>
                  <a:srgbClr val="001080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lowerBound</a:t>
            </a: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1000">
              <a:solidFill>
                <a:srgbClr val="3B3B3B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}</a:t>
            </a:r>
            <a:endParaRPr sz="1000">
              <a:solidFill>
                <a:srgbClr val="3B3B3B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3B3B3B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en" sz="1000">
                <a:solidFill>
                  <a:srgbClr val="0000F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...</a:t>
            </a:r>
            <a:endParaRPr sz="1000">
              <a:solidFill>
                <a:srgbClr val="3B3B3B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3B3B3B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1000">
              <a:solidFill>
                <a:srgbClr val="3B3B3B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3B3B3B"/>
              </a:solidFill>
              <a:highlight>
                <a:srgbClr val="FFFFFF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302" name="Google Shape;302;p44"/>
          <p:cNvSpPr txBox="1"/>
          <p:nvPr/>
        </p:nvSpPr>
        <p:spPr>
          <a:xfrm>
            <a:off x="0" y="4233672"/>
            <a:ext cx="73152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[1] A simplified version of </a:t>
            </a:r>
            <a:r>
              <a:rPr lang="en" u="sng">
                <a:solidFill>
                  <a:schemeClr val="hlink"/>
                </a:solidFill>
                <a:hlinkClick r:id="rId4"/>
              </a:rPr>
              <a:t>https://github.com/jvalue/value-objects</a:t>
            </a:r>
            <a:r>
              <a:rPr lang="en"/>
              <a:t> </a:t>
            </a:r>
            <a:endParaRPr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p45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Example Data From the GeBOS System [1]</a:t>
            </a:r>
            <a:endParaRPr/>
          </a:p>
        </p:txBody>
      </p:sp>
      <p:sp>
        <p:nvSpPr>
          <p:cNvPr id="308" name="Google Shape;308;p45"/>
          <p:cNvSpPr txBox="1"/>
          <p:nvPr>
            <p:ph idx="1" type="body"/>
          </p:nvPr>
        </p:nvSpPr>
        <p:spPr>
          <a:xfrm>
            <a:off x="274320" y="914400"/>
            <a:ext cx="8595300" cy="411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GeBOS was a large C++ software to operate cooperative banks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It had about 50 unique base domain-specific value </a:t>
            </a:r>
            <a:r>
              <a:rPr lang="en"/>
              <a:t>object classes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It had about 20 unique constructors, generating </a:t>
            </a:r>
            <a:r>
              <a:rPr lang="en"/>
              <a:t>hundreds of value types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It had more than 200 enums representing various domain-specific codes</a:t>
            </a:r>
            <a:endParaRPr/>
          </a:p>
        </p:txBody>
      </p:sp>
      <p:sp>
        <p:nvSpPr>
          <p:cNvPr id="309" name="Google Shape;309;p45"/>
          <p:cNvSpPr txBox="1"/>
          <p:nvPr>
            <p:ph idx="12" type="sldNum"/>
          </p:nvPr>
        </p:nvSpPr>
        <p:spPr>
          <a:xfrm>
            <a:off x="7315202" y="4416550"/>
            <a:ext cx="1828800" cy="731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900" u="sng">
                <a:solidFill>
                  <a:schemeClr val="hlink"/>
                </a:solidFill>
                <a:hlinkClick r:id="rId3"/>
              </a:rPr>
              <a:t>https://oss.cs.fau.de</a:t>
            </a:r>
            <a:r>
              <a:rPr b="0" lang="en" sz="900">
                <a:solidFill>
                  <a:schemeClr val="dk2"/>
                </a:solidFill>
              </a:rPr>
              <a:t> </a:t>
            </a:r>
            <a:endParaRPr b="0" sz="900">
              <a:solidFill>
                <a:schemeClr val="dk2"/>
              </a:solidFill>
            </a:endParaRPr>
          </a:p>
        </p:txBody>
      </p:sp>
      <p:sp>
        <p:nvSpPr>
          <p:cNvPr id="310" name="Google Shape;310;p45"/>
          <p:cNvSpPr txBox="1"/>
          <p:nvPr/>
        </p:nvSpPr>
        <p:spPr>
          <a:xfrm>
            <a:off x="0" y="4233672"/>
            <a:ext cx="73152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[1] </a:t>
            </a:r>
            <a:r>
              <a:rPr lang="en"/>
              <a:t>Bäumer, D., Gryzcan, G., Knoll, R., Lilienthal, C., Riehle, D. &amp; Züllighoven, H. (1997). </a:t>
            </a:r>
            <a:r>
              <a:rPr lang="en" u="sng">
                <a:solidFill>
                  <a:schemeClr val="hlink"/>
                </a:solidFill>
                <a:hlinkClick r:id="rId4"/>
              </a:rPr>
              <a:t>Framework Development for Large Systems.</a:t>
            </a:r>
            <a:r>
              <a:rPr lang="en"/>
              <a:t> Communications of the ACM, vol. 40, no. 10, pp. 52-59.</a:t>
            </a:r>
            <a:endParaRPr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p46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Summary</a:t>
            </a:r>
            <a:endParaRPr/>
          </a:p>
        </p:txBody>
      </p:sp>
      <p:sp>
        <p:nvSpPr>
          <p:cNvPr id="316" name="Google Shape;316;p46"/>
          <p:cNvSpPr txBox="1"/>
          <p:nvPr>
            <p:ph idx="1" type="body"/>
          </p:nvPr>
        </p:nvSpPr>
        <p:spPr>
          <a:xfrm>
            <a:off x="274320" y="914400"/>
            <a:ext cx="8595300" cy="411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Values vs. objects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Value equality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Immutable objects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Shared value objects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The QuantityUnit type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Value type constructors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317" name="Google Shape;317;p46"/>
          <p:cNvSpPr txBox="1"/>
          <p:nvPr>
            <p:ph idx="12" type="sldNum"/>
          </p:nvPr>
        </p:nvSpPr>
        <p:spPr>
          <a:xfrm>
            <a:off x="7315202" y="4416550"/>
            <a:ext cx="1828800" cy="731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900" u="sng">
                <a:solidFill>
                  <a:schemeClr val="hlink"/>
                </a:solidFill>
                <a:hlinkClick r:id="rId3"/>
              </a:rPr>
              <a:t>https://oss.cs.fau.de</a:t>
            </a:r>
            <a:r>
              <a:rPr b="0" lang="en" sz="900">
                <a:solidFill>
                  <a:schemeClr val="dk2"/>
                </a:solidFill>
              </a:rPr>
              <a:t> </a:t>
            </a:r>
            <a:endParaRPr b="0" sz="9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p47"/>
          <p:cNvSpPr txBox="1"/>
          <p:nvPr>
            <p:ph type="ctrTitle"/>
          </p:nvPr>
        </p:nvSpPr>
        <p:spPr>
          <a:xfrm>
            <a:off x="0" y="0"/>
            <a:ext cx="9144000" cy="2388900"/>
          </a:xfrm>
          <a:prstGeom prst="rect">
            <a:avLst/>
          </a:prstGeom>
        </p:spPr>
        <p:txBody>
          <a:bodyPr anchorCtr="0" anchor="b" bIns="274300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Thank you! Any questions?</a:t>
            </a:r>
            <a:endParaRPr/>
          </a:p>
        </p:txBody>
      </p:sp>
      <p:sp>
        <p:nvSpPr>
          <p:cNvPr id="323" name="Google Shape;323;p47"/>
          <p:cNvSpPr txBox="1"/>
          <p:nvPr>
            <p:ph idx="1" type="subTitle"/>
          </p:nvPr>
        </p:nvSpPr>
        <p:spPr>
          <a:xfrm>
            <a:off x="0" y="2569475"/>
            <a:ext cx="9144000" cy="2574000"/>
          </a:xfrm>
          <a:prstGeom prst="rect">
            <a:avLst/>
          </a:prstGeom>
        </p:spPr>
        <p:txBody>
          <a:bodyPr anchorCtr="0" anchor="t" bIns="91425" lIns="91425" spcFirstLastPara="1" rIns="91425" wrap="square" tIns="274300">
            <a:no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3"/>
              </a:rPr>
              <a:t>dirk.riehle@fau.de</a:t>
            </a:r>
            <a:r>
              <a:rPr lang="en"/>
              <a:t> </a:t>
            </a:r>
            <a:r>
              <a:rPr lang="en" sz="2400"/>
              <a:t>–</a:t>
            </a:r>
            <a:r>
              <a:rPr lang="en"/>
              <a:t> </a:t>
            </a:r>
            <a:r>
              <a:rPr lang="en" u="sng">
                <a:solidFill>
                  <a:schemeClr val="hlink"/>
                </a:solidFill>
                <a:hlinkClick r:id="rId4"/>
              </a:rPr>
              <a:t>https://oss.cs.fau.de</a:t>
            </a:r>
            <a:endParaRPr/>
          </a:p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u="sng">
                <a:solidFill>
                  <a:schemeClr val="hlink"/>
                </a:solidFill>
                <a:hlinkClick r:id="rId5"/>
              </a:rPr>
              <a:t>dirk@riehle.org</a:t>
            </a:r>
            <a:r>
              <a:rPr lang="en" sz="2400"/>
              <a:t> – </a:t>
            </a:r>
            <a:r>
              <a:rPr lang="en" sz="2400" u="sng">
                <a:solidFill>
                  <a:schemeClr val="hlink"/>
                </a:solidFill>
                <a:hlinkClick r:id="rId6"/>
              </a:rPr>
              <a:t>https://dirkriehle.com</a:t>
            </a:r>
            <a:r>
              <a:rPr lang="en" sz="2400"/>
              <a:t> – </a:t>
            </a:r>
            <a:r>
              <a:rPr lang="en" sz="2400" u="sng">
                <a:solidFill>
                  <a:schemeClr val="hlink"/>
                </a:solidFill>
                <a:hlinkClick r:id="rId7"/>
              </a:rPr>
              <a:t>@dirkriehle</a:t>
            </a:r>
            <a:endParaRPr sz="240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p48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Legal Notices</a:t>
            </a:r>
            <a:endParaRPr/>
          </a:p>
        </p:txBody>
      </p:sp>
      <p:sp>
        <p:nvSpPr>
          <p:cNvPr id="329" name="Google Shape;329;p48"/>
          <p:cNvSpPr txBox="1"/>
          <p:nvPr>
            <p:ph idx="12" type="sldNum"/>
          </p:nvPr>
        </p:nvSpPr>
        <p:spPr>
          <a:xfrm>
            <a:off x="7315202" y="4416550"/>
            <a:ext cx="1828800" cy="731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900" u="sng">
                <a:solidFill>
                  <a:schemeClr val="hlink"/>
                </a:solidFill>
                <a:hlinkClick r:id="rId3"/>
              </a:rPr>
              <a:t>https://oss.cs.fau.de</a:t>
            </a:r>
            <a:r>
              <a:rPr b="0" lang="en" sz="900">
                <a:solidFill>
                  <a:schemeClr val="dk2"/>
                </a:solidFill>
              </a:rPr>
              <a:t> </a:t>
            </a:r>
            <a:endParaRPr b="0" sz="900">
              <a:solidFill>
                <a:schemeClr val="dk2"/>
              </a:solidFill>
            </a:endParaRPr>
          </a:p>
        </p:txBody>
      </p:sp>
      <p:sp>
        <p:nvSpPr>
          <p:cNvPr id="330" name="Google Shape;330;p48"/>
          <p:cNvSpPr txBox="1"/>
          <p:nvPr>
            <p:ph idx="1" type="body"/>
          </p:nvPr>
        </p:nvSpPr>
        <p:spPr>
          <a:xfrm>
            <a:off x="274320" y="914400"/>
            <a:ext cx="8595300" cy="411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License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Licensed under the </a:t>
            </a:r>
            <a:r>
              <a:rPr lang="en" u="sng">
                <a:solidFill>
                  <a:schemeClr val="hlink"/>
                </a:solidFill>
                <a:hlinkClick r:id="rId4"/>
              </a:rPr>
              <a:t>CC BY 4.0 International</a:t>
            </a:r>
            <a:r>
              <a:rPr lang="en"/>
              <a:t> license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Copyright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© 2012, 2018, 2024 Dirk Riehle, some rights reserved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POSS Slides Template">
  <a:themeElements>
    <a:clrScheme name="Simple Light">
      <a:dk1>
        <a:srgbClr val="000000"/>
      </a:dk1>
      <a:lt1>
        <a:srgbClr val="FFFFFF"/>
      </a:lt1>
      <a:dk2>
        <a:srgbClr val="404040"/>
      </a:dk2>
      <a:lt2>
        <a:srgbClr val="808080"/>
      </a:lt2>
      <a:accent1>
        <a:srgbClr val="D0D0D0"/>
      </a:accent1>
      <a:accent2>
        <a:srgbClr val="4169E1"/>
      </a:accent2>
      <a:accent3>
        <a:srgbClr val="4CAF50"/>
      </a:accent3>
      <a:accent4>
        <a:srgbClr val="FEB612"/>
      </a:accent4>
      <a:accent5>
        <a:srgbClr val="F36838"/>
      </a:accent5>
      <a:accent6>
        <a:srgbClr val="8E44AD"/>
      </a:accent6>
      <a:hlink>
        <a:srgbClr val="1E90F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