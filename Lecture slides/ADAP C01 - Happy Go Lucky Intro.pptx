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b631d71d5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3b631d71d5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b631d71d5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b631d71d5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631d71d5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631d71d5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631d71d5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b631d71d5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631d71d5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631d71d5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31d71d5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31d71d5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631d71d5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631d71d5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631d71d51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631d71d5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631d71d51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b631d71d5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631d71d51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631d71d51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631d71d51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b631d71d5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631d71d51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b631d71d51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631d71d51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631d71d51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631d71d51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631d71d51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0" y="2388810"/>
            <a:ext cx="9144000" cy="183000"/>
            <a:chOff x="0" y="2388810"/>
            <a:chExt cx="9144000" cy="183000"/>
          </a:xfrm>
        </p:grpSpPr>
        <p:sp>
          <p:nvSpPr>
            <p:cNvPr id="13" name="Google Shape;13;p2"/>
            <p:cNvSpPr/>
            <p:nvPr/>
          </p:nvSpPr>
          <p:spPr>
            <a:xfrm>
              <a:off x="0" y="2388810"/>
              <a:ext cx="914400" cy="183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914400" y="2388810"/>
              <a:ext cx="1828800" cy="183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743200" y="2388810"/>
              <a:ext cx="6400800" cy="183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18" name="Google Shape;18;p3"/>
          <p:cNvGrpSpPr/>
          <p:nvPr/>
        </p:nvGrpSpPr>
        <p:grpSpPr>
          <a:xfrm>
            <a:off x="0" y="2432304"/>
            <a:ext cx="9144000" cy="91500"/>
            <a:chOff x="0" y="2386584"/>
            <a:chExt cx="9144000" cy="91500"/>
          </a:xfrm>
        </p:grpSpPr>
        <p:sp>
          <p:nvSpPr>
            <p:cNvPr id="19" name="Google Shape;19;p3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pSp>
        <p:nvGrpSpPr>
          <p:cNvPr id="26" name="Google Shape;26;p4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27" name="Google Shape;27;p4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35" name="Google Shape;35;p5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36" name="Google Shape;36;p5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42" name="Google Shape;42;p6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43" name="Google Shape;43;p6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6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s://oss.cs.fau.de" TargetMode="Externa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2"/>
                </a:solidFill>
              </a:defRPr>
            </a:lvl1pPr>
            <a:lvl2pPr lvl="1" rtl="0" algn="r">
              <a:buNone/>
              <a:defRPr b="1" sz="2400">
                <a:solidFill>
                  <a:schemeClr val="dk2"/>
                </a:solidFill>
              </a:defRPr>
            </a:lvl2pPr>
            <a:lvl3pPr lvl="2" rtl="0" algn="r">
              <a:buNone/>
              <a:defRPr b="1" sz="2400">
                <a:solidFill>
                  <a:schemeClr val="dk2"/>
                </a:solidFill>
              </a:defRPr>
            </a:lvl3pPr>
            <a:lvl4pPr lvl="3" rtl="0" algn="r">
              <a:buNone/>
              <a:defRPr b="1" sz="2400">
                <a:solidFill>
                  <a:schemeClr val="dk2"/>
                </a:solidFill>
              </a:defRPr>
            </a:lvl4pPr>
            <a:lvl5pPr lvl="4" rtl="0" algn="r">
              <a:buNone/>
              <a:defRPr b="1" sz="2400">
                <a:solidFill>
                  <a:schemeClr val="dk2"/>
                </a:solidFill>
              </a:defRPr>
            </a:lvl5pPr>
            <a:lvl6pPr lvl="5" rtl="0" algn="r">
              <a:buNone/>
              <a:defRPr b="1" sz="2400">
                <a:solidFill>
                  <a:schemeClr val="dk2"/>
                </a:solidFill>
              </a:defRPr>
            </a:lvl6pPr>
            <a:lvl7pPr lvl="6" rtl="0" algn="r">
              <a:buNone/>
              <a:defRPr b="1" sz="2400">
                <a:solidFill>
                  <a:schemeClr val="dk2"/>
                </a:solidFill>
              </a:defRPr>
            </a:lvl7pPr>
            <a:lvl8pPr lvl="7" rtl="0" algn="r">
              <a:buNone/>
              <a:defRPr b="1" sz="2400">
                <a:solidFill>
                  <a:schemeClr val="dk2"/>
                </a:solidFill>
              </a:defRPr>
            </a:lvl8pPr>
            <a:lvl9pPr lvl="8" rtl="0" algn="r">
              <a:buNone/>
              <a:defRPr b="1" sz="24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1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creativecommons.org/licenses/by/4.0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oss.cs.fau.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mailto:git@github.com" TargetMode="External"/><Relationship Id="rId4" Type="http://schemas.openxmlformats.org/officeDocument/2006/relationships/hyperlink" Target="https://oss.cs.fau.de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oss.cs.fau.de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oss.cs.fau.de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oss.cs.fau.d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oss.cs.fau.de" TargetMode="External"/><Relationship Id="rId4" Type="http://schemas.openxmlformats.org/officeDocument/2006/relationships/hyperlink" Target="https://docs.google.com/spreadsheets/d/1Td5wvsGZAJnNZjEvm8cfsthcylOhCpth3aT8vSCUZk0/edit?usp=sharing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oss.cs.fau.de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mailto:dirk.riehle@fau.de" TargetMode="External"/><Relationship Id="rId4" Type="http://schemas.openxmlformats.org/officeDocument/2006/relationships/hyperlink" Target="https://oss.cs.fau.de" TargetMode="External"/><Relationship Id="rId5" Type="http://schemas.openxmlformats.org/officeDocument/2006/relationships/hyperlink" Target="mailto:dirk@riehle.org" TargetMode="External"/><Relationship Id="rId6" Type="http://schemas.openxmlformats.org/officeDocument/2006/relationships/hyperlink" Target="https://dirkriehle.com" TargetMode="External"/><Relationship Id="rId7" Type="http://schemas.openxmlformats.org/officeDocument/2006/relationships/hyperlink" Target="https://twitter.com/dirkriehle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oss.cs.fau.de" TargetMode="External"/><Relationship Id="rId4" Type="http://schemas.openxmlformats.org/officeDocument/2006/relationships/hyperlink" Target="http://creativecommons.org/licenses/by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Happy Go Lucky Introduction</a:t>
            </a:r>
            <a:endParaRPr/>
          </a:p>
        </p:txBody>
      </p:sp>
      <p:sp>
        <p:nvSpPr>
          <p:cNvPr id="52" name="Google Shape;52;p8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Dirk Riehle, FAU Erlangen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ADAP C01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Licensed under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CC BY 4.0 International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Happy Go Lucky (HGL)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web app to support our project based teaching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Original HGL solutions are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Happiness index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Standup emails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 tracking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Happy Go Lucky Vision</a:t>
            </a:r>
            <a:endParaRPr/>
          </a:p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Setup and Test of Happy Go Lucky</a:t>
            </a:r>
            <a:endParaRPr/>
          </a:p>
        </p:txBody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Fork happy-go-lucky to your account, e.g. friedalex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clone </a:t>
            </a:r>
            <a:r>
              <a:rPr lang="en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git@github.com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:friedalex/happy-go-lucky.git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cd happy-go-lucky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npm install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npm run build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npm run test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npm run generate-mockdata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npm run test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npm run dev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4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Happy Go Lucky Base Design</a:t>
            </a:r>
            <a:endParaRPr/>
          </a:p>
        </p:txBody>
      </p:sp>
      <p:sp>
        <p:nvSpPr>
          <p:cNvPr id="72" name="Google Shape;72;p1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HGL is a web app to support our project based teaching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 admin (professor) can create courses (by semester)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course can have one or more projects associated with 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course has an associated schedule (homework delivery dates)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project can have one or more members (ADAP = 1, AMOS = 6..12)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project is linked to exactly one GitHub repository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ADAP and AMOS</a:t>
            </a:r>
            <a:endParaRPr/>
          </a:p>
        </p:txBody>
      </p:sp>
      <p:sp>
        <p:nvSpPr>
          <p:cNvPr id="79" name="Google Shape;79;p12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ADAP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course for a given term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student their own project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Students can create their project</a:t>
            </a:r>
            <a:endParaRPr/>
          </a:p>
        </p:txBody>
      </p:sp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1" name="Google Shape;81;p12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AMOS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course for a given term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Small number of set projects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Students join existing project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Model (Logically)</a:t>
            </a:r>
            <a:endParaRPr/>
          </a:p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495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Original HGL Solutions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a given project, a member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enter their happiness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send out stand-up emails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review their coding activities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all scoped by the course schedule</a:t>
            </a:r>
            <a:endParaRPr/>
          </a:p>
        </p:txBody>
      </p:sp>
      <p:sp>
        <p:nvSpPr>
          <p:cNvPr id="95" name="Google Shape;95;p1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Your Fav IDE But Keep Cruft Out</a:t>
            </a:r>
            <a:endParaRPr/>
          </a:p>
        </p:txBody>
      </p:sp>
      <p:sp>
        <p:nvSpPr>
          <p:cNvPr id="101" name="Google Shape;101;p1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pic>
        <p:nvPicPr>
          <p:cNvPr id="102" name="Google Shape;10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760" y="914400"/>
            <a:ext cx="7161581" cy="402335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SQLite Database Browser (myDatabase.db)</a:t>
            </a:r>
            <a:endParaRPr/>
          </a:p>
        </p:txBody>
      </p:sp>
      <p:sp>
        <p:nvSpPr>
          <p:cNvPr id="108" name="Google Shape;108;p1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pic>
        <p:nvPicPr>
          <p:cNvPr id="109" name="Google Shape;10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760" y="914400"/>
            <a:ext cx="7161581" cy="402335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Optional Homework</a:t>
            </a:r>
            <a:endParaRPr/>
          </a:p>
        </p:txBody>
      </p:sp>
      <p:sp>
        <p:nvSpPr>
          <p:cNvPr id="115" name="Google Shape;115;p1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 this table (same as project, but use table)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https://docs.google.com/spreadsheets/d/1Td5wvsGZAJnNZjEvm8cfsthcylOhCpth3aT8vSCUZk0/edit?usp=sharing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You will not be penalized if you don’t participate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You’ll get extra credit if you participate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Extra credit might lift your grade if you are at a grade boundary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View this experience as an idea of your first industry job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Working With Branches</a:t>
            </a:r>
            <a:endParaRPr/>
          </a:p>
        </p:txBody>
      </p:sp>
      <p:sp>
        <p:nvSpPr>
          <p:cNvPr id="122" name="Google Shape;122;p1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23" name="Google Shape;12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760" y="914400"/>
            <a:ext cx="8412479" cy="36080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Work and Git Flow</a:t>
            </a:r>
            <a:endParaRPr/>
          </a:p>
        </p:txBody>
      </p:sp>
      <p:sp>
        <p:nvSpPr>
          <p:cNvPr id="129" name="Google Shape;129;p1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Fork and work from your own repository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Pick and mark item to work on (spreadsheet)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Create a branch and a WIP pull request where you explain what you are going to do (to get feedback </a:t>
            </a:r>
            <a:r>
              <a:rPr lang="en"/>
              <a:t>early on, discuss design alternatives, …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Source branch: feature branch on your repo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Target branch: </a:t>
            </a:r>
            <a:r>
              <a:rPr b="1" lang="en"/>
              <a:t>develop-ADAP-12 </a:t>
            </a:r>
            <a:r>
              <a:rPr lang="en"/>
              <a:t>on </a:t>
            </a:r>
            <a:r>
              <a:rPr b="1" lang="en"/>
              <a:t>riehlegroup/happy-go-lucky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Tag </a:t>
            </a:r>
            <a:r>
              <a:rPr b="1" lang="en"/>
              <a:t>@georg-schwarz</a:t>
            </a:r>
            <a:r>
              <a:rPr lang="en"/>
              <a:t> for feedback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Semantically chunk work into commits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Make sure the checks (GitHub Actions) run through successfully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When done, remove WIP status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Wait and incorporate code review feedback (amend pull request)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Your work may or may not be integrated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Any questions?</a:t>
            </a:r>
            <a:endParaRPr/>
          </a:p>
        </p:txBody>
      </p:sp>
      <p:sp>
        <p:nvSpPr>
          <p:cNvPr id="136" name="Google Shape;136;p20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dirk.riehle@fau.de</a:t>
            </a:r>
            <a:r>
              <a:rPr lang="en"/>
              <a:t> </a:t>
            </a:r>
            <a:r>
              <a:rPr lang="en" sz="2400"/>
              <a:t>–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https://oss.cs.fau.de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5"/>
              </a:rPr>
              <a:t>dirk@riehle.org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6"/>
              </a:rPr>
              <a:t>https://dirkriehle.com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7"/>
              </a:rPr>
              <a:t>@dirkriehle</a:t>
            </a:r>
            <a:endParaRPr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Notices</a:t>
            </a:r>
            <a:endParaRPr/>
          </a:p>
        </p:txBody>
      </p:sp>
      <p:sp>
        <p:nvSpPr>
          <p:cNvPr id="142" name="Google Shape;142;p2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143" name="Google Shape;143;p2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License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Licensed under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CC BY 4.0 International</a:t>
            </a:r>
            <a:r>
              <a:rPr lang="en"/>
              <a:t> license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Copyright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© 2012-2026 Dirk Riehle, some rights reserved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SS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4CAF50"/>
      </a:accent3>
      <a:accent4>
        <a:srgbClr val="FEB612"/>
      </a:accent4>
      <a:accent5>
        <a:srgbClr val="F36838"/>
      </a:accent5>
      <a:accent6>
        <a:srgbClr val="8E44AD"/>
      </a:accent6>
      <a:hlink>
        <a:srgbClr val="1E9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